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92" r:id="rId31"/>
    <p:sldId id="286" r:id="rId32"/>
    <p:sldId id="287" r:id="rId33"/>
    <p:sldId id="288" r:id="rId34"/>
    <p:sldId id="290" r:id="rId35"/>
    <p:sldId id="291" r:id="rId3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8603FDC-E32A-4AB5-989C-0864C3EAD2B8}" styleName="테마 스타일 2 - 강조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691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8" name="Shape 15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086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z="3420" b="1"/>
            </a:lvl1pPr>
          </a:lstStyle>
          <a:p>
            <a:r>
              <a:t>저자 및 날짜</a:t>
            </a:r>
          </a:p>
        </p:txBody>
      </p:sp>
      <p:sp>
        <p:nvSpPr>
          <p:cNvPr id="1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프레젠테이션 제목</a:t>
            </a:r>
          </a:p>
        </p:txBody>
      </p:sp>
      <p:sp>
        <p:nvSpPr>
          <p:cNvPr id="1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아보카도와 라임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프레젠테이션 제목</a:t>
            </a:r>
          </a:p>
        </p:txBody>
      </p:sp>
      <p:sp>
        <p:nvSpPr>
          <p:cNvPr id="23" name="저자 및 날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z="3420" b="1"/>
            </a:lvl1pPr>
          </a:lstStyle>
          <a:p>
            <a:r>
              <a:t>저자 및 날짜</a:t>
            </a:r>
          </a:p>
        </p:txBody>
      </p:sp>
      <p:sp>
        <p:nvSpPr>
          <p:cNvPr id="2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연어 어묵, 샐러드, 후무스가 든 그릇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슬라이드 제목</a:t>
            </a:r>
          </a:p>
        </p:txBody>
      </p:sp>
      <p:sp>
        <p:nvSpPr>
          <p:cNvPr id="3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슬라이드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43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44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61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파슬리 버터, 구운 헤이즐넛, 파르메산 치즈를 올린 파파르델레 파스타 그릇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6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섹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섹션 제목</a:t>
            </a:r>
          </a:p>
        </p:txBody>
      </p:sp>
      <p:sp>
        <p:nvSpPr>
          <p:cNvPr id="7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8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8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의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의제 제목</a:t>
            </a:r>
          </a:p>
        </p:txBody>
      </p:sp>
      <p:sp>
        <p:nvSpPr>
          <p:cNvPr id="89" name="의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의제 부제</a:t>
            </a:r>
          </a:p>
        </p:txBody>
      </p:sp>
      <p:sp>
        <p:nvSpPr>
          <p:cNvPr id="90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의제 주제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내역서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사실 정보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사실 정보</a:t>
            </a:r>
          </a:p>
        </p:txBody>
      </p:sp>
      <p:sp>
        <p:nvSpPr>
          <p:cNvPr id="10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속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속성</a:t>
            </a:r>
          </a:p>
        </p:txBody>
      </p:sp>
      <p:sp>
        <p:nvSpPr>
          <p:cNvPr id="116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“멋진 인용구”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볶음밥과 삶은 계란을 넣은 샐러드 그릇과 젓가락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연어 어묵, 샐러드, 후무스가 든 그릇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파슬리 버터, 구운 헤이즐넛, 파르메산 치즈를 올린 파파르델레 파스타 그릇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볶음밥과 삶은 계란을 넣은 샐러드 그릇과 젓가락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제목 텍스트"/>
          <p:cNvSpPr txBox="1">
            <a:spLocks noGrp="1"/>
          </p:cNvSpPr>
          <p:nvPr>
            <p:ph type="title"/>
          </p:nvPr>
        </p:nvSpPr>
        <p:spPr>
          <a:xfrm>
            <a:off x="1676400" y="730250"/>
            <a:ext cx="21031200" cy="2651126"/>
          </a:xfrm>
          <a:prstGeom prst="rect">
            <a:avLst/>
          </a:prstGeom>
        </p:spPr>
        <p:txBody>
          <a:bodyPr lIns="91439" tIns="91439" rIns="91439" bIns="91439" anchor="ctr"/>
          <a:lstStyle>
            <a:lvl1pPr defTabSz="1828800">
              <a:lnSpc>
                <a:spcPct val="90000"/>
              </a:lnSpc>
              <a:defRPr sz="8800" b="0" spc="0"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r>
              <a:t>제목 텍스트</a:t>
            </a:r>
          </a:p>
        </p:txBody>
      </p:sp>
      <p:sp>
        <p:nvSpPr>
          <p:cNvPr id="150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lIns="91439" tIns="91439" rIns="91439" bIns="91439"/>
          <a:lstStyle>
            <a:lvl1pPr marL="457200" indent="-457200" defTabSz="1828800">
              <a:spcBef>
                <a:spcPts val="2000"/>
              </a:spcBef>
              <a:buSzPct val="100000"/>
              <a:buFont typeface="Arial"/>
              <a:defRPr sz="5600">
                <a:latin typeface="맑은 고딕"/>
                <a:ea typeface="맑은 고딕"/>
                <a:cs typeface="맑은 고딕"/>
                <a:sym typeface="맑은 고딕"/>
              </a:defRPr>
            </a:lvl1pPr>
            <a:lvl2pPr marL="990600" indent="-533400" defTabSz="1828800">
              <a:spcBef>
                <a:spcPts val="2000"/>
              </a:spcBef>
              <a:buSzPct val="100000"/>
              <a:buFont typeface="Arial"/>
              <a:defRPr sz="5600">
                <a:latin typeface="맑은 고딕"/>
                <a:ea typeface="맑은 고딕"/>
                <a:cs typeface="맑은 고딕"/>
                <a:sym typeface="맑은 고딕"/>
              </a:defRPr>
            </a:lvl2pPr>
            <a:lvl3pPr marL="1554479" indent="-640079" defTabSz="1828800">
              <a:spcBef>
                <a:spcPts val="2000"/>
              </a:spcBef>
              <a:buSzPct val="100000"/>
              <a:buFont typeface="Arial"/>
              <a:defRPr sz="5600">
                <a:latin typeface="맑은 고딕"/>
                <a:ea typeface="맑은 고딕"/>
                <a:cs typeface="맑은 고딕"/>
                <a:sym typeface="맑은 고딕"/>
              </a:defRPr>
            </a:lvl3pPr>
            <a:lvl4pPr marL="2082800" indent="-711200" defTabSz="1828800">
              <a:spcBef>
                <a:spcPts val="2000"/>
              </a:spcBef>
              <a:buSzPct val="100000"/>
              <a:buFont typeface="Arial"/>
              <a:defRPr sz="5600">
                <a:latin typeface="맑은 고딕"/>
                <a:ea typeface="맑은 고딕"/>
                <a:cs typeface="맑은 고딕"/>
                <a:sym typeface="맑은 고딕"/>
              </a:defRPr>
            </a:lvl4pPr>
            <a:lvl5pPr marL="2540000" indent="-711200" defTabSz="1828800">
              <a:spcBef>
                <a:spcPts val="2000"/>
              </a:spcBef>
              <a:buSzPct val="100000"/>
              <a:buFont typeface="Arial"/>
              <a:defRPr sz="5600">
                <a:latin typeface="맑은 고딕"/>
                <a:ea typeface="맑은 고딕"/>
                <a:cs typeface="맑은 고딕"/>
                <a:sym typeface="맑은 고딕"/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51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22172989" y="12802235"/>
            <a:ext cx="534611" cy="55118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888888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슬라이드 제목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4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8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4.png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land.naver.com/" TargetMode="External"/><Relationship Id="rId2" Type="http://schemas.openxmlformats.org/officeDocument/2006/relationships/hyperlink" Target="https://data.seoul.go.kr/" TargetMode="Externa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apis.map.kakao.com/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86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annie-spratt-AFB6S2kibuk-unsplash.jpg" descr="annie-spratt-AFB6S2kibuk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5833" y="-750309"/>
            <a:ext cx="25168058" cy="1678080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5" name="직사각형 20"/>
          <p:cNvGrpSpPr/>
          <p:nvPr/>
        </p:nvGrpSpPr>
        <p:grpSpPr>
          <a:xfrm>
            <a:off x="-413556" y="-6362837"/>
            <a:ext cx="25395781" cy="22346409"/>
            <a:chOff x="-413555" y="-6362836"/>
            <a:chExt cx="24797555" cy="22346408"/>
          </a:xfrm>
        </p:grpSpPr>
        <p:sp>
          <p:nvSpPr>
            <p:cNvPr id="161" name="직사각형"/>
            <p:cNvSpPr/>
            <p:nvPr/>
          </p:nvSpPr>
          <p:spPr>
            <a:xfrm>
              <a:off x="-191195" y="-797230"/>
              <a:ext cx="24575195" cy="16780802"/>
            </a:xfrm>
            <a:prstGeom prst="rect">
              <a:avLst/>
            </a:prstGeom>
            <a:solidFill>
              <a:srgbClr val="536D7F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50000"/>
                </a:lnSpc>
                <a:defRPr sz="88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 dirty="0"/>
            </a:p>
          </p:txBody>
        </p:sp>
        <p:grpSp>
          <p:nvGrpSpPr>
            <p:cNvPr id="164" name="그룹화"/>
            <p:cNvGrpSpPr/>
            <p:nvPr/>
          </p:nvGrpSpPr>
          <p:grpSpPr>
            <a:xfrm>
              <a:off x="-413555" y="-6362836"/>
              <a:ext cx="24201121" cy="2875281"/>
              <a:chOff x="0" y="0"/>
              <a:chExt cx="24201119" cy="2875279"/>
            </a:xfrm>
          </p:grpSpPr>
          <p:sp>
            <p:nvSpPr>
              <p:cNvPr id="162" name="TEAM NAME 아매방"/>
              <p:cNvSpPr txBox="1"/>
              <p:nvPr/>
            </p:nvSpPr>
            <p:spPr>
              <a:xfrm>
                <a:off x="0" y="-1"/>
                <a:ext cx="24201120" cy="28752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91439" tIns="91439" rIns="91439" bIns="91439" numCol="1" anchor="ctr">
                <a:spAutoFit/>
              </a:bodyPr>
              <a:lstStyle/>
              <a:p>
                <a:pPr defTabSz="1828800">
                  <a:defRPr sz="720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defRPr>
                </a:pPr>
                <a:r>
                  <a:t>TEAM NAME </a:t>
                </a:r>
                <a:r>
                  <a:rPr sz="8800"/>
                  <a:t>아매방</a:t>
                </a:r>
              </a:p>
              <a:p>
                <a:pPr defTabSz="1828800">
                  <a:lnSpc>
                    <a:spcPct val="150000"/>
                  </a:lnSpc>
                  <a:defRPr sz="2800">
                    <a:solidFill>
                      <a:srgbClr val="FFFFFF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 sz="8800"/>
              </a:p>
            </p:txBody>
          </p:sp>
          <p:sp>
            <p:nvSpPr>
              <p:cNvPr id="163" name="아파트 매매 예측 사이트"/>
              <p:cNvSpPr txBox="1"/>
              <p:nvPr/>
            </p:nvSpPr>
            <p:spPr>
              <a:xfrm>
                <a:off x="13238982" y="1988962"/>
                <a:ext cx="3123287" cy="5461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defRPr>
                </a:lvl1pPr>
              </a:lstStyle>
              <a:p>
                <a:r>
                  <a:t>아파트 매매 예측 사이트</a:t>
                </a:r>
              </a:p>
            </p:txBody>
          </p:sp>
        </p:grpSp>
      </p:grpSp>
      <p:grpSp>
        <p:nvGrpSpPr>
          <p:cNvPr id="172" name="그룹화"/>
          <p:cNvGrpSpPr/>
          <p:nvPr/>
        </p:nvGrpSpPr>
        <p:grpSpPr>
          <a:xfrm>
            <a:off x="7596358" y="-3780273"/>
            <a:ext cx="7652253" cy="733425"/>
            <a:chOff x="0" y="0"/>
            <a:chExt cx="7652251" cy="733423"/>
          </a:xfrm>
        </p:grpSpPr>
        <p:grpSp>
          <p:nvGrpSpPr>
            <p:cNvPr id="168" name="모서리가 둥근 직사각형 32"/>
            <p:cNvGrpSpPr/>
            <p:nvPr/>
          </p:nvGrpSpPr>
          <p:grpSpPr>
            <a:xfrm>
              <a:off x="0" y="0"/>
              <a:ext cx="3508791" cy="733424"/>
              <a:chOff x="0" y="0"/>
              <a:chExt cx="3508790" cy="733423"/>
            </a:xfrm>
          </p:grpSpPr>
          <p:sp>
            <p:nvSpPr>
              <p:cNvPr id="166" name="모서리가 둥근 직사각형"/>
              <p:cNvSpPr/>
              <p:nvPr/>
            </p:nvSpPr>
            <p:spPr>
              <a:xfrm>
                <a:off x="0" y="0"/>
                <a:ext cx="3508791" cy="733424"/>
              </a:xfrm>
              <a:prstGeom prst="roundRect">
                <a:avLst>
                  <a:gd name="adj" fmla="val 50000"/>
                </a:avLst>
              </a:prstGeom>
              <a:solidFill>
                <a:srgbClr val="000000">
                  <a:alpha val="35000"/>
                </a:srgbClr>
              </a:solidFill>
              <a:ln w="254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defRPr sz="2800">
                    <a:solidFill>
                      <a:srgbClr val="FFFFFF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167" name="에이콘"/>
              <p:cNvSpPr txBox="1"/>
              <p:nvPr/>
            </p:nvSpPr>
            <p:spPr>
              <a:xfrm>
                <a:off x="211546" y="65721"/>
                <a:ext cx="3085699" cy="6019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91439" tIns="91439" rIns="91439" bIns="91439" numCol="1" anchor="ctr">
                <a:spAutoFit/>
              </a:bodyPr>
              <a:lstStyle>
                <a:lvl1pPr defTabSz="1828800">
                  <a:defRPr sz="2800">
                    <a:solidFill>
                      <a:srgbClr val="FFFFFF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lvl1pPr>
              </a:lstStyle>
              <a:p>
                <a:r>
                  <a:rPr dirty="0" err="1"/>
                  <a:t>에이콘</a:t>
                </a:r>
                <a:endParaRPr dirty="0"/>
              </a:p>
            </p:txBody>
          </p:sp>
        </p:grpSp>
        <p:grpSp>
          <p:nvGrpSpPr>
            <p:cNvPr id="171" name="모서리가 둥근 직사각형 31"/>
            <p:cNvGrpSpPr/>
            <p:nvPr/>
          </p:nvGrpSpPr>
          <p:grpSpPr>
            <a:xfrm>
              <a:off x="4143461" y="0"/>
              <a:ext cx="3508791" cy="733424"/>
              <a:chOff x="0" y="0"/>
              <a:chExt cx="3508790" cy="733423"/>
            </a:xfrm>
          </p:grpSpPr>
          <p:sp>
            <p:nvSpPr>
              <p:cNvPr id="169" name="모서리가 둥근 직사각형"/>
              <p:cNvSpPr/>
              <p:nvPr/>
            </p:nvSpPr>
            <p:spPr>
              <a:xfrm>
                <a:off x="0" y="0"/>
                <a:ext cx="3508791" cy="733424"/>
              </a:xfrm>
              <a:prstGeom prst="roundRect">
                <a:avLst>
                  <a:gd name="adj" fmla="val 50000"/>
                </a:avLst>
              </a:prstGeom>
              <a:solidFill>
                <a:srgbClr val="000000">
                  <a:alpha val="35000"/>
                </a:srgbClr>
              </a:solidFill>
              <a:ln w="254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defRPr sz="2800">
                    <a:solidFill>
                      <a:srgbClr val="FFFFFF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170" name="2팀"/>
              <p:cNvSpPr txBox="1"/>
              <p:nvPr/>
            </p:nvSpPr>
            <p:spPr>
              <a:xfrm>
                <a:off x="211546" y="46922"/>
                <a:ext cx="3085699" cy="63958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91439" tIns="91439" rIns="91439" bIns="91439" numCol="1" anchor="ctr">
                <a:spAutoFit/>
              </a:bodyPr>
              <a:lstStyle>
                <a:lvl1pPr defTabSz="1828800">
                  <a:defRPr sz="2800">
                    <a:solidFill>
                      <a:srgbClr val="FFFFFF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lvl1pPr>
              </a:lstStyle>
              <a:p>
                <a:r>
                  <a:t>2팀</a:t>
                </a:r>
              </a:p>
            </p:txBody>
          </p:sp>
        </p:grpSp>
      </p:grpSp>
      <p:sp>
        <p:nvSpPr>
          <p:cNvPr id="173" name="직선 연결선 12"/>
          <p:cNvSpPr/>
          <p:nvPr/>
        </p:nvSpPr>
        <p:spPr>
          <a:xfrm flipH="1">
            <a:off x="-9923585" y="-6290333"/>
            <a:ext cx="9144000" cy="5003801"/>
          </a:xfrm>
          <a:prstGeom prst="line">
            <a:avLst/>
          </a:prstGeom>
          <a:ln w="12700">
            <a:solidFill>
              <a:srgbClr val="FFFFFF"/>
            </a:solidFill>
            <a:miter/>
          </a:ln>
        </p:spPr>
        <p:txBody>
          <a:bodyPr tIns="91439" bIns="91439"/>
          <a:lstStyle/>
          <a:p>
            <a:pPr algn="l" defTabSz="1828800">
              <a:defRPr sz="3600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endParaRPr/>
          </a:p>
        </p:txBody>
      </p:sp>
      <p:sp>
        <p:nvSpPr>
          <p:cNvPr id="174" name="직선 연결선 36"/>
          <p:cNvSpPr/>
          <p:nvPr/>
        </p:nvSpPr>
        <p:spPr>
          <a:xfrm flipH="1">
            <a:off x="25521590" y="13937386"/>
            <a:ext cx="9144001" cy="5003801"/>
          </a:xfrm>
          <a:prstGeom prst="line">
            <a:avLst/>
          </a:prstGeom>
          <a:ln w="12700">
            <a:solidFill>
              <a:srgbClr val="FFFFFF"/>
            </a:solidFill>
            <a:miter/>
          </a:ln>
        </p:spPr>
        <p:txBody>
          <a:bodyPr tIns="91439" bIns="91439"/>
          <a:lstStyle/>
          <a:p>
            <a:pPr algn="l" defTabSz="1828800">
              <a:defRPr sz="3600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86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annie-spratt-AFB6S2kibuk-unsplash.jpg" descr="annie-spratt-AFB6S2kibuk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5833" y="-750309"/>
            <a:ext cx="25168058" cy="16780803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직사각형"/>
          <p:cNvSpPr/>
          <p:nvPr/>
        </p:nvSpPr>
        <p:spPr>
          <a:xfrm>
            <a:off x="-185833" y="-970384"/>
            <a:ext cx="25168058" cy="17000878"/>
          </a:xfrm>
          <a:prstGeom prst="rect">
            <a:avLst/>
          </a:prstGeom>
          <a:solidFill>
            <a:srgbClr val="536D7F">
              <a:alpha val="80000"/>
            </a:srgbClr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lnSpc>
                <a:spcPct val="150000"/>
              </a:lnSpc>
              <a:defRPr sz="88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endParaRPr/>
          </a:p>
        </p:txBody>
      </p:sp>
      <p:sp>
        <p:nvSpPr>
          <p:cNvPr id="178" name="PROJECT"/>
          <p:cNvSpPr txBox="1"/>
          <p:nvPr/>
        </p:nvSpPr>
        <p:spPr>
          <a:xfrm>
            <a:off x="5840488" y="5560059"/>
            <a:ext cx="12247851" cy="259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 anchor="ctr">
            <a:spAutoFit/>
          </a:bodyPr>
          <a:lstStyle/>
          <a:p>
            <a:pPr defTabSz="1828800">
              <a:defRPr sz="7200">
                <a:solidFill>
                  <a:srgbClr val="FFFFFF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dirty="0"/>
              <a:t>PROJECT</a:t>
            </a:r>
          </a:p>
          <a:p>
            <a:pPr defTabSz="1828800">
              <a:lnSpc>
                <a:spcPct val="150000"/>
              </a:lnSpc>
              <a:defRPr sz="28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endParaRPr dirty="0"/>
          </a:p>
        </p:txBody>
      </p:sp>
      <p:grpSp>
        <p:nvGrpSpPr>
          <p:cNvPr id="181" name="모서리가 둥근 직사각형 32"/>
          <p:cNvGrpSpPr/>
          <p:nvPr/>
        </p:nvGrpSpPr>
        <p:grpSpPr>
          <a:xfrm>
            <a:off x="8365873" y="3987017"/>
            <a:ext cx="3508792" cy="733426"/>
            <a:chOff x="0" y="0"/>
            <a:chExt cx="3508791" cy="733424"/>
          </a:xfrm>
        </p:grpSpPr>
        <p:sp>
          <p:nvSpPr>
            <p:cNvPr id="179" name="모서리가 둥근 직사각형"/>
            <p:cNvSpPr/>
            <p:nvPr/>
          </p:nvSpPr>
          <p:spPr>
            <a:xfrm>
              <a:off x="0" y="0"/>
              <a:ext cx="3508791" cy="733424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35000"/>
              </a:srgbClr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28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180" name="에이콘"/>
            <p:cNvSpPr txBox="1"/>
            <p:nvPr/>
          </p:nvSpPr>
          <p:spPr>
            <a:xfrm>
              <a:off x="211546" y="58937"/>
              <a:ext cx="3085699" cy="6155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1828800">
                <a:defRPr sz="28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r>
                <a:rPr dirty="0" err="1">
                  <a:latin typeface="Noto Sans KR" panose="020B0500000000000000" pitchFamily="34" charset="-127"/>
                  <a:ea typeface="Noto Sans KR" panose="020B0500000000000000" pitchFamily="34" charset="-127"/>
                </a:rPr>
                <a:t>에이콘</a:t>
              </a:r>
              <a:endParaRPr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</p:grpSp>
      <p:grpSp>
        <p:nvGrpSpPr>
          <p:cNvPr id="184" name="모서리가 둥근 직사각형 31"/>
          <p:cNvGrpSpPr/>
          <p:nvPr/>
        </p:nvGrpSpPr>
        <p:grpSpPr>
          <a:xfrm>
            <a:off x="12509335" y="3987017"/>
            <a:ext cx="3508792" cy="733426"/>
            <a:chOff x="0" y="0"/>
            <a:chExt cx="3508791" cy="733424"/>
          </a:xfrm>
        </p:grpSpPr>
        <p:sp>
          <p:nvSpPr>
            <p:cNvPr id="182" name="모서리가 둥근 직사각형"/>
            <p:cNvSpPr/>
            <p:nvPr/>
          </p:nvSpPr>
          <p:spPr>
            <a:xfrm>
              <a:off x="0" y="0"/>
              <a:ext cx="3508791" cy="733424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35000"/>
              </a:srgbClr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28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183" name="2팀"/>
            <p:cNvSpPr txBox="1"/>
            <p:nvPr/>
          </p:nvSpPr>
          <p:spPr>
            <a:xfrm>
              <a:off x="211546" y="46922"/>
              <a:ext cx="3085699" cy="6395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1828800">
                <a:defRPr sz="28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r>
                <a:rPr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2팀</a:t>
              </a:r>
            </a:p>
          </p:txBody>
        </p:sp>
      </p:grpSp>
      <p:sp>
        <p:nvSpPr>
          <p:cNvPr id="185" name="직선 연결선 12"/>
          <p:cNvSpPr/>
          <p:nvPr/>
        </p:nvSpPr>
        <p:spPr>
          <a:xfrm flipH="1">
            <a:off x="1955799" y="1092199"/>
            <a:ext cx="9144001" cy="5003802"/>
          </a:xfrm>
          <a:prstGeom prst="line">
            <a:avLst/>
          </a:prstGeom>
          <a:ln w="12700">
            <a:solidFill>
              <a:srgbClr val="FFFFFF"/>
            </a:solidFill>
            <a:miter/>
          </a:ln>
        </p:spPr>
        <p:txBody>
          <a:bodyPr tIns="91439" bIns="91439"/>
          <a:lstStyle/>
          <a:p>
            <a:pPr algn="l" defTabSz="1828800">
              <a:defRPr sz="3600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endParaRPr/>
          </a:p>
        </p:txBody>
      </p:sp>
      <p:sp>
        <p:nvSpPr>
          <p:cNvPr id="186" name="직선 연결선 36"/>
          <p:cNvSpPr/>
          <p:nvPr/>
        </p:nvSpPr>
        <p:spPr>
          <a:xfrm flipH="1">
            <a:off x="13233400" y="7035799"/>
            <a:ext cx="9144000" cy="5003802"/>
          </a:xfrm>
          <a:prstGeom prst="line">
            <a:avLst/>
          </a:prstGeom>
          <a:ln w="12700">
            <a:solidFill>
              <a:srgbClr val="FFFFFF"/>
            </a:solidFill>
            <a:miter/>
          </a:ln>
        </p:spPr>
        <p:txBody>
          <a:bodyPr tIns="91439" bIns="91439"/>
          <a:lstStyle/>
          <a:p>
            <a:pPr algn="l" defTabSz="1828800">
              <a:defRPr sz="3600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endParaRPr/>
          </a:p>
        </p:txBody>
      </p:sp>
      <p:pic>
        <p:nvPicPr>
          <p:cNvPr id="187" name="KakaoTalk_Photo_2023-06-21-15-52-18.png" descr="KakaoTalk_Photo_2023-06-21-15-52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8555" y="5041113"/>
            <a:ext cx="5626879" cy="37856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86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annie-spratt-AFB6S2kibuk-unsplash.jpg" descr="annie-spratt-AFB6S2kibuk-unsplash.jpg"/>
          <p:cNvPicPr>
            <a:picLocks noChangeAspect="1"/>
          </p:cNvPicPr>
          <p:nvPr/>
        </p:nvPicPr>
        <p:blipFill>
          <a:blip r:embed="rId2"/>
          <a:srcRect l="3153" t="4736"/>
          <a:stretch>
            <a:fillRect/>
          </a:stretch>
        </p:blipFill>
        <p:spPr>
          <a:xfrm>
            <a:off x="-185833" y="-737609"/>
            <a:ext cx="24374496" cy="1598601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직사각형 20"/>
          <p:cNvGrpSpPr/>
          <p:nvPr/>
        </p:nvGrpSpPr>
        <p:grpSpPr>
          <a:xfrm>
            <a:off x="27111922" y="-371778"/>
            <a:ext cx="16896798" cy="15094407"/>
            <a:chOff x="0" y="1415464"/>
            <a:chExt cx="16896794" cy="15094407"/>
          </a:xfrm>
          <a:solidFill>
            <a:schemeClr val="tx1">
              <a:lumMod val="50000"/>
            </a:schemeClr>
          </a:solidFill>
        </p:grpSpPr>
        <p:sp>
          <p:nvSpPr>
            <p:cNvPr id="190" name="직사각형"/>
            <p:cNvSpPr/>
            <p:nvPr/>
          </p:nvSpPr>
          <p:spPr>
            <a:xfrm>
              <a:off x="0" y="1415464"/>
              <a:ext cx="9353475" cy="15094407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50000"/>
                </a:lnSpc>
                <a:defRPr sz="88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191" name="CONTENTS"/>
            <p:cNvSpPr txBox="1"/>
            <p:nvPr/>
          </p:nvSpPr>
          <p:spPr>
            <a:xfrm>
              <a:off x="9661574" y="1787242"/>
              <a:ext cx="7235220" cy="1758861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7200" i="1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r>
                <a:t>CONTENTS</a:t>
              </a:r>
            </a:p>
            <a:p>
              <a:pPr defTabSz="1828800">
                <a:lnSpc>
                  <a:spcPct val="150000"/>
                </a:lnSpc>
                <a:defRPr sz="28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</p:grpSp>
      <p:sp>
        <p:nvSpPr>
          <p:cNvPr id="193" name="그룹화"/>
          <p:cNvSpPr txBox="1"/>
          <p:nvPr/>
        </p:nvSpPr>
        <p:spPr>
          <a:xfrm>
            <a:off x="-4245791" y="1542867"/>
            <a:ext cx="3899480" cy="1076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lvl="1" algn="l" defTabSz="914400">
              <a:lnSpc>
                <a:spcPct val="150000"/>
              </a:lnSpc>
              <a:defRPr sz="2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endParaRPr/>
          </a:p>
          <a:p>
            <a:pPr lvl="1" algn="l" defTabSz="914400">
              <a:lnSpc>
                <a:spcPct val="150000"/>
              </a:lnSpc>
              <a:defRPr sz="2800">
                <a:solidFill>
                  <a:srgbClr val="FFFFFF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t>I. 개요</a:t>
            </a:r>
          </a:p>
          <a:p>
            <a:pPr lvl="1" algn="l" defTabSz="914400">
              <a:lnSpc>
                <a:spcPct val="150000"/>
              </a:lnSpc>
              <a:defRPr sz="2800">
                <a:solidFill>
                  <a:srgbClr val="FFFFFF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t>  1. 팀원 소개</a:t>
            </a:r>
          </a:p>
          <a:p>
            <a:pPr lvl="1" algn="l" defTabSz="914400">
              <a:lnSpc>
                <a:spcPct val="150000"/>
              </a:lnSpc>
              <a:defRPr sz="2800">
                <a:solidFill>
                  <a:srgbClr val="FFFFFF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t>  2.  주제 선정 배경</a:t>
            </a:r>
          </a:p>
          <a:p>
            <a:pPr lvl="1" algn="l" defTabSz="914400">
              <a:lnSpc>
                <a:spcPct val="150000"/>
              </a:lnSpc>
              <a:defRPr sz="2800">
                <a:solidFill>
                  <a:srgbClr val="FFFFFF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t>  3.  수행 절차</a:t>
            </a:r>
          </a:p>
          <a:p>
            <a:pPr lvl="1" algn="l" defTabSz="914400">
              <a:lnSpc>
                <a:spcPct val="150000"/>
              </a:lnSpc>
              <a:defRPr sz="2800">
                <a:solidFill>
                  <a:srgbClr val="FFFFFF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endParaRPr/>
          </a:p>
          <a:p>
            <a:pPr lvl="1" algn="l" defTabSz="914400">
              <a:lnSpc>
                <a:spcPct val="150000"/>
              </a:lnSpc>
              <a:defRPr sz="2800">
                <a:solidFill>
                  <a:srgbClr val="FFFFFF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t>II. 데이터 수집</a:t>
            </a:r>
          </a:p>
          <a:p>
            <a:pPr lvl="1" algn="l" defTabSz="914400">
              <a:lnSpc>
                <a:spcPct val="150000"/>
              </a:lnSpc>
              <a:defRPr sz="2800">
                <a:solidFill>
                  <a:srgbClr val="595959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t>  </a:t>
            </a:r>
            <a:r>
              <a:rPr>
                <a:solidFill>
                  <a:srgbClr val="FFFFFF"/>
                </a:solidFill>
              </a:rPr>
              <a:t>1.</a:t>
            </a:r>
            <a:r>
              <a:t>  </a:t>
            </a:r>
            <a:r>
              <a:rPr>
                <a:solidFill>
                  <a:srgbClr val="FFFFFF"/>
                </a:solidFill>
              </a:rPr>
              <a:t>데이터</a:t>
            </a:r>
            <a:r>
              <a:t> </a:t>
            </a:r>
            <a:r>
              <a:rPr>
                <a:solidFill>
                  <a:srgbClr val="FFFFFF"/>
                </a:solidFill>
              </a:rPr>
              <a:t>전처리</a:t>
            </a:r>
          </a:p>
          <a:p>
            <a:pPr lvl="1" algn="l" defTabSz="914400">
              <a:lnSpc>
                <a:spcPct val="150000"/>
              </a:lnSpc>
              <a:defRPr sz="2800">
                <a:solidFill>
                  <a:srgbClr val="FFFFFF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t>  2.  모델링 생성</a:t>
            </a:r>
          </a:p>
          <a:p>
            <a:pPr lvl="1" algn="l" defTabSz="914400">
              <a:lnSpc>
                <a:spcPct val="150000"/>
              </a:lnSpc>
              <a:defRPr sz="2800">
                <a:solidFill>
                  <a:srgbClr val="FFFFFF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t>  3.  통계자료</a:t>
            </a:r>
          </a:p>
          <a:p>
            <a:pPr lvl="1" algn="l" defTabSz="914400">
              <a:lnSpc>
                <a:spcPct val="150000"/>
              </a:lnSpc>
              <a:defRPr sz="2800">
                <a:solidFill>
                  <a:srgbClr val="FFFFFF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endParaRPr/>
          </a:p>
          <a:p>
            <a:pPr lvl="1" algn="l" defTabSz="914400">
              <a:lnSpc>
                <a:spcPct val="150000"/>
              </a:lnSpc>
              <a:defRPr sz="2800">
                <a:solidFill>
                  <a:srgbClr val="FFFFFF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t>III. 분석 및 결과 </a:t>
            </a:r>
          </a:p>
          <a:p>
            <a:pPr lvl="1" algn="l" defTabSz="914400">
              <a:lnSpc>
                <a:spcPct val="150000"/>
              </a:lnSpc>
              <a:defRPr sz="2800">
                <a:solidFill>
                  <a:srgbClr val="FFFFFF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t>  1.  결과 및 해석</a:t>
            </a:r>
          </a:p>
          <a:p>
            <a:pPr lvl="1" algn="l" defTabSz="914400">
              <a:lnSpc>
                <a:spcPct val="150000"/>
              </a:lnSpc>
              <a:defRPr sz="2800">
                <a:solidFill>
                  <a:srgbClr val="FFFFFF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t>  2.  웹 페이지</a:t>
            </a:r>
          </a:p>
          <a:p>
            <a:pPr lvl="1" algn="l" defTabSz="914400">
              <a:lnSpc>
                <a:spcPct val="150000"/>
              </a:lnSpc>
              <a:defRPr sz="140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endParaRPr/>
          </a:p>
        </p:txBody>
      </p:sp>
      <p:pic>
        <p:nvPicPr>
          <p:cNvPr id="194" name="KakaoTalk_Photo_2023-06-21-15-52-18.png" descr="KakaoTalk_Photo_2023-06-21-15-52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9689" y="11594434"/>
            <a:ext cx="3313733" cy="22294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86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annie-spratt-AFB6S2kibuk-unsplash.jpg" descr="annie-spratt-AFB6S2kibuk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94018" y="-4110034"/>
            <a:ext cx="33377440" cy="2127864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9" name="직사각형 20"/>
          <p:cNvGrpSpPr/>
          <p:nvPr/>
        </p:nvGrpSpPr>
        <p:grpSpPr>
          <a:xfrm>
            <a:off x="15078620" y="-689203"/>
            <a:ext cx="9353476" cy="15094406"/>
            <a:chOff x="0" y="0"/>
            <a:chExt cx="9353474" cy="15094405"/>
          </a:xfrm>
        </p:grpSpPr>
        <p:sp>
          <p:nvSpPr>
            <p:cNvPr id="197" name="직사각형"/>
            <p:cNvSpPr/>
            <p:nvPr/>
          </p:nvSpPr>
          <p:spPr>
            <a:xfrm>
              <a:off x="0" y="0"/>
              <a:ext cx="9353475" cy="15094406"/>
            </a:xfrm>
            <a:prstGeom prst="rect">
              <a:avLst/>
            </a:prstGeom>
            <a:solidFill>
              <a:schemeClr val="tx2">
                <a:lumMod val="50000"/>
                <a:alpha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50000"/>
                </a:lnSpc>
                <a:defRPr sz="88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 dirty="0"/>
            </a:p>
          </p:txBody>
        </p:sp>
        <p:sp>
          <p:nvSpPr>
            <p:cNvPr id="198" name="CONTENTS"/>
            <p:cNvSpPr txBox="1"/>
            <p:nvPr/>
          </p:nvSpPr>
          <p:spPr>
            <a:xfrm>
              <a:off x="683989" y="1119124"/>
              <a:ext cx="7235220" cy="1758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7200">
                  <a:solidFill>
                    <a:srgbClr val="CDFFEF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pPr>
              <a:r>
                <a:rPr dirty="0"/>
                <a:t>CONTENTS</a:t>
              </a:r>
            </a:p>
            <a:p>
              <a:pPr defTabSz="1828800">
                <a:lnSpc>
                  <a:spcPct val="150000"/>
                </a:lnSpc>
                <a:defRPr sz="28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 dirty="0"/>
            </a:p>
          </p:txBody>
        </p:sp>
      </p:grpSp>
      <p:sp>
        <p:nvSpPr>
          <p:cNvPr id="200" name="그룹화"/>
          <p:cNvSpPr txBox="1"/>
          <p:nvPr/>
        </p:nvSpPr>
        <p:spPr>
          <a:xfrm>
            <a:off x="17232128" y="2188783"/>
            <a:ext cx="4656322" cy="10950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lvl="1" algn="l" defTabSz="914400">
              <a:lnSpc>
                <a:spcPct val="150000"/>
              </a:lnSpc>
              <a:defRPr sz="2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endParaRPr dirty="0"/>
          </a:p>
          <a:p>
            <a:pPr lvl="1" algn="l" defTabSz="914400">
              <a:lnSpc>
                <a:spcPct val="150000"/>
              </a:lnSpc>
              <a:defRPr sz="3300"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dirty="0">
                <a:solidFill>
                  <a:schemeClr val="bg1"/>
                </a:solidFill>
              </a:rPr>
              <a:t>I. </a:t>
            </a:r>
            <a:r>
              <a:rPr dirty="0" err="1">
                <a:solidFill>
                  <a:schemeClr val="bg1"/>
                </a:solidFill>
              </a:rPr>
              <a:t>개요</a:t>
            </a:r>
            <a:endParaRPr dirty="0">
              <a:solidFill>
                <a:schemeClr val="bg1"/>
              </a:solidFill>
            </a:endParaRPr>
          </a:p>
          <a:p>
            <a:pPr lvl="2" algn="l" defTabSz="914400">
              <a:defRPr sz="2800">
                <a:solidFill>
                  <a:srgbClr val="FFFFFF"/>
                </a:solidFill>
                <a:latin typeface="Noto Sans KR Light"/>
                <a:ea typeface="Noto Sans KR Light"/>
                <a:cs typeface="Noto Sans KR Light"/>
                <a:sym typeface="Noto Sans KR Light"/>
              </a:defRPr>
            </a:pPr>
            <a:r>
              <a:rPr dirty="0">
                <a:solidFill>
                  <a:schemeClr val="bg1"/>
                </a:solidFill>
              </a:rPr>
              <a:t>  1. 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팀원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소개</a:t>
            </a:r>
            <a:endParaRPr dirty="0">
              <a:solidFill>
                <a:schemeClr val="bg1"/>
              </a:solidFill>
            </a:endParaRPr>
          </a:p>
          <a:p>
            <a:pPr lvl="2" algn="l" defTabSz="914400">
              <a:defRPr sz="2800">
                <a:solidFill>
                  <a:srgbClr val="FFFFFF"/>
                </a:solidFill>
                <a:latin typeface="Noto Sans KR Light"/>
                <a:ea typeface="Noto Sans KR Light"/>
                <a:cs typeface="Noto Sans KR Light"/>
                <a:sym typeface="Noto Sans KR Light"/>
              </a:defRPr>
            </a:pPr>
            <a:r>
              <a:rPr dirty="0">
                <a:solidFill>
                  <a:schemeClr val="bg1"/>
                </a:solidFill>
              </a:rPr>
              <a:t>  2.  </a:t>
            </a:r>
            <a:r>
              <a:rPr dirty="0" err="1">
                <a:solidFill>
                  <a:schemeClr val="bg1"/>
                </a:solidFill>
              </a:rPr>
              <a:t>주제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선정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배경</a:t>
            </a:r>
            <a:endParaRPr dirty="0">
              <a:solidFill>
                <a:schemeClr val="bg1"/>
              </a:solidFill>
            </a:endParaRPr>
          </a:p>
          <a:p>
            <a:pPr lvl="2" algn="l" defTabSz="914400">
              <a:defRPr sz="2800">
                <a:solidFill>
                  <a:srgbClr val="FFFFFF"/>
                </a:solidFill>
                <a:latin typeface="Noto Sans KR Light"/>
                <a:ea typeface="Noto Sans KR Light"/>
                <a:cs typeface="Noto Sans KR Light"/>
                <a:sym typeface="Noto Sans KR Light"/>
              </a:defRPr>
            </a:pPr>
            <a:r>
              <a:rPr dirty="0">
                <a:solidFill>
                  <a:schemeClr val="bg1"/>
                </a:solidFill>
              </a:rPr>
              <a:t>  3.  </a:t>
            </a:r>
            <a:r>
              <a:rPr dirty="0" err="1">
                <a:solidFill>
                  <a:schemeClr val="bg1"/>
                </a:solidFill>
              </a:rPr>
              <a:t>수행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절차</a:t>
            </a:r>
            <a:endParaRPr lang="en-US" dirty="0">
              <a:solidFill>
                <a:schemeClr val="bg1"/>
              </a:solidFill>
            </a:endParaRPr>
          </a:p>
          <a:p>
            <a:pPr lvl="2" algn="l" defTabSz="914400">
              <a:defRPr sz="2800">
                <a:solidFill>
                  <a:srgbClr val="FFFFFF"/>
                </a:solidFill>
                <a:latin typeface="Noto Sans KR Light"/>
                <a:ea typeface="Noto Sans KR Light"/>
                <a:cs typeface="Noto Sans KR Light"/>
                <a:sym typeface="Noto Sans KR Light"/>
              </a:defRPr>
            </a:pPr>
            <a:endParaRPr dirty="0">
              <a:solidFill>
                <a:schemeClr val="bg1"/>
              </a:solidFill>
            </a:endParaRPr>
          </a:p>
          <a:p>
            <a:pPr lvl="1" algn="l" defTabSz="914400">
              <a:lnSpc>
                <a:spcPct val="150000"/>
              </a:lnSpc>
              <a:defRPr sz="3300"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dirty="0">
                <a:solidFill>
                  <a:schemeClr val="bg1"/>
                </a:solidFill>
              </a:rPr>
              <a:t>II. </a:t>
            </a:r>
            <a:r>
              <a:rPr dirty="0" err="1">
                <a:solidFill>
                  <a:schemeClr val="bg1"/>
                </a:solidFill>
              </a:rPr>
              <a:t>데이터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수집</a:t>
            </a:r>
            <a:endParaRPr dirty="0">
              <a:solidFill>
                <a:schemeClr val="bg1"/>
              </a:solidFill>
            </a:endParaRPr>
          </a:p>
          <a:p>
            <a:pPr lvl="2" algn="l" defTabSz="914400">
              <a:defRPr sz="2800">
                <a:solidFill>
                  <a:srgbClr val="595959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  <a:latin typeface="Noto Sans KR Light"/>
                <a:ea typeface="Noto Sans KR Light"/>
                <a:cs typeface="Noto Sans KR Light"/>
                <a:sym typeface="Noto Sans KR Light"/>
              </a:rPr>
              <a:t>1.  </a:t>
            </a:r>
            <a:r>
              <a:rPr dirty="0" err="1">
                <a:solidFill>
                  <a:schemeClr val="bg1"/>
                </a:solidFill>
                <a:latin typeface="Noto Sans KR Light"/>
                <a:ea typeface="Noto Sans KR Light"/>
                <a:cs typeface="Noto Sans KR Light"/>
                <a:sym typeface="Noto Sans KR Light"/>
              </a:rPr>
              <a:t>데이터</a:t>
            </a:r>
            <a:r>
              <a:rPr dirty="0">
                <a:solidFill>
                  <a:schemeClr val="bg1"/>
                </a:solidFill>
                <a:latin typeface="Noto Sans KR Light"/>
                <a:ea typeface="Noto Sans KR Light"/>
                <a:cs typeface="Noto Sans KR Light"/>
                <a:sym typeface="Noto Sans KR Light"/>
              </a:rPr>
              <a:t> </a:t>
            </a:r>
            <a:r>
              <a:rPr dirty="0" err="1">
                <a:solidFill>
                  <a:schemeClr val="bg1"/>
                </a:solidFill>
                <a:latin typeface="Noto Sans KR Light"/>
                <a:ea typeface="Noto Sans KR Light"/>
                <a:cs typeface="Noto Sans KR Light"/>
                <a:sym typeface="Noto Sans KR Light"/>
              </a:rPr>
              <a:t>전처리</a:t>
            </a:r>
            <a:endParaRPr lang="en-US" dirty="0">
              <a:solidFill>
                <a:schemeClr val="bg1"/>
              </a:solidFill>
              <a:latin typeface="Noto Sans KR Light"/>
              <a:ea typeface="Noto Sans KR Light"/>
              <a:cs typeface="Noto Sans KR Light"/>
              <a:sym typeface="Noto Sans KR Light"/>
            </a:endParaRPr>
          </a:p>
          <a:p>
            <a:pPr lvl="2" algn="l" defTabSz="914400">
              <a:defRPr sz="2800">
                <a:solidFill>
                  <a:srgbClr val="595959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endParaRPr dirty="0">
              <a:solidFill>
                <a:schemeClr val="bg1"/>
              </a:solidFill>
              <a:latin typeface="Noto Sans KR Light"/>
              <a:ea typeface="Noto Sans KR Light"/>
              <a:cs typeface="Noto Sans KR Light"/>
              <a:sym typeface="Noto Sans KR Light"/>
            </a:endParaRPr>
          </a:p>
          <a:p>
            <a:pPr lvl="1" algn="l" defTabSz="914400">
              <a:lnSpc>
                <a:spcPct val="150000"/>
              </a:lnSpc>
              <a:defRPr sz="3300"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dirty="0">
                <a:solidFill>
                  <a:schemeClr val="bg1"/>
                </a:solidFill>
              </a:rPr>
              <a:t>III. </a:t>
            </a:r>
            <a:r>
              <a:rPr dirty="0" err="1">
                <a:solidFill>
                  <a:schemeClr val="bg1"/>
                </a:solidFill>
              </a:rPr>
              <a:t>데이터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분석</a:t>
            </a:r>
            <a:r>
              <a:rPr dirty="0">
                <a:solidFill>
                  <a:schemeClr val="bg1"/>
                </a:solidFill>
              </a:rPr>
              <a:t> </a:t>
            </a:r>
          </a:p>
          <a:p>
            <a:pPr lvl="2" algn="l" defTabSz="914400">
              <a:defRPr sz="2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  <a:latin typeface="Noto Sans KR Light"/>
                <a:ea typeface="Noto Sans KR Light"/>
                <a:cs typeface="Noto Sans KR Light"/>
                <a:sym typeface="Noto Sans KR Light"/>
              </a:rPr>
              <a:t>1.  </a:t>
            </a:r>
            <a:r>
              <a:rPr dirty="0" err="1">
                <a:solidFill>
                  <a:schemeClr val="bg1"/>
                </a:solidFill>
                <a:latin typeface="Noto Sans KR Light"/>
                <a:ea typeface="Noto Sans KR Light"/>
                <a:cs typeface="Noto Sans KR Light"/>
                <a:sym typeface="Noto Sans KR Light"/>
              </a:rPr>
              <a:t>모델링</a:t>
            </a:r>
            <a:r>
              <a:rPr dirty="0">
                <a:solidFill>
                  <a:schemeClr val="bg1"/>
                </a:solidFill>
                <a:latin typeface="Noto Sans KR Light"/>
                <a:ea typeface="Noto Sans KR Light"/>
                <a:cs typeface="Noto Sans KR Light"/>
                <a:sym typeface="Noto Sans KR Light"/>
              </a:rPr>
              <a:t> </a:t>
            </a:r>
            <a:r>
              <a:rPr dirty="0" err="1">
                <a:solidFill>
                  <a:schemeClr val="bg1"/>
                </a:solidFill>
                <a:latin typeface="Noto Sans KR Light"/>
                <a:ea typeface="Noto Sans KR Light"/>
                <a:cs typeface="Noto Sans KR Light"/>
                <a:sym typeface="Noto Sans KR Light"/>
              </a:rPr>
              <a:t>생성</a:t>
            </a:r>
            <a:endParaRPr dirty="0">
              <a:solidFill>
                <a:schemeClr val="bg1"/>
              </a:solidFill>
              <a:latin typeface="Noto Sans KR Light"/>
              <a:ea typeface="Noto Sans KR Light"/>
              <a:cs typeface="Noto Sans KR Light"/>
              <a:sym typeface="Noto Sans KR Light"/>
            </a:endParaRPr>
          </a:p>
          <a:p>
            <a:pPr lvl="2" algn="l" defTabSz="914400">
              <a:defRPr sz="2800">
                <a:solidFill>
                  <a:srgbClr val="FFFFFF"/>
                </a:solidFill>
                <a:latin typeface="Noto Sans KR Light"/>
                <a:ea typeface="Noto Sans KR Light"/>
                <a:cs typeface="Noto Sans KR Light"/>
                <a:sym typeface="Noto Sans KR Light"/>
              </a:defRPr>
            </a:pPr>
            <a:r>
              <a:rPr dirty="0">
                <a:solidFill>
                  <a:schemeClr val="bg1"/>
                </a:solidFill>
              </a:rPr>
              <a:t>  2.  </a:t>
            </a:r>
            <a:r>
              <a:rPr dirty="0" err="1">
                <a:solidFill>
                  <a:schemeClr val="bg1"/>
                </a:solidFill>
              </a:rPr>
              <a:t>결과</a:t>
            </a:r>
            <a:r>
              <a:rPr dirty="0">
                <a:solidFill>
                  <a:schemeClr val="bg1"/>
                </a:solidFill>
              </a:rPr>
              <a:t> 및 </a:t>
            </a:r>
            <a:r>
              <a:rPr dirty="0" err="1">
                <a:solidFill>
                  <a:schemeClr val="bg1"/>
                </a:solidFill>
              </a:rPr>
              <a:t>해석</a:t>
            </a:r>
            <a:endParaRPr lang="en-US" dirty="0">
              <a:solidFill>
                <a:schemeClr val="bg1"/>
              </a:solidFill>
            </a:endParaRPr>
          </a:p>
          <a:p>
            <a:pPr lvl="2" algn="l" defTabSz="914400">
              <a:defRPr sz="2800">
                <a:solidFill>
                  <a:srgbClr val="FFFFFF"/>
                </a:solidFill>
                <a:latin typeface="Noto Sans KR Light"/>
                <a:ea typeface="Noto Sans KR Light"/>
                <a:cs typeface="Noto Sans KR Light"/>
                <a:sym typeface="Noto Sans KR Light"/>
              </a:defRPr>
            </a:pPr>
            <a:endParaRPr dirty="0">
              <a:solidFill>
                <a:schemeClr val="bg1"/>
              </a:solidFill>
            </a:endParaRPr>
          </a:p>
          <a:p>
            <a:pPr lvl="1" algn="l" defTabSz="457200">
              <a:lnSpc>
                <a:spcPct val="150000"/>
              </a:lnSpc>
              <a:defRPr sz="3300"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dirty="0">
                <a:solidFill>
                  <a:schemeClr val="bg1"/>
                </a:solidFill>
              </a:rPr>
              <a:t>IV. </a:t>
            </a:r>
            <a:r>
              <a:rPr dirty="0" err="1">
                <a:solidFill>
                  <a:schemeClr val="bg1"/>
                </a:solidFill>
              </a:rPr>
              <a:t>결론</a:t>
            </a:r>
            <a:endParaRPr dirty="0">
              <a:solidFill>
                <a:schemeClr val="bg1"/>
              </a:solidFill>
            </a:endParaRPr>
          </a:p>
          <a:p>
            <a:pPr lvl="2" algn="l" defTabSz="914400">
              <a:defRPr sz="2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  <a:latin typeface="Noto Sans KR Light"/>
                <a:ea typeface="Noto Sans KR Light"/>
                <a:cs typeface="Noto Sans KR Light"/>
                <a:sym typeface="Noto Sans KR Light"/>
              </a:rPr>
              <a:t> 1.  웹 시</a:t>
            </a:r>
            <a:r>
              <a:rPr lang="ko-KR" altLang="en-US" dirty="0">
                <a:solidFill>
                  <a:schemeClr val="bg1"/>
                </a:solidFill>
                <a:latin typeface="Noto Sans KR Light"/>
                <a:ea typeface="Noto Sans KR Light"/>
                <a:cs typeface="Noto Sans KR Light"/>
                <a:sym typeface="Noto Sans KR Light"/>
              </a:rPr>
              <a:t>연</a:t>
            </a:r>
            <a:endParaRPr dirty="0">
              <a:solidFill>
                <a:schemeClr val="bg1"/>
              </a:solidFill>
              <a:latin typeface="Noto Sans KR Light"/>
              <a:ea typeface="Noto Sans KR Light"/>
              <a:cs typeface="Noto Sans KR Light"/>
              <a:sym typeface="Noto Sans KR Light"/>
            </a:endParaRPr>
          </a:p>
          <a:p>
            <a:pPr lvl="2" algn="l" defTabSz="914400">
              <a:defRPr sz="2800">
                <a:solidFill>
                  <a:srgbClr val="FFFFFF"/>
                </a:solidFill>
                <a:latin typeface="Noto Sans KR Light"/>
                <a:ea typeface="Noto Sans KR Light"/>
                <a:cs typeface="Noto Sans KR Light"/>
                <a:sym typeface="Noto Sans KR Light"/>
              </a:defRPr>
            </a:pPr>
            <a:r>
              <a:rPr dirty="0">
                <a:solidFill>
                  <a:schemeClr val="bg1"/>
                </a:solidFill>
              </a:rPr>
              <a:t>  2.  </a:t>
            </a:r>
            <a:r>
              <a:rPr dirty="0" err="1">
                <a:solidFill>
                  <a:schemeClr val="bg1"/>
                </a:solidFill>
              </a:rPr>
              <a:t>코드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분석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201" name="KakaoTalk_Photo_2023-06-21-15-52-18.png" descr="KakaoTalk_Photo_2023-06-21-15-52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9689" y="11594434"/>
            <a:ext cx="3313733" cy="22294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204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205" name="I.개요 - 팀원 소개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/>
            <a:p>
              <a: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pPr>
              <a:r>
                <a:rPr dirty="0" err="1"/>
                <a:t>I.개요</a:t>
              </a:r>
              <a:r>
                <a:rPr dirty="0"/>
                <a:t> </a:t>
              </a:r>
              <a:r>
                <a:rPr lang="en-US" sz="2800" dirty="0"/>
                <a:t>:</a:t>
              </a:r>
              <a:r>
                <a:rPr sz="2800" dirty="0"/>
                <a:t> </a:t>
              </a:r>
              <a:r>
                <a:rPr sz="2800" dirty="0" err="1"/>
                <a:t>팀원</a:t>
              </a:r>
              <a:r>
                <a:rPr sz="2800" dirty="0"/>
                <a:t> </a:t>
              </a:r>
              <a:r>
                <a:rPr sz="2800" dirty="0" err="1"/>
                <a:t>소개</a:t>
              </a:r>
              <a:endParaRPr sz="2800" dirty="0"/>
            </a:p>
          </p:txBody>
        </p:sp>
      </p:grpSp>
      <p:sp>
        <p:nvSpPr>
          <p:cNvPr id="210" name="개요"/>
          <p:cNvSpPr txBox="1"/>
          <p:nvPr/>
        </p:nvSpPr>
        <p:spPr>
          <a:xfrm>
            <a:off x="18780986" y="-71534"/>
            <a:ext cx="764776" cy="49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algn="l" defTabSz="1828800">
              <a:defRPr sz="2000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endParaRPr dirty="0"/>
          </a:p>
        </p:txBody>
      </p:sp>
      <p:grpSp>
        <p:nvGrpSpPr>
          <p:cNvPr id="214" name="그룹화"/>
          <p:cNvGrpSpPr/>
          <p:nvPr/>
        </p:nvGrpSpPr>
        <p:grpSpPr>
          <a:xfrm>
            <a:off x="-5691084" y="3359308"/>
            <a:ext cx="6772485" cy="2253185"/>
            <a:chOff x="0" y="0"/>
            <a:chExt cx="6772483" cy="2253184"/>
          </a:xfrm>
        </p:grpSpPr>
        <p:sp>
          <p:nvSpPr>
            <p:cNvPr id="211" name="이수경"/>
            <p:cNvSpPr txBox="1"/>
            <p:nvPr/>
          </p:nvSpPr>
          <p:spPr>
            <a:xfrm>
              <a:off x="1833533" y="0"/>
              <a:ext cx="1799575" cy="1032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3600">
                  <a:solidFill>
                    <a:srgbClr val="000000"/>
                  </a:solidFill>
                  <a:latin typeface="Noto Sans KR Black"/>
                  <a:ea typeface="Noto Sans KR Black"/>
                  <a:cs typeface="Noto Sans KR Black"/>
                  <a:sym typeface="Noto Sans KR Black"/>
                </a:defRPr>
              </a:lvl1pPr>
            </a:lstStyle>
            <a:p>
              <a:r>
                <a:rPr dirty="0" err="1"/>
                <a:t>이수경</a:t>
              </a:r>
              <a:endParaRPr dirty="0"/>
            </a:p>
          </p:txBody>
        </p:sp>
        <p:sp>
          <p:nvSpPr>
            <p:cNvPr id="212" name="사각형: 둥근 모서리 86"/>
            <p:cNvSpPr txBox="1"/>
            <p:nvPr/>
          </p:nvSpPr>
          <p:spPr>
            <a:xfrm>
              <a:off x="0" y="1407496"/>
              <a:ext cx="6772484" cy="845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>
              <a:lvl1pPr algn="l" defTabSz="1828800">
                <a:defRPr sz="2800">
                  <a:solidFill>
                    <a:srgbClr val="404040"/>
                  </a:solidFill>
                  <a:latin typeface="Noto Sans KR Light"/>
                  <a:ea typeface="Noto Sans KR Light"/>
                  <a:cs typeface="Noto Sans KR Light"/>
                  <a:sym typeface="Noto Sans KR Light"/>
                </a:defRPr>
              </a:lvl1pPr>
            </a:lstStyle>
            <a:p>
              <a:r>
                <a:t>데이터 수집과 전처리, 모델 생성</a:t>
              </a:r>
            </a:p>
          </p:txBody>
        </p:sp>
        <p:sp>
          <p:nvSpPr>
            <p:cNvPr id="213" name="팀장"/>
            <p:cNvSpPr txBox="1"/>
            <p:nvPr/>
          </p:nvSpPr>
          <p:spPr>
            <a:xfrm>
              <a:off x="2319804" y="963835"/>
              <a:ext cx="827034" cy="6902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2000" b="1">
                  <a:solidFill>
                    <a:srgbClr val="BE6427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팀장</a:t>
              </a:r>
              <a:endParaRPr dirty="0"/>
            </a:p>
          </p:txBody>
        </p:sp>
      </p:grpSp>
      <p:grpSp>
        <p:nvGrpSpPr>
          <p:cNvPr id="222" name="그룹화"/>
          <p:cNvGrpSpPr/>
          <p:nvPr/>
        </p:nvGrpSpPr>
        <p:grpSpPr>
          <a:xfrm>
            <a:off x="8068062" y="15091844"/>
            <a:ext cx="6772484" cy="2253186"/>
            <a:chOff x="0" y="0"/>
            <a:chExt cx="6772483" cy="2253184"/>
          </a:xfrm>
        </p:grpSpPr>
        <p:sp>
          <p:nvSpPr>
            <p:cNvPr id="219" name="박주성"/>
            <p:cNvSpPr txBox="1"/>
            <p:nvPr/>
          </p:nvSpPr>
          <p:spPr>
            <a:xfrm>
              <a:off x="2486621" y="0"/>
              <a:ext cx="1799575" cy="1032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3600">
                  <a:solidFill>
                    <a:srgbClr val="000000"/>
                  </a:solidFill>
                  <a:latin typeface="Noto Sans KR Black"/>
                  <a:ea typeface="Noto Sans KR Black"/>
                  <a:cs typeface="Noto Sans KR Black"/>
                  <a:sym typeface="Noto Sans KR Black"/>
                </a:defRPr>
              </a:lvl1pPr>
            </a:lstStyle>
            <a:p>
              <a:r>
                <a:t>박주성</a:t>
              </a:r>
            </a:p>
          </p:txBody>
        </p:sp>
        <p:sp>
          <p:nvSpPr>
            <p:cNvPr id="220" name="사각형: 둥근 모서리 86"/>
            <p:cNvSpPr txBox="1"/>
            <p:nvPr/>
          </p:nvSpPr>
          <p:spPr>
            <a:xfrm>
              <a:off x="0" y="1407496"/>
              <a:ext cx="6772484" cy="845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>
              <a:lvl1pPr defTabSz="1828800">
                <a:defRPr sz="2800">
                  <a:solidFill>
                    <a:srgbClr val="404040"/>
                  </a:solidFill>
                  <a:latin typeface="Noto Sans KR Light"/>
                  <a:ea typeface="Noto Sans KR Light"/>
                  <a:cs typeface="Noto Sans KR Light"/>
                  <a:sym typeface="Noto Sans KR Light"/>
                </a:defRPr>
              </a:lvl1pPr>
            </a:lstStyle>
            <a:p>
              <a:r>
                <a:rPr dirty="0" err="1"/>
                <a:t>백엔드</a:t>
              </a:r>
              <a:r>
                <a:rPr dirty="0"/>
                <a:t>, </a:t>
              </a:r>
              <a:r>
                <a:rPr dirty="0" err="1"/>
                <a:t>지도</a:t>
              </a:r>
              <a:r>
                <a:rPr dirty="0"/>
                <a:t> API </a:t>
              </a:r>
              <a:r>
                <a:rPr dirty="0" err="1"/>
                <a:t>구현</a:t>
              </a:r>
              <a:endParaRPr dirty="0"/>
            </a:p>
          </p:txBody>
        </p:sp>
        <p:sp>
          <p:nvSpPr>
            <p:cNvPr id="221" name="팀원"/>
            <p:cNvSpPr txBox="1"/>
            <p:nvPr/>
          </p:nvSpPr>
          <p:spPr>
            <a:xfrm>
              <a:off x="2972892" y="963835"/>
              <a:ext cx="827034" cy="6902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2000" b="1">
                  <a:solidFill>
                    <a:srgbClr val="4472C4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팀원</a:t>
              </a:r>
            </a:p>
          </p:txBody>
        </p:sp>
      </p:grpSp>
      <p:grpSp>
        <p:nvGrpSpPr>
          <p:cNvPr id="226" name="그룹화"/>
          <p:cNvGrpSpPr/>
          <p:nvPr/>
        </p:nvGrpSpPr>
        <p:grpSpPr>
          <a:xfrm>
            <a:off x="15777133" y="14860990"/>
            <a:ext cx="6772484" cy="2253185"/>
            <a:chOff x="0" y="0"/>
            <a:chExt cx="6772483" cy="2253184"/>
          </a:xfrm>
        </p:grpSpPr>
        <p:sp>
          <p:nvSpPr>
            <p:cNvPr id="223" name="이기섭"/>
            <p:cNvSpPr txBox="1"/>
            <p:nvPr/>
          </p:nvSpPr>
          <p:spPr>
            <a:xfrm>
              <a:off x="2381934" y="0"/>
              <a:ext cx="1799576" cy="1032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3600">
                  <a:solidFill>
                    <a:srgbClr val="000000"/>
                  </a:solidFill>
                  <a:latin typeface="Noto Sans KR Black"/>
                  <a:ea typeface="Noto Sans KR Black"/>
                  <a:cs typeface="Noto Sans KR Black"/>
                  <a:sym typeface="Noto Sans KR Black"/>
                </a:defRPr>
              </a:lvl1pPr>
            </a:lstStyle>
            <a:p>
              <a:r>
                <a:t>이기섭</a:t>
              </a:r>
            </a:p>
          </p:txBody>
        </p:sp>
        <p:sp>
          <p:nvSpPr>
            <p:cNvPr id="224" name="사각형: 둥근 모서리 86"/>
            <p:cNvSpPr txBox="1"/>
            <p:nvPr/>
          </p:nvSpPr>
          <p:spPr>
            <a:xfrm>
              <a:off x="0" y="1407496"/>
              <a:ext cx="6772484" cy="845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>
              <a:lvl1pPr defTabSz="1828800">
                <a:defRPr sz="2800">
                  <a:solidFill>
                    <a:srgbClr val="404040"/>
                  </a:solidFill>
                  <a:latin typeface="Noto Sans KR Light"/>
                  <a:ea typeface="Noto Sans KR Light"/>
                  <a:cs typeface="Noto Sans KR Light"/>
                  <a:sym typeface="Noto Sans KR Light"/>
                </a:defRPr>
              </a:lvl1pPr>
            </a:lstStyle>
            <a:p>
              <a:r>
                <a:t>데이터 수집과 시각화</a:t>
              </a:r>
            </a:p>
          </p:txBody>
        </p:sp>
        <p:sp>
          <p:nvSpPr>
            <p:cNvPr id="225" name="팀원"/>
            <p:cNvSpPr txBox="1"/>
            <p:nvPr/>
          </p:nvSpPr>
          <p:spPr>
            <a:xfrm>
              <a:off x="2868205" y="963835"/>
              <a:ext cx="827034" cy="6902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2000" b="1">
                  <a:solidFill>
                    <a:srgbClr val="4472C4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팀원</a:t>
              </a:r>
            </a:p>
          </p:txBody>
        </p:sp>
      </p:grpSp>
      <p:grpSp>
        <p:nvGrpSpPr>
          <p:cNvPr id="230" name="그룹화"/>
          <p:cNvGrpSpPr/>
          <p:nvPr/>
        </p:nvGrpSpPr>
        <p:grpSpPr>
          <a:xfrm>
            <a:off x="23544551" y="3782151"/>
            <a:ext cx="6772485" cy="2253186"/>
            <a:chOff x="0" y="0"/>
            <a:chExt cx="6772483" cy="2253184"/>
          </a:xfrm>
        </p:grpSpPr>
        <p:sp>
          <p:nvSpPr>
            <p:cNvPr id="227" name="홍성환"/>
            <p:cNvSpPr txBox="1"/>
            <p:nvPr/>
          </p:nvSpPr>
          <p:spPr>
            <a:xfrm>
              <a:off x="2175539" y="0"/>
              <a:ext cx="1799576" cy="1032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3600">
                  <a:solidFill>
                    <a:srgbClr val="000000"/>
                  </a:solidFill>
                  <a:latin typeface="Noto Sans KR Black"/>
                  <a:ea typeface="Noto Sans KR Black"/>
                  <a:cs typeface="Noto Sans KR Black"/>
                  <a:sym typeface="Noto Sans KR Black"/>
                </a:defRPr>
              </a:lvl1pPr>
            </a:lstStyle>
            <a:p>
              <a:r>
                <a:t>홍성환</a:t>
              </a:r>
            </a:p>
          </p:txBody>
        </p:sp>
        <p:sp>
          <p:nvSpPr>
            <p:cNvPr id="228" name="사각형: 둥근 모서리 86"/>
            <p:cNvSpPr txBox="1"/>
            <p:nvPr/>
          </p:nvSpPr>
          <p:spPr>
            <a:xfrm>
              <a:off x="0" y="1407496"/>
              <a:ext cx="6772484" cy="845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>
              <a:lvl1pPr defTabSz="1828800">
                <a:defRPr sz="2800">
                  <a:solidFill>
                    <a:srgbClr val="404040"/>
                  </a:solidFill>
                  <a:latin typeface="Noto Sans KR Light"/>
                  <a:ea typeface="Noto Sans KR Light"/>
                  <a:cs typeface="Noto Sans KR Light"/>
                  <a:sym typeface="Noto Sans KR Light"/>
                </a:defRPr>
              </a:lvl1pPr>
            </a:lstStyle>
            <a:p>
              <a:r>
                <a:t>데이터 수집과 전처리, 모델 생성</a:t>
              </a:r>
            </a:p>
          </p:txBody>
        </p:sp>
        <p:sp>
          <p:nvSpPr>
            <p:cNvPr id="229" name="팀원"/>
            <p:cNvSpPr txBox="1"/>
            <p:nvPr/>
          </p:nvSpPr>
          <p:spPr>
            <a:xfrm>
              <a:off x="2661810" y="963835"/>
              <a:ext cx="827034" cy="6902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2000" b="1">
                  <a:solidFill>
                    <a:srgbClr val="4472C4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팀원</a:t>
              </a:r>
            </a:p>
          </p:txBody>
        </p:sp>
      </p:grpSp>
      <p:grpSp>
        <p:nvGrpSpPr>
          <p:cNvPr id="2" name="그룹화">
            <a:extLst>
              <a:ext uri="{FF2B5EF4-FFF2-40B4-BE49-F238E27FC236}">
                <a16:creationId xmlns:a16="http://schemas.microsoft.com/office/drawing/2014/main" id="{B2E1CE5A-2E8A-EB44-4BFC-1AE8270EB420}"/>
              </a:ext>
            </a:extLst>
          </p:cNvPr>
          <p:cNvGrpSpPr/>
          <p:nvPr/>
        </p:nvGrpSpPr>
        <p:grpSpPr>
          <a:xfrm>
            <a:off x="-25137" y="14929087"/>
            <a:ext cx="6772485" cy="2253186"/>
            <a:chOff x="0" y="0"/>
            <a:chExt cx="6772484" cy="2253185"/>
          </a:xfrm>
        </p:grpSpPr>
        <p:sp>
          <p:nvSpPr>
            <p:cNvPr id="3" name="박주성">
              <a:extLst>
                <a:ext uri="{FF2B5EF4-FFF2-40B4-BE49-F238E27FC236}">
                  <a16:creationId xmlns:a16="http://schemas.microsoft.com/office/drawing/2014/main" id="{BD52B4B5-1AC5-A5B3-B4E3-5058C6BC401C}"/>
                </a:ext>
              </a:extLst>
            </p:cNvPr>
            <p:cNvSpPr txBox="1"/>
            <p:nvPr/>
          </p:nvSpPr>
          <p:spPr>
            <a:xfrm>
              <a:off x="2486621" y="0"/>
              <a:ext cx="1799575" cy="1032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3600">
                  <a:solidFill>
                    <a:srgbClr val="000000"/>
                  </a:solidFill>
                  <a:latin typeface="Noto Sans KR Black"/>
                  <a:ea typeface="Noto Sans KR Black"/>
                  <a:cs typeface="Noto Sans KR Black"/>
                  <a:sym typeface="Noto Sans KR Black"/>
                </a:defRPr>
              </a:lvl1pPr>
            </a:lstStyle>
            <a:p>
              <a:r>
                <a:rPr lang="ko-KR" altLang="en-US" dirty="0"/>
                <a:t>장영진</a:t>
              </a:r>
            </a:p>
          </p:txBody>
        </p:sp>
        <p:sp>
          <p:nvSpPr>
            <p:cNvPr id="4" name="사각형: 둥근 모서리 86">
              <a:extLst>
                <a:ext uri="{FF2B5EF4-FFF2-40B4-BE49-F238E27FC236}">
                  <a16:creationId xmlns:a16="http://schemas.microsoft.com/office/drawing/2014/main" id="{58DB24A7-CA82-98F2-BA1D-F6981017E595}"/>
                </a:ext>
              </a:extLst>
            </p:cNvPr>
            <p:cNvSpPr txBox="1"/>
            <p:nvPr/>
          </p:nvSpPr>
          <p:spPr>
            <a:xfrm>
              <a:off x="0" y="1407496"/>
              <a:ext cx="6772484" cy="845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>
              <a:lvl1pPr defTabSz="1828800">
                <a:defRPr sz="2800">
                  <a:solidFill>
                    <a:srgbClr val="404040"/>
                  </a:solidFill>
                  <a:latin typeface="Noto Sans KR Light"/>
                  <a:ea typeface="Noto Sans KR Light"/>
                  <a:cs typeface="Noto Sans KR Light"/>
                  <a:sym typeface="Noto Sans KR Light"/>
                </a:defRPr>
              </a:lvl1pPr>
            </a:lstStyle>
            <a:p>
              <a:r>
                <a:rPr lang="ko-KR" altLang="en-US" dirty="0" err="1"/>
                <a:t>프론트엔드</a:t>
              </a:r>
              <a:r>
                <a:rPr lang="en-US" altLang="ko-KR" dirty="0"/>
                <a:t>, AWS</a:t>
              </a:r>
              <a:endParaRPr dirty="0"/>
            </a:p>
          </p:txBody>
        </p:sp>
        <p:sp>
          <p:nvSpPr>
            <p:cNvPr id="5" name="팀원">
              <a:extLst>
                <a:ext uri="{FF2B5EF4-FFF2-40B4-BE49-F238E27FC236}">
                  <a16:creationId xmlns:a16="http://schemas.microsoft.com/office/drawing/2014/main" id="{A1DCDC4C-CCC3-E9C9-4A9E-F872CDE94C6C}"/>
                </a:ext>
              </a:extLst>
            </p:cNvPr>
            <p:cNvSpPr txBox="1"/>
            <p:nvPr/>
          </p:nvSpPr>
          <p:spPr>
            <a:xfrm>
              <a:off x="2829871" y="963836"/>
              <a:ext cx="970055" cy="6902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2000" b="1">
                  <a:solidFill>
                    <a:srgbClr val="4472C4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lang="ko-KR" altLang="en-US" dirty="0" err="1">
                  <a:solidFill>
                    <a:srgbClr val="FF0000"/>
                  </a:solidFill>
                </a:rPr>
                <a:t>부팀장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235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236" name="I.개요 - 팀원 소개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/>
            <a:p>
              <a: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pPr>
              <a:r>
                <a:rPr dirty="0" err="1"/>
                <a:t>I.개요</a:t>
              </a:r>
              <a:r>
                <a:rPr dirty="0"/>
                <a:t> </a:t>
              </a:r>
              <a:r>
                <a:rPr lang="en-US" sz="2800" dirty="0"/>
                <a:t>:</a:t>
              </a:r>
              <a:r>
                <a:rPr sz="2800" dirty="0"/>
                <a:t> </a:t>
              </a:r>
              <a:r>
                <a:rPr sz="2800" dirty="0" err="1"/>
                <a:t>팀원</a:t>
              </a:r>
              <a:r>
                <a:rPr sz="2800" dirty="0"/>
                <a:t> </a:t>
              </a:r>
              <a:r>
                <a:rPr sz="2800" dirty="0" err="1"/>
                <a:t>소개</a:t>
              </a:r>
              <a:endParaRPr sz="2800" dirty="0"/>
            </a:p>
          </p:txBody>
        </p:sp>
      </p:grpSp>
      <p:grpSp>
        <p:nvGrpSpPr>
          <p:cNvPr id="248" name="그룹화"/>
          <p:cNvGrpSpPr/>
          <p:nvPr/>
        </p:nvGrpSpPr>
        <p:grpSpPr>
          <a:xfrm>
            <a:off x="4718840" y="3407012"/>
            <a:ext cx="6772484" cy="2253185"/>
            <a:chOff x="0" y="0"/>
            <a:chExt cx="6772483" cy="2253184"/>
          </a:xfrm>
        </p:grpSpPr>
        <p:sp>
          <p:nvSpPr>
            <p:cNvPr id="245" name="이수경"/>
            <p:cNvSpPr txBox="1"/>
            <p:nvPr/>
          </p:nvSpPr>
          <p:spPr>
            <a:xfrm>
              <a:off x="1833533" y="0"/>
              <a:ext cx="1799575" cy="1032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3600">
                  <a:solidFill>
                    <a:srgbClr val="000000"/>
                  </a:solidFill>
                  <a:latin typeface="Noto Sans KR Black"/>
                  <a:ea typeface="Noto Sans KR Black"/>
                  <a:cs typeface="Noto Sans KR Black"/>
                  <a:sym typeface="Noto Sans KR Black"/>
                </a:defRPr>
              </a:lvl1pPr>
            </a:lstStyle>
            <a:p>
              <a:r>
                <a:rPr dirty="0" err="1"/>
                <a:t>이수경</a:t>
              </a:r>
              <a:endParaRPr dirty="0"/>
            </a:p>
          </p:txBody>
        </p:sp>
        <p:sp>
          <p:nvSpPr>
            <p:cNvPr id="246" name="사각형: 둥근 모서리 86"/>
            <p:cNvSpPr txBox="1"/>
            <p:nvPr/>
          </p:nvSpPr>
          <p:spPr>
            <a:xfrm>
              <a:off x="0" y="1407496"/>
              <a:ext cx="6772484" cy="845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>
              <a:lvl1pPr algn="l" defTabSz="1828800">
                <a:defRPr sz="2800">
                  <a:solidFill>
                    <a:srgbClr val="404040"/>
                  </a:solidFill>
                  <a:latin typeface="Noto Sans KR Light"/>
                  <a:ea typeface="Noto Sans KR Light"/>
                  <a:cs typeface="Noto Sans KR Light"/>
                  <a:sym typeface="Noto Sans KR Light"/>
                </a:defRPr>
              </a:lvl1pPr>
            </a:lstStyle>
            <a:p>
              <a:r>
                <a:t>데이터 수집과 전처리, 모델 생성</a:t>
              </a:r>
            </a:p>
          </p:txBody>
        </p:sp>
        <p:sp>
          <p:nvSpPr>
            <p:cNvPr id="247" name="팀장"/>
            <p:cNvSpPr txBox="1"/>
            <p:nvPr/>
          </p:nvSpPr>
          <p:spPr>
            <a:xfrm>
              <a:off x="2319804" y="963835"/>
              <a:ext cx="827034" cy="6902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2000" b="1">
                  <a:solidFill>
                    <a:srgbClr val="BE6427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팀장</a:t>
              </a:r>
            </a:p>
          </p:txBody>
        </p:sp>
      </p:grpSp>
      <p:grpSp>
        <p:nvGrpSpPr>
          <p:cNvPr id="256" name="그룹화"/>
          <p:cNvGrpSpPr/>
          <p:nvPr/>
        </p:nvGrpSpPr>
        <p:grpSpPr>
          <a:xfrm>
            <a:off x="8270060" y="8050776"/>
            <a:ext cx="6772484" cy="2253185"/>
            <a:chOff x="0" y="0"/>
            <a:chExt cx="6772483" cy="2253184"/>
          </a:xfrm>
        </p:grpSpPr>
        <p:sp>
          <p:nvSpPr>
            <p:cNvPr id="253" name="박주성"/>
            <p:cNvSpPr txBox="1"/>
            <p:nvPr/>
          </p:nvSpPr>
          <p:spPr>
            <a:xfrm>
              <a:off x="2486621" y="0"/>
              <a:ext cx="1799575" cy="1032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3600">
                  <a:solidFill>
                    <a:srgbClr val="000000"/>
                  </a:solidFill>
                  <a:latin typeface="Noto Sans KR Black"/>
                  <a:ea typeface="Noto Sans KR Black"/>
                  <a:cs typeface="Noto Sans KR Black"/>
                  <a:sym typeface="Noto Sans KR Black"/>
                </a:defRPr>
              </a:lvl1pPr>
            </a:lstStyle>
            <a:p>
              <a:r>
                <a:t>박주성</a:t>
              </a:r>
            </a:p>
          </p:txBody>
        </p:sp>
        <p:sp>
          <p:nvSpPr>
            <p:cNvPr id="254" name="사각형: 둥근 모서리 86"/>
            <p:cNvSpPr txBox="1"/>
            <p:nvPr/>
          </p:nvSpPr>
          <p:spPr>
            <a:xfrm>
              <a:off x="0" y="1407496"/>
              <a:ext cx="6772484" cy="845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>
              <a:lvl1pPr defTabSz="1828800">
                <a:defRPr sz="2800">
                  <a:solidFill>
                    <a:srgbClr val="404040"/>
                  </a:solidFill>
                  <a:latin typeface="Noto Sans KR Light"/>
                  <a:ea typeface="Noto Sans KR Light"/>
                  <a:cs typeface="Noto Sans KR Light"/>
                  <a:sym typeface="Noto Sans KR Light"/>
                </a:defRPr>
              </a:lvl1pPr>
            </a:lstStyle>
            <a:p>
              <a:r>
                <a:t>백엔드, 지도 API 구현</a:t>
              </a:r>
            </a:p>
          </p:txBody>
        </p:sp>
        <p:sp>
          <p:nvSpPr>
            <p:cNvPr id="255" name="팀원"/>
            <p:cNvSpPr txBox="1"/>
            <p:nvPr/>
          </p:nvSpPr>
          <p:spPr>
            <a:xfrm>
              <a:off x="2972892" y="963835"/>
              <a:ext cx="827034" cy="6902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2000" b="1">
                  <a:solidFill>
                    <a:srgbClr val="4472C4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팀원</a:t>
              </a:r>
            </a:p>
          </p:txBody>
        </p:sp>
      </p:grpSp>
      <p:grpSp>
        <p:nvGrpSpPr>
          <p:cNvPr id="260" name="그룹화"/>
          <p:cNvGrpSpPr/>
          <p:nvPr/>
        </p:nvGrpSpPr>
        <p:grpSpPr>
          <a:xfrm>
            <a:off x="15699249" y="8050776"/>
            <a:ext cx="6772484" cy="2253185"/>
            <a:chOff x="0" y="0"/>
            <a:chExt cx="6772483" cy="2253184"/>
          </a:xfrm>
        </p:grpSpPr>
        <p:sp>
          <p:nvSpPr>
            <p:cNvPr id="257" name="이기섭"/>
            <p:cNvSpPr txBox="1"/>
            <p:nvPr/>
          </p:nvSpPr>
          <p:spPr>
            <a:xfrm>
              <a:off x="2381934" y="0"/>
              <a:ext cx="1799576" cy="1032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3600">
                  <a:solidFill>
                    <a:srgbClr val="000000"/>
                  </a:solidFill>
                  <a:latin typeface="Noto Sans KR Black"/>
                  <a:ea typeface="Noto Sans KR Black"/>
                  <a:cs typeface="Noto Sans KR Black"/>
                  <a:sym typeface="Noto Sans KR Black"/>
                </a:defRPr>
              </a:lvl1pPr>
            </a:lstStyle>
            <a:p>
              <a:r>
                <a:rPr dirty="0" err="1"/>
                <a:t>이기섭</a:t>
              </a:r>
              <a:endParaRPr dirty="0"/>
            </a:p>
          </p:txBody>
        </p:sp>
        <p:sp>
          <p:nvSpPr>
            <p:cNvPr id="258" name="사각형: 둥근 모서리 86"/>
            <p:cNvSpPr txBox="1"/>
            <p:nvPr/>
          </p:nvSpPr>
          <p:spPr>
            <a:xfrm>
              <a:off x="0" y="1407496"/>
              <a:ext cx="6772484" cy="845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>
              <a:lvl1pPr defTabSz="1828800">
                <a:defRPr sz="2800">
                  <a:solidFill>
                    <a:srgbClr val="404040"/>
                  </a:solidFill>
                  <a:latin typeface="Noto Sans KR Light"/>
                  <a:ea typeface="Noto Sans KR Light"/>
                  <a:cs typeface="Noto Sans KR Light"/>
                  <a:sym typeface="Noto Sans KR Light"/>
                </a:defRPr>
              </a:lvl1pPr>
            </a:lstStyle>
            <a:p>
              <a:r>
                <a:t>데이터 수집과 시각화</a:t>
              </a:r>
            </a:p>
          </p:txBody>
        </p:sp>
        <p:sp>
          <p:nvSpPr>
            <p:cNvPr id="259" name="팀원"/>
            <p:cNvSpPr txBox="1"/>
            <p:nvPr/>
          </p:nvSpPr>
          <p:spPr>
            <a:xfrm>
              <a:off x="2868205" y="963835"/>
              <a:ext cx="827034" cy="6902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2000" b="1">
                  <a:solidFill>
                    <a:srgbClr val="4472C4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팀원</a:t>
              </a:r>
            </a:p>
          </p:txBody>
        </p:sp>
      </p:grpSp>
      <p:grpSp>
        <p:nvGrpSpPr>
          <p:cNvPr id="264" name="그룹화"/>
          <p:cNvGrpSpPr/>
          <p:nvPr/>
        </p:nvGrpSpPr>
        <p:grpSpPr>
          <a:xfrm>
            <a:off x="12723237" y="3407012"/>
            <a:ext cx="6772484" cy="2253185"/>
            <a:chOff x="0" y="0"/>
            <a:chExt cx="6772483" cy="2253184"/>
          </a:xfrm>
        </p:grpSpPr>
        <p:sp>
          <p:nvSpPr>
            <p:cNvPr id="261" name="홍성환"/>
            <p:cNvSpPr txBox="1"/>
            <p:nvPr/>
          </p:nvSpPr>
          <p:spPr>
            <a:xfrm>
              <a:off x="2175539" y="0"/>
              <a:ext cx="1799576" cy="1032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3600">
                  <a:solidFill>
                    <a:srgbClr val="000000"/>
                  </a:solidFill>
                  <a:latin typeface="Noto Sans KR Black"/>
                  <a:ea typeface="Noto Sans KR Black"/>
                  <a:cs typeface="Noto Sans KR Black"/>
                  <a:sym typeface="Noto Sans KR Black"/>
                </a:defRPr>
              </a:lvl1pPr>
            </a:lstStyle>
            <a:p>
              <a:r>
                <a:t>홍성환</a:t>
              </a:r>
            </a:p>
          </p:txBody>
        </p:sp>
        <p:sp>
          <p:nvSpPr>
            <p:cNvPr id="262" name="사각형: 둥근 모서리 86"/>
            <p:cNvSpPr txBox="1"/>
            <p:nvPr/>
          </p:nvSpPr>
          <p:spPr>
            <a:xfrm>
              <a:off x="0" y="1407496"/>
              <a:ext cx="6772484" cy="845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>
              <a:lvl1pPr defTabSz="1828800">
                <a:defRPr sz="2800">
                  <a:solidFill>
                    <a:srgbClr val="404040"/>
                  </a:solidFill>
                  <a:latin typeface="Noto Sans KR Light"/>
                  <a:ea typeface="Noto Sans KR Light"/>
                  <a:cs typeface="Noto Sans KR Light"/>
                  <a:sym typeface="Noto Sans KR Light"/>
                </a:defRPr>
              </a:lvl1pPr>
            </a:lstStyle>
            <a:p>
              <a:r>
                <a:t>데이터 수집과 전처리, 모델 생성</a:t>
              </a:r>
            </a:p>
          </p:txBody>
        </p:sp>
        <p:sp>
          <p:nvSpPr>
            <p:cNvPr id="263" name="팀원"/>
            <p:cNvSpPr txBox="1"/>
            <p:nvPr/>
          </p:nvSpPr>
          <p:spPr>
            <a:xfrm>
              <a:off x="2661810" y="963835"/>
              <a:ext cx="827034" cy="6902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2000" b="1">
                  <a:solidFill>
                    <a:srgbClr val="4472C4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팀원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EDF51CB-F8BC-544E-F3EF-97E715AEB7A4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9FC37B8-A9E3-1BD8-3F41-8186EF3AEE93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64A4AD0-B1FF-E504-EB91-8F34BF5162C1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6B5B0C9-98C7-9A26-E2F7-27E40B99D0A5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E814635-9A0F-F971-BC94-C338F8AAD370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2" name="그룹화">
            <a:extLst>
              <a:ext uri="{FF2B5EF4-FFF2-40B4-BE49-F238E27FC236}">
                <a16:creationId xmlns:a16="http://schemas.microsoft.com/office/drawing/2014/main" id="{9EB127EA-2896-FC72-DC9F-77FDB337E66E}"/>
              </a:ext>
            </a:extLst>
          </p:cNvPr>
          <p:cNvGrpSpPr/>
          <p:nvPr/>
        </p:nvGrpSpPr>
        <p:grpSpPr>
          <a:xfrm>
            <a:off x="806114" y="8050776"/>
            <a:ext cx="6772485" cy="2253186"/>
            <a:chOff x="0" y="0"/>
            <a:chExt cx="6772484" cy="2253185"/>
          </a:xfrm>
        </p:grpSpPr>
        <p:sp>
          <p:nvSpPr>
            <p:cNvPr id="3" name="박주성">
              <a:extLst>
                <a:ext uri="{FF2B5EF4-FFF2-40B4-BE49-F238E27FC236}">
                  <a16:creationId xmlns:a16="http://schemas.microsoft.com/office/drawing/2014/main" id="{8CE19230-33D6-0D9D-1824-056DB5E89052}"/>
                </a:ext>
              </a:extLst>
            </p:cNvPr>
            <p:cNvSpPr txBox="1"/>
            <p:nvPr/>
          </p:nvSpPr>
          <p:spPr>
            <a:xfrm>
              <a:off x="2486621" y="0"/>
              <a:ext cx="1799575" cy="1032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3600">
                  <a:solidFill>
                    <a:srgbClr val="000000"/>
                  </a:solidFill>
                  <a:latin typeface="Noto Sans KR Black"/>
                  <a:ea typeface="Noto Sans KR Black"/>
                  <a:cs typeface="Noto Sans KR Black"/>
                  <a:sym typeface="Noto Sans KR Black"/>
                </a:defRPr>
              </a:lvl1pPr>
            </a:lstStyle>
            <a:p>
              <a:r>
                <a:rPr lang="ko-KR" altLang="en-US" dirty="0"/>
                <a:t>장영진</a:t>
              </a:r>
            </a:p>
          </p:txBody>
        </p:sp>
        <p:sp>
          <p:nvSpPr>
            <p:cNvPr id="4" name="사각형: 둥근 모서리 86">
              <a:extLst>
                <a:ext uri="{FF2B5EF4-FFF2-40B4-BE49-F238E27FC236}">
                  <a16:creationId xmlns:a16="http://schemas.microsoft.com/office/drawing/2014/main" id="{ED599B6D-F4AB-8BB6-D93F-AED3EF30F7A7}"/>
                </a:ext>
              </a:extLst>
            </p:cNvPr>
            <p:cNvSpPr txBox="1"/>
            <p:nvPr/>
          </p:nvSpPr>
          <p:spPr>
            <a:xfrm>
              <a:off x="0" y="1407496"/>
              <a:ext cx="6772484" cy="845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>
              <a:lvl1pPr defTabSz="1828800">
                <a:defRPr sz="2800">
                  <a:solidFill>
                    <a:srgbClr val="404040"/>
                  </a:solidFill>
                  <a:latin typeface="Noto Sans KR Light"/>
                  <a:ea typeface="Noto Sans KR Light"/>
                  <a:cs typeface="Noto Sans KR Light"/>
                  <a:sym typeface="Noto Sans KR Light"/>
                </a:defRPr>
              </a:lvl1pPr>
            </a:lstStyle>
            <a:p>
              <a:r>
                <a:rPr lang="ko-KR" altLang="en-US" dirty="0" err="1"/>
                <a:t>프론트엔드</a:t>
              </a:r>
              <a:r>
                <a:rPr lang="en-US" altLang="ko-KR" dirty="0"/>
                <a:t>, AWS</a:t>
              </a:r>
              <a:endParaRPr dirty="0"/>
            </a:p>
          </p:txBody>
        </p:sp>
        <p:sp>
          <p:nvSpPr>
            <p:cNvPr id="5" name="팀원">
              <a:extLst>
                <a:ext uri="{FF2B5EF4-FFF2-40B4-BE49-F238E27FC236}">
                  <a16:creationId xmlns:a16="http://schemas.microsoft.com/office/drawing/2014/main" id="{76494DDC-2E79-A307-86EC-BE41D0AA1547}"/>
                </a:ext>
              </a:extLst>
            </p:cNvPr>
            <p:cNvSpPr txBox="1"/>
            <p:nvPr/>
          </p:nvSpPr>
          <p:spPr>
            <a:xfrm>
              <a:off x="2829871" y="963836"/>
              <a:ext cx="970055" cy="6902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sz="2000" b="1">
                  <a:solidFill>
                    <a:srgbClr val="4472C4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lang="ko-KR" altLang="en-US" dirty="0" err="1">
                  <a:solidFill>
                    <a:srgbClr val="FF0000"/>
                  </a:solidFill>
                </a:rPr>
                <a:t>부팀장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사각형: 둥근 모서리 10"/>
          <p:cNvGrpSpPr/>
          <p:nvPr/>
        </p:nvGrpSpPr>
        <p:grpSpPr>
          <a:xfrm>
            <a:off x="348407" y="284066"/>
            <a:ext cx="22803973" cy="919481"/>
            <a:chOff x="0" y="-15988"/>
            <a:chExt cx="22803972" cy="919480"/>
          </a:xfrm>
        </p:grpSpPr>
        <p:sp>
          <p:nvSpPr>
            <p:cNvPr id="266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267" name="I.주제선정배경"/>
            <p:cNvSpPr txBox="1"/>
            <p:nvPr/>
          </p:nvSpPr>
          <p:spPr>
            <a:xfrm>
              <a:off x="221410" y="-15989"/>
              <a:ext cx="22361152" cy="9194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40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I.주제선정배경</a:t>
              </a:r>
            </a:p>
          </p:txBody>
        </p:sp>
      </p:grpSp>
      <p:pic>
        <p:nvPicPr>
          <p:cNvPr id="269" name="스크린샷 2023-06-17 오후 12.54.06.png" descr="스크린샷 2023-06-17 오후 12.54.06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2984" y="2345944"/>
            <a:ext cx="13921691" cy="6775615"/>
          </a:xfrm>
          <a:prstGeom prst="rect">
            <a:avLst/>
          </a:prstGeom>
          <a:ln w="25400">
            <a:miter lim="400000"/>
          </a:ln>
          <a:effectLst>
            <a:reflection stA="50000" endPos="40000" dir="5400000" sy="-100000" algn="bl" rotWithShape="0"/>
          </a:effectLst>
        </p:spPr>
      </p:pic>
      <p:pic>
        <p:nvPicPr>
          <p:cNvPr id="270" name="스크린샷 2023-06-17 오후 12.54.36.png" descr="스크린샷 2023-06-17 오후 12.54.36.png"/>
          <p:cNvPicPr>
            <a:picLocks noChangeAspect="1"/>
          </p:cNvPicPr>
          <p:nvPr/>
        </p:nvPicPr>
        <p:blipFill>
          <a:blip r:embed="rId3"/>
          <a:srcRect l="14006" t="15958" r="3281" b="1329"/>
          <a:stretch>
            <a:fillRect/>
          </a:stretch>
        </p:blipFill>
        <p:spPr>
          <a:xfrm>
            <a:off x="10420271" y="2336023"/>
            <a:ext cx="13504118" cy="6591070"/>
          </a:xfrm>
          <a:prstGeom prst="rect">
            <a:avLst/>
          </a:prstGeom>
          <a:ln w="25400">
            <a:miter lim="400000"/>
          </a:ln>
          <a:effectLst>
            <a:reflection stA="50000" endPos="40000" dir="5400000" sy="-100000" algn="bl" rotWithShape="0"/>
          </a:effectLst>
        </p:spPr>
      </p:pic>
      <p:grpSp>
        <p:nvGrpSpPr>
          <p:cNvPr id="273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271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272" name="I.개요 - 주제 선정 배경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/>
            <a:p>
              <a: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pPr>
              <a:r>
                <a:rPr dirty="0" err="1"/>
                <a:t>I.개요</a:t>
              </a:r>
              <a:r>
                <a:rPr dirty="0"/>
                <a:t> </a:t>
              </a:r>
              <a:r>
                <a:rPr lang="en-US" sz="2800" dirty="0"/>
                <a:t>:</a:t>
              </a:r>
              <a:r>
                <a:rPr sz="2800" dirty="0"/>
                <a:t> </a:t>
              </a:r>
              <a:r>
                <a:rPr sz="2800" dirty="0" err="1"/>
                <a:t>주제</a:t>
              </a:r>
              <a:r>
                <a:rPr sz="2800" dirty="0"/>
                <a:t> </a:t>
              </a:r>
              <a:r>
                <a:rPr sz="2800" dirty="0" err="1"/>
                <a:t>선정</a:t>
              </a:r>
              <a:r>
                <a:rPr sz="2800" dirty="0"/>
                <a:t> </a:t>
              </a:r>
              <a:r>
                <a:rPr sz="2800" dirty="0" err="1"/>
                <a:t>배경</a:t>
              </a:r>
              <a:endParaRPr sz="2800" dirty="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B9223D6-7136-B90E-8D6C-5D425AC87517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3A8D1D71-DC34-311D-0CB1-FABFB3A98579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543AAED9-3F86-F94C-7295-88001906374C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8A1C7292-7E40-752A-8357-EAE8010E6435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DDDE97A0-4E12-B0A2-3E4C-62F2FA98A5DF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사각형: 둥근 모서리 10"/>
          <p:cNvGrpSpPr/>
          <p:nvPr/>
        </p:nvGrpSpPr>
        <p:grpSpPr>
          <a:xfrm>
            <a:off x="348407" y="284066"/>
            <a:ext cx="22803973" cy="919481"/>
            <a:chOff x="0" y="-15988"/>
            <a:chExt cx="22803972" cy="919480"/>
          </a:xfrm>
        </p:grpSpPr>
        <p:sp>
          <p:nvSpPr>
            <p:cNvPr id="283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284" name="I.주제선정배경"/>
            <p:cNvSpPr txBox="1"/>
            <p:nvPr/>
          </p:nvSpPr>
          <p:spPr>
            <a:xfrm>
              <a:off x="221410" y="-15989"/>
              <a:ext cx="22361152" cy="9194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40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I.주제선정배경</a:t>
              </a:r>
            </a:p>
          </p:txBody>
        </p:sp>
      </p:grpSp>
      <p:grpSp>
        <p:nvGrpSpPr>
          <p:cNvPr id="288" name="그룹화"/>
          <p:cNvGrpSpPr/>
          <p:nvPr/>
        </p:nvGrpSpPr>
        <p:grpSpPr>
          <a:xfrm>
            <a:off x="972984" y="2336022"/>
            <a:ext cx="22951406" cy="6785537"/>
            <a:chOff x="0" y="0"/>
            <a:chExt cx="22951404" cy="6785535"/>
          </a:xfrm>
        </p:grpSpPr>
        <p:pic>
          <p:nvPicPr>
            <p:cNvPr id="286" name="스크린샷 2023-06-17 오후 12.54.06.png" descr="스크린샷 2023-06-17 오후 12.54.06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9921"/>
              <a:ext cx="13921690" cy="6775615"/>
            </a:xfrm>
            <a:prstGeom prst="rect">
              <a:avLst/>
            </a:prstGeom>
            <a:ln w="25400" cap="flat">
              <a:noFill/>
              <a:miter lim="400000"/>
            </a:ln>
            <a:effectLst>
              <a:reflection stA="50000" endPos="40000" dir="5400000" sy="-100000" algn="bl" rotWithShape="0"/>
            </a:effectLst>
          </p:spPr>
        </p:pic>
        <p:pic>
          <p:nvPicPr>
            <p:cNvPr id="287" name="스크린샷 2023-06-17 오후 12.54.36.png" descr="스크린샷 2023-06-17 오후 12.54.36.png"/>
            <p:cNvPicPr>
              <a:picLocks noChangeAspect="1"/>
            </p:cNvPicPr>
            <p:nvPr/>
          </p:nvPicPr>
          <p:blipFill>
            <a:blip r:embed="rId3"/>
            <a:srcRect l="14006" t="15958" r="3281" b="1329"/>
            <a:stretch>
              <a:fillRect/>
            </a:stretch>
          </p:blipFill>
          <p:spPr>
            <a:xfrm>
              <a:off x="9447287" y="0"/>
              <a:ext cx="13504118" cy="6591070"/>
            </a:xfrm>
            <a:prstGeom prst="rect">
              <a:avLst/>
            </a:prstGeom>
            <a:ln w="25400" cap="flat">
              <a:noFill/>
              <a:miter lim="400000"/>
            </a:ln>
            <a:effectLst>
              <a:reflection stA="50000" endPos="40000" dir="5400000" sy="-100000" algn="bl" rotWithShape="0"/>
            </a:effectLst>
          </p:spPr>
        </p:pic>
      </p:grpSp>
      <p:grpSp>
        <p:nvGrpSpPr>
          <p:cNvPr id="291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289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290" name="I.개요 - 주제 선정 배경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/>
            <a:p>
              <a: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pPr>
              <a:r>
                <a:rPr dirty="0" err="1"/>
                <a:t>I.개요</a:t>
              </a:r>
              <a:r>
                <a:rPr dirty="0"/>
                <a:t> </a:t>
              </a:r>
              <a:r>
                <a:rPr lang="en-US" sz="2800" dirty="0"/>
                <a:t>:</a:t>
              </a:r>
              <a:r>
                <a:rPr sz="2800" dirty="0"/>
                <a:t> </a:t>
              </a:r>
              <a:r>
                <a:rPr sz="2800" dirty="0" err="1"/>
                <a:t>주제</a:t>
              </a:r>
              <a:r>
                <a:rPr sz="2800" dirty="0"/>
                <a:t> </a:t>
              </a:r>
              <a:r>
                <a:rPr sz="2800" dirty="0" err="1"/>
                <a:t>선정</a:t>
              </a:r>
              <a:r>
                <a:rPr sz="2800" dirty="0"/>
                <a:t> </a:t>
              </a:r>
              <a:r>
                <a:rPr sz="2800" dirty="0" err="1"/>
                <a:t>배경</a:t>
              </a:r>
              <a:endParaRPr sz="2800" dirty="0"/>
            </a:p>
          </p:txBody>
        </p:sp>
      </p:grpSp>
      <p:sp>
        <p:nvSpPr>
          <p:cNvPr id="296" name="기존 사이트에서는 제한된 검색만 제공"/>
          <p:cNvSpPr txBox="1"/>
          <p:nvPr/>
        </p:nvSpPr>
        <p:spPr>
          <a:xfrm>
            <a:off x="6080302" y="4981433"/>
            <a:ext cx="13504070" cy="1287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algn="l" defTabSz="1828800">
              <a:defRPr sz="6000">
                <a:solidFill>
                  <a:srgbClr val="EBEBEB"/>
                </a:solidFill>
                <a:latin typeface="Noto Sans KR Black"/>
                <a:ea typeface="Noto Sans KR Black"/>
                <a:cs typeface="Noto Sans KR Black"/>
                <a:sym typeface="Noto Sans KR Black"/>
              </a:defRPr>
            </a:lvl1pPr>
          </a:lstStyle>
          <a:p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사이트에서는</a:t>
            </a:r>
            <a:r>
              <a:rPr dirty="0"/>
              <a:t> </a:t>
            </a:r>
            <a:r>
              <a:rPr dirty="0" err="1"/>
              <a:t>제한된</a:t>
            </a:r>
            <a:r>
              <a:rPr dirty="0"/>
              <a:t> </a:t>
            </a:r>
            <a:r>
              <a:rPr dirty="0" err="1"/>
              <a:t>검색만</a:t>
            </a:r>
            <a:r>
              <a:rPr dirty="0"/>
              <a:t> </a:t>
            </a:r>
            <a:r>
              <a:rPr dirty="0" err="1"/>
              <a:t>제공</a:t>
            </a:r>
            <a:endParaRPr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133A965-6941-4736-7901-11A62282E0E2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4E3EC760-AB83-90CF-5F92-F0EE8164C1F3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A7D4652B-B3AB-8502-98C2-17AD9814E8E6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38D53B01-BE75-DDB4-C248-CD89F66D2D10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25CE7D83-9192-3677-604F-24C4B26CFBE8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그룹화"/>
          <p:cNvGrpSpPr/>
          <p:nvPr/>
        </p:nvGrpSpPr>
        <p:grpSpPr>
          <a:xfrm>
            <a:off x="6898118" y="1614649"/>
            <a:ext cx="10587766" cy="8440675"/>
            <a:chOff x="0" y="-1"/>
            <a:chExt cx="10587764" cy="8440674"/>
          </a:xfrm>
        </p:grpSpPr>
        <p:sp>
          <p:nvSpPr>
            <p:cNvPr id="302" name="직사각형 4"/>
            <p:cNvSpPr/>
            <p:nvPr/>
          </p:nvSpPr>
          <p:spPr>
            <a:xfrm>
              <a:off x="0" y="7719430"/>
              <a:ext cx="10093963" cy="283079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303" name="직사각형 7"/>
            <p:cNvSpPr/>
            <p:nvPr/>
          </p:nvSpPr>
          <p:spPr>
            <a:xfrm>
              <a:off x="9957576" y="3832897"/>
              <a:ext cx="218844" cy="3942513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304" name="직사각형 8"/>
            <p:cNvSpPr/>
            <p:nvPr/>
          </p:nvSpPr>
          <p:spPr>
            <a:xfrm>
              <a:off x="3622888" y="113606"/>
              <a:ext cx="417963" cy="7661804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305" name="직사각형 9"/>
            <p:cNvSpPr/>
            <p:nvPr/>
          </p:nvSpPr>
          <p:spPr>
            <a:xfrm>
              <a:off x="1101309" y="5693525"/>
              <a:ext cx="3395594" cy="270476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306" name="직사각형 10"/>
            <p:cNvSpPr/>
            <p:nvPr/>
          </p:nvSpPr>
          <p:spPr>
            <a:xfrm>
              <a:off x="2522795" y="3802968"/>
              <a:ext cx="2955747" cy="252988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307" name="직사각형 11"/>
            <p:cNvSpPr/>
            <p:nvPr/>
          </p:nvSpPr>
          <p:spPr>
            <a:xfrm>
              <a:off x="5261564" y="3802968"/>
              <a:ext cx="325828" cy="3942513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308" name="직사각형 12"/>
            <p:cNvSpPr/>
            <p:nvPr/>
          </p:nvSpPr>
          <p:spPr>
            <a:xfrm rot="1821244">
              <a:off x="4309990" y="5979836"/>
              <a:ext cx="1194767" cy="227238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309" name="직사각형 13"/>
            <p:cNvSpPr/>
            <p:nvPr/>
          </p:nvSpPr>
          <p:spPr>
            <a:xfrm>
              <a:off x="2476124" y="3802965"/>
              <a:ext cx="325828" cy="3942520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310" name="직사각형 14"/>
            <p:cNvSpPr/>
            <p:nvPr/>
          </p:nvSpPr>
          <p:spPr>
            <a:xfrm>
              <a:off x="1096019" y="3107831"/>
              <a:ext cx="218843" cy="482743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grpSp>
          <p:nvGrpSpPr>
            <p:cNvPr id="313" name="타원 15"/>
            <p:cNvGrpSpPr/>
            <p:nvPr/>
          </p:nvGrpSpPr>
          <p:grpSpPr>
            <a:xfrm>
              <a:off x="3283367" y="-1"/>
              <a:ext cx="1097007" cy="1097008"/>
              <a:chOff x="0" y="0"/>
              <a:chExt cx="1097006" cy="1097006"/>
            </a:xfrm>
          </p:grpSpPr>
          <p:sp>
            <p:nvSpPr>
              <p:cNvPr id="311" name="원"/>
              <p:cNvSpPr/>
              <p:nvPr/>
            </p:nvSpPr>
            <p:spPr>
              <a:xfrm>
                <a:off x="-1" y="-1"/>
                <a:ext cx="1097008" cy="1097008"/>
              </a:xfrm>
              <a:prstGeom prst="ellipse">
                <a:avLst/>
              </a:prstGeom>
              <a:solidFill>
                <a:srgbClr val="ED7D31"/>
              </a:solidFill>
              <a:ln w="25400" cap="flat">
                <a:solidFill>
                  <a:srgbClr val="AD5B24"/>
                </a:solidFill>
                <a:prstDash val="solid"/>
                <a:miter lim="8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algn="l" defTabSz="1828800">
                  <a:defRPr sz="3600">
                    <a:solidFill>
                      <a:srgbClr val="FFFFFF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312" name="3"/>
              <p:cNvSpPr txBox="1"/>
              <p:nvPr/>
            </p:nvSpPr>
            <p:spPr>
              <a:xfrm>
                <a:off x="293355" y="10321"/>
                <a:ext cx="510296" cy="10763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91439" tIns="91439" rIns="91439" bIns="91439" numCol="1" anchor="ctr">
                <a:noAutofit/>
              </a:bodyPr>
              <a:lstStyle>
                <a:lvl1pPr defTabSz="1828800">
                  <a:defRPr sz="3600">
                    <a:solidFill>
                      <a:srgbClr val="FFFFFF"/>
                    </a:solidFill>
                    <a:latin typeface="a아띠"/>
                    <a:ea typeface="a아띠"/>
                    <a:cs typeface="a아띠"/>
                    <a:sym typeface="a아띠"/>
                  </a:defRPr>
                </a:lvl1pPr>
              </a:lstStyle>
              <a:p>
                <a:r>
                  <a:t>3</a:t>
                </a:r>
              </a:p>
            </p:txBody>
          </p:sp>
        </p:grpSp>
        <p:sp>
          <p:nvSpPr>
            <p:cNvPr id="314" name="타원 22"/>
            <p:cNvSpPr/>
            <p:nvPr/>
          </p:nvSpPr>
          <p:spPr>
            <a:xfrm>
              <a:off x="3013606" y="3172910"/>
              <a:ext cx="426587" cy="426587"/>
            </a:xfrm>
            <a:prstGeom prst="ellipse">
              <a:avLst/>
            </a:prstGeom>
            <a:solidFill>
              <a:srgbClr val="FF505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315" name="TextBox 25"/>
            <p:cNvSpPr txBox="1"/>
            <p:nvPr/>
          </p:nvSpPr>
          <p:spPr>
            <a:xfrm>
              <a:off x="4064246" y="4400790"/>
              <a:ext cx="1965471" cy="7814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1828800">
                <a:defRPr b="1">
                  <a:solidFill>
                    <a:srgbClr val="404040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lvl1pPr>
            </a:lstStyle>
            <a:p>
              <a:r>
                <a:t>스타벅스</a:t>
              </a:r>
            </a:p>
          </p:txBody>
        </p:sp>
        <p:sp>
          <p:nvSpPr>
            <p:cNvPr id="316" name="TextBox 26"/>
            <p:cNvSpPr txBox="1"/>
            <p:nvPr/>
          </p:nvSpPr>
          <p:spPr>
            <a:xfrm>
              <a:off x="1816371" y="5997738"/>
              <a:ext cx="1965471" cy="7814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defTabSz="1828800">
                <a:defRPr b="1">
                  <a:solidFill>
                    <a:srgbClr val="404040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lvl1pPr>
            </a:lstStyle>
            <a:p>
              <a:r>
                <a:t>체육시설</a:t>
              </a:r>
            </a:p>
          </p:txBody>
        </p:sp>
        <p:sp>
          <p:nvSpPr>
            <p:cNvPr id="317" name="직선 연결선 40"/>
            <p:cNvSpPr/>
            <p:nvPr/>
          </p:nvSpPr>
          <p:spPr>
            <a:xfrm flipH="1">
              <a:off x="3721750" y="7859393"/>
              <a:ext cx="5841086" cy="1"/>
            </a:xfrm>
            <a:prstGeom prst="line">
              <a:avLst/>
            </a:prstGeom>
            <a:noFill/>
            <a:ln w="114300" cap="flat">
              <a:solidFill>
                <a:srgbClr val="FF5050"/>
              </a:solidFill>
              <a:prstDash val="solid"/>
              <a:miter lim="8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algn="l" defTabSz="1828800">
                <a:defRPr sz="360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318" name="직선 연결선 41"/>
            <p:cNvSpPr/>
            <p:nvPr/>
          </p:nvSpPr>
          <p:spPr>
            <a:xfrm flipV="1">
              <a:off x="3811388" y="3305967"/>
              <a:ext cx="11881" cy="4553987"/>
            </a:xfrm>
            <a:prstGeom prst="line">
              <a:avLst/>
            </a:prstGeom>
            <a:noFill/>
            <a:ln w="114300" cap="flat">
              <a:solidFill>
                <a:srgbClr val="FF5050"/>
              </a:solidFill>
              <a:prstDash val="solid"/>
              <a:miter lim="8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algn="l" defTabSz="1828800">
                <a:defRPr sz="360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319" name="직선 연결선 44"/>
            <p:cNvSpPr/>
            <p:nvPr/>
          </p:nvSpPr>
          <p:spPr>
            <a:xfrm flipH="1">
              <a:off x="3226896" y="3386201"/>
              <a:ext cx="652323" cy="1"/>
            </a:xfrm>
            <a:prstGeom prst="line">
              <a:avLst/>
            </a:prstGeom>
            <a:noFill/>
            <a:ln w="114300" cap="flat">
              <a:solidFill>
                <a:srgbClr val="FF5050"/>
              </a:solidFill>
              <a:prstDash val="solid"/>
              <a:miter lim="8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algn="l" defTabSz="1828800">
                <a:defRPr sz="360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grpSp>
          <p:nvGrpSpPr>
            <p:cNvPr id="322" name="타원 38"/>
            <p:cNvGrpSpPr/>
            <p:nvPr/>
          </p:nvGrpSpPr>
          <p:grpSpPr>
            <a:xfrm>
              <a:off x="9490757" y="7343665"/>
              <a:ext cx="1097007" cy="1097008"/>
              <a:chOff x="0" y="0"/>
              <a:chExt cx="1097006" cy="1097006"/>
            </a:xfrm>
          </p:grpSpPr>
          <p:sp>
            <p:nvSpPr>
              <p:cNvPr id="320" name="원"/>
              <p:cNvSpPr/>
              <p:nvPr/>
            </p:nvSpPr>
            <p:spPr>
              <a:xfrm>
                <a:off x="-1" y="-1"/>
                <a:ext cx="1097008" cy="1097008"/>
              </a:xfrm>
              <a:prstGeom prst="ellipse">
                <a:avLst/>
              </a:prstGeom>
              <a:solidFill>
                <a:srgbClr val="00B0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defRPr sz="3600">
                    <a:solidFill>
                      <a:srgbClr val="FFFFFF"/>
                    </a:solidFill>
                    <a:latin typeface="a아띠"/>
                    <a:ea typeface="a아띠"/>
                    <a:cs typeface="a아띠"/>
                    <a:sym typeface="a아띠"/>
                  </a:defRPr>
                </a:pPr>
                <a:endParaRPr/>
              </a:p>
            </p:txBody>
          </p:sp>
          <p:sp>
            <p:nvSpPr>
              <p:cNvPr id="321" name="2"/>
              <p:cNvSpPr txBox="1"/>
              <p:nvPr/>
            </p:nvSpPr>
            <p:spPr>
              <a:xfrm>
                <a:off x="293355" y="10321"/>
                <a:ext cx="510296" cy="10763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91439" tIns="91439" rIns="91439" bIns="91439" numCol="1" anchor="ctr">
                <a:noAutofit/>
              </a:bodyPr>
              <a:lstStyle>
                <a:lvl1pPr defTabSz="1828800">
                  <a:defRPr sz="3600">
                    <a:solidFill>
                      <a:srgbClr val="FFFFFF"/>
                    </a:solidFill>
                    <a:latin typeface="a아띠"/>
                    <a:ea typeface="a아띠"/>
                    <a:cs typeface="a아띠"/>
                    <a:sym typeface="a아띠"/>
                  </a:defRPr>
                </a:lvl1pPr>
              </a:lstStyle>
              <a:p>
                <a:r>
                  <a:t>2</a:t>
                </a:r>
              </a:p>
            </p:txBody>
          </p:sp>
        </p:grpSp>
        <p:sp>
          <p:nvSpPr>
            <p:cNvPr id="323" name="TextBox 80"/>
            <p:cNvSpPr txBox="1"/>
            <p:nvPr/>
          </p:nvSpPr>
          <p:spPr>
            <a:xfrm>
              <a:off x="6467618" y="2931086"/>
              <a:ext cx="2930753" cy="10362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/>
            <a:p>
              <a:pPr algn="l" defTabSz="1828800">
                <a:defRPr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pPr>
              <a:r>
                <a:t>한강거리 7분</a:t>
              </a:r>
            </a:p>
          </p:txBody>
        </p:sp>
        <p:pic>
          <p:nvPicPr>
            <p:cNvPr id="326" name="free-icon-apartment-230533.png" descr="free-icon-apartment-230533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1508017" y="2745128"/>
              <a:ext cx="1680907" cy="16809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7" name="타원 23"/>
            <p:cNvSpPr/>
            <p:nvPr/>
          </p:nvSpPr>
          <p:spPr>
            <a:xfrm>
              <a:off x="6001928" y="3121545"/>
              <a:ext cx="426588" cy="426588"/>
            </a:xfrm>
            <a:prstGeom prst="ellipse">
              <a:avLst/>
            </a:prstGeom>
            <a:gradFill flip="none" rotWithShape="1">
              <a:gsLst>
                <a:gs pos="0">
                  <a:srgbClr val="70A6DB"/>
                </a:gs>
                <a:gs pos="50000">
                  <a:srgbClr val="559BDB"/>
                </a:gs>
                <a:gs pos="100000">
                  <a:srgbClr val="448AC9"/>
                </a:gs>
              </a:gsLst>
              <a:lin ang="5400000" scaled="0"/>
            </a:gradFill>
            <a:ln w="12700" cap="flat">
              <a:solidFill>
                <a:srgbClr val="5B9BD5"/>
              </a:solidFill>
              <a:prstDash val="solid"/>
              <a:miter lim="8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328" name="타원 23"/>
            <p:cNvSpPr/>
            <p:nvPr/>
          </p:nvSpPr>
          <p:spPr>
            <a:xfrm>
              <a:off x="2940415" y="6863929"/>
              <a:ext cx="398601" cy="398601"/>
            </a:xfrm>
            <a:prstGeom prst="ellipse">
              <a:avLst/>
            </a:prstGeom>
            <a:solidFill>
              <a:srgbClr val="4F8F0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329" name="타원 23"/>
            <p:cNvSpPr/>
            <p:nvPr/>
          </p:nvSpPr>
          <p:spPr>
            <a:xfrm>
              <a:off x="4446284" y="5238592"/>
              <a:ext cx="398602" cy="398601"/>
            </a:xfrm>
            <a:prstGeom prst="ellipse">
              <a:avLst/>
            </a:prstGeom>
            <a:solidFill>
              <a:srgbClr val="FF260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330" name="직사각형 7"/>
            <p:cNvSpPr/>
            <p:nvPr/>
          </p:nvSpPr>
          <p:spPr>
            <a:xfrm rot="16200000" flipH="1">
              <a:off x="7606343" y="1542441"/>
              <a:ext cx="223180" cy="4774042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</p:grpSp>
      <p:grpSp>
        <p:nvGrpSpPr>
          <p:cNvPr id="334" name="사각형: 둥근 모서리 10"/>
          <p:cNvGrpSpPr/>
          <p:nvPr/>
        </p:nvGrpSpPr>
        <p:grpSpPr>
          <a:xfrm>
            <a:off x="348407" y="284066"/>
            <a:ext cx="22803973" cy="919481"/>
            <a:chOff x="0" y="-15988"/>
            <a:chExt cx="22803972" cy="919480"/>
          </a:xfrm>
        </p:grpSpPr>
        <p:sp>
          <p:nvSpPr>
            <p:cNvPr id="332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333" name="I.주제선정배경"/>
            <p:cNvSpPr txBox="1"/>
            <p:nvPr/>
          </p:nvSpPr>
          <p:spPr>
            <a:xfrm>
              <a:off x="221410" y="-15989"/>
              <a:ext cx="22361152" cy="9194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40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I.주제선정배경</a:t>
              </a:r>
            </a:p>
          </p:txBody>
        </p:sp>
      </p:grpSp>
      <p:grpSp>
        <p:nvGrpSpPr>
          <p:cNvPr id="337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335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336" name="I.개요 - 주제 선정 배경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/>
            <a:p>
              <a: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pPr>
              <a:r>
                <a:rPr dirty="0" err="1"/>
                <a:t>I.개요</a:t>
              </a:r>
              <a:r>
                <a:rPr dirty="0"/>
                <a:t> </a:t>
              </a:r>
              <a:r>
                <a:rPr lang="en-US" sz="2800" dirty="0"/>
                <a:t>:</a:t>
              </a:r>
              <a:r>
                <a:rPr sz="2800" dirty="0"/>
                <a:t> </a:t>
              </a:r>
              <a:r>
                <a:rPr sz="2800" dirty="0" err="1"/>
                <a:t>주제</a:t>
              </a:r>
              <a:r>
                <a:rPr sz="2800" dirty="0"/>
                <a:t> </a:t>
              </a:r>
              <a:r>
                <a:rPr sz="2800" dirty="0" err="1"/>
                <a:t>선정</a:t>
              </a:r>
              <a:r>
                <a:rPr sz="2800" dirty="0"/>
                <a:t> </a:t>
              </a:r>
              <a:r>
                <a:rPr sz="2800" dirty="0" err="1"/>
                <a:t>배경</a:t>
              </a:r>
              <a:endParaRPr sz="2800" dirty="0"/>
            </a:p>
          </p:txBody>
        </p:sp>
      </p:grpSp>
      <p:pic>
        <p:nvPicPr>
          <p:cNvPr id="342" name="KakaoTalk_Photo_2023-06-20-17-46-08 002.png" descr="KakaoTalk_Photo_2023-06-20-17-46-08 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78" y="2458884"/>
            <a:ext cx="3284032" cy="3284032"/>
          </a:xfrm>
          <a:prstGeom prst="rect">
            <a:avLst/>
          </a:prstGeom>
          <a:ln w="12700">
            <a:miter lim="400000"/>
          </a:ln>
          <a:effectLst>
            <a:outerShdw blurRad="711200" rotWithShape="0">
              <a:srgbClr val="000000">
                <a:alpha val="75000"/>
              </a:srgbClr>
            </a:outerShdw>
          </a:effectLst>
        </p:spPr>
      </p:pic>
      <p:grpSp>
        <p:nvGrpSpPr>
          <p:cNvPr id="345" name="그룹화"/>
          <p:cNvGrpSpPr/>
          <p:nvPr/>
        </p:nvGrpSpPr>
        <p:grpSpPr>
          <a:xfrm>
            <a:off x="-332871" y="11175356"/>
            <a:ext cx="24994065" cy="2795379"/>
            <a:chOff x="-27838" y="0"/>
            <a:chExt cx="24994063" cy="2795378"/>
          </a:xfrm>
        </p:grpSpPr>
        <p:sp>
          <p:nvSpPr>
            <p:cNvPr id="343" name="ㅇ"/>
            <p:cNvSpPr/>
            <p:nvPr/>
          </p:nvSpPr>
          <p:spPr>
            <a:xfrm>
              <a:off x="-27839" y="0"/>
              <a:ext cx="24994065" cy="2795379"/>
            </a:xfrm>
            <a:prstGeom prst="rect">
              <a:avLst/>
            </a:prstGeom>
            <a:solidFill>
              <a:srgbClr val="000000">
                <a:alpha val="41362"/>
              </a:srgbClr>
            </a:solidFill>
            <a:ln w="25400" cap="flat">
              <a:solidFill>
                <a:srgbClr val="4472C4">
                  <a:alpha val="41362"/>
                </a:srgbClr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>
              <a:lvl1pPr algn="l" defTabSz="1828800">
                <a:defRPr sz="360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r>
                <a:t>ㅇ</a:t>
              </a:r>
            </a:p>
          </p:txBody>
        </p:sp>
        <p:sp>
          <p:nvSpPr>
            <p:cNvPr id="344" name="체육시설,스타벅스,백화점이 인접한 매물 검색"/>
            <p:cNvSpPr txBox="1"/>
            <p:nvPr/>
          </p:nvSpPr>
          <p:spPr>
            <a:xfrm>
              <a:off x="8071386" y="956999"/>
              <a:ext cx="8795614" cy="8854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91439" tIns="91439" rIns="91439" bIns="91439" numCol="1" anchor="t">
              <a:spAutoFit/>
            </a:bodyPr>
            <a:lstStyle/>
            <a:p>
              <a:pPr algn="l" defTabSz="1828800">
                <a:defRPr sz="36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pPr>
              <a:r>
                <a:rPr u="sng" dirty="0" err="1">
                  <a:latin typeface="Noto Sans KR Medium"/>
                  <a:ea typeface="Noto Sans KR Medium"/>
                  <a:cs typeface="Noto Sans KR Medium"/>
                  <a:sym typeface="Noto Sans KR Medium"/>
                </a:rPr>
                <a:t>체육시설</a:t>
              </a:r>
              <a:r>
                <a:rPr u="sng" dirty="0" err="1"/>
                <a:t>,</a:t>
              </a:r>
              <a:r>
                <a:rPr u="sng" dirty="0" err="1">
                  <a:latin typeface="Noto Sans KR Medium"/>
                  <a:ea typeface="Noto Sans KR Medium"/>
                  <a:cs typeface="Noto Sans KR Medium"/>
                  <a:sym typeface="Noto Sans KR Medium"/>
                </a:rPr>
                <a:t>스타벅스</a:t>
              </a:r>
              <a:r>
                <a:rPr u="sng" dirty="0" err="1"/>
                <a:t>,</a:t>
              </a:r>
              <a:r>
                <a:rPr u="sng" dirty="0" err="1">
                  <a:latin typeface="Noto Sans KR Medium"/>
                  <a:ea typeface="Noto Sans KR Medium"/>
                  <a:cs typeface="Noto Sans KR Medium"/>
                  <a:sym typeface="Noto Sans KR Medium"/>
                </a:rPr>
                <a:t>백화점</a:t>
              </a:r>
              <a:r>
                <a:rPr dirty="0" err="1"/>
                <a:t>이</a:t>
              </a:r>
              <a:r>
                <a:rPr dirty="0"/>
                <a:t> </a:t>
              </a:r>
              <a:r>
                <a:rPr dirty="0" err="1"/>
                <a:t>인접한</a:t>
              </a:r>
              <a:r>
                <a:rPr dirty="0"/>
                <a:t> </a:t>
              </a:r>
              <a:r>
                <a:rPr sz="3800" dirty="0" err="1">
                  <a:solidFill>
                    <a:srgbClr val="FFFFFF"/>
                  </a:solidFill>
                  <a:latin typeface="Noto Sans KR Medium"/>
                  <a:ea typeface="Noto Sans KR Medium"/>
                  <a:cs typeface="Noto Sans KR Medium"/>
                  <a:sym typeface="Noto Sans KR Medium"/>
                </a:rPr>
                <a:t>매물</a:t>
              </a:r>
              <a:r>
                <a:rPr dirty="0"/>
                <a:t> </a:t>
              </a:r>
              <a:r>
                <a:rPr dirty="0" err="1"/>
                <a:t>검색</a:t>
              </a:r>
              <a:endParaRPr dirty="0"/>
            </a:p>
          </p:txBody>
        </p:sp>
      </p:grpSp>
      <p:pic>
        <p:nvPicPr>
          <p:cNvPr id="346" name="KakaoTalk_Photo_2023-06-20-17-46-08 001.png" descr="KakaoTalk_Photo_2023-06-20-17-46-08 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627" y="5140522"/>
            <a:ext cx="3035580" cy="3035580"/>
          </a:xfrm>
          <a:prstGeom prst="rect">
            <a:avLst/>
          </a:prstGeom>
          <a:ln w="12700">
            <a:miter lim="400000"/>
          </a:ln>
          <a:effectLst>
            <a:outerShdw blurRad="711200" rotWithShape="0">
              <a:srgbClr val="000000">
                <a:alpha val="75000"/>
              </a:srgbClr>
            </a:outerShdw>
          </a:effectLst>
        </p:spPr>
      </p:pic>
      <p:pic>
        <p:nvPicPr>
          <p:cNvPr id="347" name="KakaoTalk_Photo_2023-06-20-17-46-15.png" descr="KakaoTalk_Photo_2023-06-20-17-46-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5862" y="4402115"/>
            <a:ext cx="3545985" cy="3545985"/>
          </a:xfrm>
          <a:prstGeom prst="rect">
            <a:avLst/>
          </a:prstGeom>
          <a:ln w="12700">
            <a:miter lim="400000"/>
          </a:ln>
          <a:effectLst>
            <a:outerShdw blurRad="711200" rotWithShape="0">
              <a:srgbClr val="000000">
                <a:alpha val="75000"/>
              </a:srgbClr>
            </a:outerShdw>
          </a:effec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4B5D628A-7923-9A27-8443-71AD10B6DDAB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D2A2078F-F95D-F689-F450-68898FE55693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ABCF085-7EAA-AC88-9416-92C2A7F2AD2E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0E3DAA25-F8C6-1099-917F-5B93F1E8B3A2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44DAD568-B1B2-75B2-31D3-0DD75DFC9DE6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grpId="7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7" animBg="1" advAuto="0"/>
      <p:bldP spid="342" grpId="1" animBg="1" advAuto="0"/>
      <p:bldP spid="342" grpId="4" animBg="1" advAuto="0"/>
      <p:bldP spid="345" grpId="8" animBg="1" advAuto="0"/>
      <p:bldP spid="346" grpId="2" animBg="1" advAuto="0"/>
      <p:bldP spid="346" grpId="6" animBg="1" advAuto="0"/>
      <p:bldP spid="347" grpId="3" animBg="1" advAuto="0"/>
      <p:bldP spid="347" grpId="5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선"/>
          <p:cNvSpPr/>
          <p:nvPr/>
        </p:nvSpPr>
        <p:spPr>
          <a:xfrm>
            <a:off x="1488255" y="7493000"/>
            <a:ext cx="20850814" cy="0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  <a:alpha val="3446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54" name="모서리가 둥근 직사각형"/>
          <p:cNvSpPr/>
          <p:nvPr/>
        </p:nvSpPr>
        <p:spPr>
          <a:xfrm>
            <a:off x="18921609" y="7212094"/>
            <a:ext cx="3508205" cy="551181"/>
          </a:xfrm>
          <a:prstGeom prst="roundRect">
            <a:avLst>
              <a:gd name="adj" fmla="val 50000"/>
            </a:avLst>
          </a:prstGeom>
          <a:solidFill>
            <a:srgbClr val="D7F2B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55" name="모서리가 둥근 직사각형"/>
          <p:cNvSpPr/>
          <p:nvPr/>
        </p:nvSpPr>
        <p:spPr>
          <a:xfrm>
            <a:off x="1824280" y="7286267"/>
            <a:ext cx="4693876" cy="551181"/>
          </a:xfrm>
          <a:prstGeom prst="roundRect">
            <a:avLst>
              <a:gd name="adj" fmla="val 50000"/>
            </a:avLst>
          </a:prstGeom>
          <a:solidFill>
            <a:srgbClr val="F2C88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56" name="기획 및 주제 선정"/>
          <p:cNvSpPr txBox="1"/>
          <p:nvPr/>
        </p:nvSpPr>
        <p:spPr>
          <a:xfrm>
            <a:off x="1984668" y="7039236"/>
            <a:ext cx="4373099" cy="10452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b="1"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t>기획 및 주제 선정</a:t>
            </a:r>
          </a:p>
        </p:txBody>
      </p:sp>
      <p:grpSp>
        <p:nvGrpSpPr>
          <p:cNvPr id="359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357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358" name="I.개요 - 수행 절차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/>
            <a:p>
              <a: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pPr>
              <a:r>
                <a:rPr dirty="0" err="1"/>
                <a:t>I.개요</a:t>
              </a:r>
              <a:r>
                <a:rPr dirty="0"/>
                <a:t> </a:t>
              </a:r>
              <a:r>
                <a:rPr lang="en-US" sz="2800" dirty="0"/>
                <a:t>:</a:t>
              </a:r>
              <a:r>
                <a:rPr sz="2800" dirty="0"/>
                <a:t> </a:t>
              </a:r>
              <a:r>
                <a:rPr sz="2800" dirty="0" err="1"/>
                <a:t>수행</a:t>
              </a:r>
              <a:r>
                <a:rPr sz="2800" dirty="0"/>
                <a:t> </a:t>
              </a:r>
              <a:r>
                <a:rPr sz="2800" dirty="0" err="1"/>
                <a:t>절차</a:t>
              </a:r>
              <a:endParaRPr sz="2800" dirty="0"/>
            </a:p>
          </p:txBody>
        </p:sp>
      </p:grpSp>
      <p:grpSp>
        <p:nvGrpSpPr>
          <p:cNvPr id="377" name="그룹화"/>
          <p:cNvGrpSpPr/>
          <p:nvPr/>
        </p:nvGrpSpPr>
        <p:grpSpPr>
          <a:xfrm>
            <a:off x="1282036" y="10855963"/>
            <a:ext cx="21819928" cy="1132650"/>
            <a:chOff x="0" y="0"/>
            <a:chExt cx="21819927" cy="1132648"/>
          </a:xfrm>
        </p:grpSpPr>
        <p:sp>
          <p:nvSpPr>
            <p:cNvPr id="364" name="선"/>
            <p:cNvSpPr/>
            <p:nvPr/>
          </p:nvSpPr>
          <p:spPr>
            <a:xfrm>
              <a:off x="535137" y="0"/>
              <a:ext cx="2145867" cy="0"/>
            </a:xfrm>
            <a:prstGeom prst="line">
              <a:avLst/>
            </a:prstGeom>
            <a:noFill/>
            <a:ln w="38100" cap="flat">
              <a:solidFill>
                <a:schemeClr val="accent1">
                  <a:hueOff val="114395"/>
                  <a:lumOff val="-24975"/>
                  <a:alpha val="48748"/>
                </a:schemeClr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65" name="선"/>
            <p:cNvSpPr/>
            <p:nvPr/>
          </p:nvSpPr>
          <p:spPr>
            <a:xfrm>
              <a:off x="2659641" y="0"/>
              <a:ext cx="2145867" cy="0"/>
            </a:xfrm>
            <a:prstGeom prst="line">
              <a:avLst/>
            </a:prstGeom>
            <a:noFill/>
            <a:ln w="38100" cap="flat">
              <a:solidFill>
                <a:schemeClr val="accent1">
                  <a:hueOff val="114395"/>
                  <a:lumOff val="-24975"/>
                  <a:alpha val="48748"/>
                </a:schemeClr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66" name="선"/>
            <p:cNvSpPr/>
            <p:nvPr/>
          </p:nvSpPr>
          <p:spPr>
            <a:xfrm>
              <a:off x="4862658" y="0"/>
              <a:ext cx="3435154" cy="0"/>
            </a:xfrm>
            <a:prstGeom prst="line">
              <a:avLst/>
            </a:prstGeom>
            <a:noFill/>
            <a:ln w="38100" cap="flat">
              <a:solidFill>
                <a:schemeClr val="accent1">
                  <a:hueOff val="114395"/>
                  <a:lumOff val="-24975"/>
                  <a:alpha val="48748"/>
                </a:schemeClr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67" name="선"/>
            <p:cNvSpPr/>
            <p:nvPr/>
          </p:nvSpPr>
          <p:spPr>
            <a:xfrm>
              <a:off x="8355332" y="0"/>
              <a:ext cx="6048744" cy="0"/>
            </a:xfrm>
            <a:prstGeom prst="line">
              <a:avLst/>
            </a:prstGeom>
            <a:noFill/>
            <a:ln w="38100" cap="flat">
              <a:solidFill>
                <a:schemeClr val="accent1">
                  <a:hueOff val="114395"/>
                  <a:lumOff val="-24975"/>
                  <a:alpha val="48748"/>
                </a:schemeClr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68" name="선"/>
            <p:cNvSpPr/>
            <p:nvPr/>
          </p:nvSpPr>
          <p:spPr>
            <a:xfrm>
              <a:off x="14489955" y="0"/>
              <a:ext cx="3435154" cy="0"/>
            </a:xfrm>
            <a:prstGeom prst="line">
              <a:avLst/>
            </a:prstGeom>
            <a:noFill/>
            <a:ln w="38100" cap="flat">
              <a:solidFill>
                <a:schemeClr val="accent1">
                  <a:hueOff val="114395"/>
                  <a:lumOff val="-24975"/>
                  <a:alpha val="48748"/>
                </a:schemeClr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69" name="선"/>
            <p:cNvSpPr/>
            <p:nvPr/>
          </p:nvSpPr>
          <p:spPr>
            <a:xfrm>
              <a:off x="17953901" y="0"/>
              <a:ext cx="3378004" cy="0"/>
            </a:xfrm>
            <a:prstGeom prst="line">
              <a:avLst/>
            </a:prstGeom>
            <a:noFill/>
            <a:ln w="38100" cap="flat">
              <a:solidFill>
                <a:schemeClr val="accent1">
                  <a:hueOff val="114395"/>
                  <a:lumOff val="-24975"/>
                  <a:alpha val="48748"/>
                </a:schemeClr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70" name="5.19"/>
            <p:cNvSpPr txBox="1"/>
            <p:nvPr/>
          </p:nvSpPr>
          <p:spPr>
            <a:xfrm>
              <a:off x="0" y="73318"/>
              <a:ext cx="1094070" cy="9656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300">
                  <a:latin typeface="Noto Sans KR Medium"/>
                  <a:ea typeface="Noto Sans KR Medium"/>
                  <a:cs typeface="Noto Sans KR Medium"/>
                  <a:sym typeface="Noto Sans KR Medium"/>
                </a:defRPr>
              </a:lvl1pPr>
            </a:lstStyle>
            <a:p>
              <a:r>
                <a:t>5.19</a:t>
              </a:r>
            </a:p>
          </p:txBody>
        </p:sp>
        <p:sp>
          <p:nvSpPr>
            <p:cNvPr id="371" name="5.22"/>
            <p:cNvSpPr txBox="1"/>
            <p:nvPr/>
          </p:nvSpPr>
          <p:spPr>
            <a:xfrm>
              <a:off x="2405374" y="73318"/>
              <a:ext cx="1094071" cy="9656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300">
                  <a:latin typeface="Noto Sans KR Medium"/>
                  <a:ea typeface="Noto Sans KR Medium"/>
                  <a:cs typeface="Noto Sans KR Medium"/>
                  <a:sym typeface="Noto Sans KR Medium"/>
                </a:defRPr>
              </a:lvl1pPr>
            </a:lstStyle>
            <a:p>
              <a:r>
                <a:t>5.22</a:t>
              </a:r>
            </a:p>
          </p:txBody>
        </p:sp>
        <p:sp>
          <p:nvSpPr>
            <p:cNvPr id="372" name="5.25"/>
            <p:cNvSpPr txBox="1"/>
            <p:nvPr/>
          </p:nvSpPr>
          <p:spPr>
            <a:xfrm>
              <a:off x="4369405" y="73318"/>
              <a:ext cx="1094071" cy="9656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300">
                  <a:latin typeface="Noto Sans KR Medium"/>
                  <a:ea typeface="Noto Sans KR Medium"/>
                  <a:cs typeface="Noto Sans KR Medium"/>
                  <a:sym typeface="Noto Sans KR Medium"/>
                </a:defRPr>
              </a:lvl1pPr>
            </a:lstStyle>
            <a:p>
              <a:r>
                <a:t>5.25</a:t>
              </a:r>
            </a:p>
          </p:txBody>
        </p:sp>
        <p:sp>
          <p:nvSpPr>
            <p:cNvPr id="373" name="5.31"/>
            <p:cNvSpPr txBox="1"/>
            <p:nvPr/>
          </p:nvSpPr>
          <p:spPr>
            <a:xfrm>
              <a:off x="7769211" y="73318"/>
              <a:ext cx="1094070" cy="9656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300">
                  <a:latin typeface="Noto Sans KR Medium"/>
                  <a:ea typeface="Noto Sans KR Medium"/>
                  <a:cs typeface="Noto Sans KR Medium"/>
                  <a:sym typeface="Noto Sans KR Medium"/>
                </a:defRPr>
              </a:lvl1pPr>
            </a:lstStyle>
            <a:p>
              <a:r>
                <a:t>5.31</a:t>
              </a:r>
            </a:p>
          </p:txBody>
        </p:sp>
        <p:sp>
          <p:nvSpPr>
            <p:cNvPr id="374" name="6.14"/>
            <p:cNvSpPr txBox="1"/>
            <p:nvPr/>
          </p:nvSpPr>
          <p:spPr>
            <a:xfrm>
              <a:off x="13922574" y="73318"/>
              <a:ext cx="1094071" cy="9656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300">
                  <a:latin typeface="Noto Sans KR Medium"/>
                  <a:ea typeface="Noto Sans KR Medium"/>
                  <a:cs typeface="Noto Sans KR Medium"/>
                  <a:sym typeface="Noto Sans KR Medium"/>
                </a:defRPr>
              </a:lvl1pPr>
            </a:lstStyle>
            <a:p>
              <a:r>
                <a:t>6.14</a:t>
              </a:r>
            </a:p>
          </p:txBody>
        </p:sp>
        <p:sp>
          <p:nvSpPr>
            <p:cNvPr id="375" name="6.21"/>
            <p:cNvSpPr txBox="1"/>
            <p:nvPr/>
          </p:nvSpPr>
          <p:spPr>
            <a:xfrm>
              <a:off x="17437521" y="166971"/>
              <a:ext cx="1094071" cy="965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300">
                  <a:latin typeface="Noto Sans KR Medium"/>
                  <a:ea typeface="Noto Sans KR Medium"/>
                  <a:cs typeface="Noto Sans KR Medium"/>
                  <a:sym typeface="Noto Sans KR Medium"/>
                </a:defRPr>
              </a:lvl1pPr>
            </a:lstStyle>
            <a:p>
              <a:r>
                <a:t>6.21</a:t>
              </a:r>
            </a:p>
          </p:txBody>
        </p:sp>
        <p:sp>
          <p:nvSpPr>
            <p:cNvPr id="376" name="6.23"/>
            <p:cNvSpPr txBox="1"/>
            <p:nvPr/>
          </p:nvSpPr>
          <p:spPr>
            <a:xfrm>
              <a:off x="20725857" y="166971"/>
              <a:ext cx="1094071" cy="965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300">
                  <a:latin typeface="Noto Sans KR Medium"/>
                  <a:ea typeface="Noto Sans KR Medium"/>
                  <a:cs typeface="Noto Sans KR Medium"/>
                  <a:sym typeface="Noto Sans KR Medium"/>
                </a:defRPr>
              </a:lvl1pPr>
            </a:lstStyle>
            <a:p>
              <a:r>
                <a:t>6.23</a:t>
              </a:r>
            </a:p>
          </p:txBody>
        </p:sp>
      </p:grpSp>
      <p:sp>
        <p:nvSpPr>
          <p:cNvPr id="378" name="선"/>
          <p:cNvSpPr/>
          <p:nvPr/>
        </p:nvSpPr>
        <p:spPr>
          <a:xfrm>
            <a:off x="1488256" y="6179557"/>
            <a:ext cx="2085081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  <a:alpha val="3446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79" name="선"/>
          <p:cNvSpPr/>
          <p:nvPr/>
        </p:nvSpPr>
        <p:spPr>
          <a:xfrm>
            <a:off x="1471497" y="8806443"/>
            <a:ext cx="20850814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  <a:alpha val="3446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80" name="선"/>
          <p:cNvSpPr/>
          <p:nvPr/>
        </p:nvSpPr>
        <p:spPr>
          <a:xfrm>
            <a:off x="1488256" y="4866114"/>
            <a:ext cx="20817297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  <a:alpha val="3446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383" name="그룹화"/>
          <p:cNvGrpSpPr/>
          <p:nvPr/>
        </p:nvGrpSpPr>
        <p:grpSpPr>
          <a:xfrm>
            <a:off x="1479823" y="7258563"/>
            <a:ext cx="626010" cy="606589"/>
            <a:chOff x="0" y="0"/>
            <a:chExt cx="626008" cy="606588"/>
          </a:xfrm>
        </p:grpSpPr>
        <p:sp>
          <p:nvSpPr>
            <p:cNvPr id="381" name="타원형"/>
            <p:cNvSpPr/>
            <p:nvPr/>
          </p:nvSpPr>
          <p:spPr>
            <a:xfrm>
              <a:off x="0" y="0"/>
              <a:ext cx="626009" cy="606589"/>
            </a:xfrm>
            <a:prstGeom prst="ellipse">
              <a:avLst/>
            </a:prstGeom>
            <a:solidFill>
              <a:srgbClr val="E2A17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382" name="1"/>
            <p:cNvSpPr txBox="1"/>
            <p:nvPr/>
          </p:nvSpPr>
          <p:spPr>
            <a:xfrm>
              <a:off x="166090" y="-1"/>
              <a:ext cx="293828" cy="546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90" name="그룹화"/>
          <p:cNvGrpSpPr/>
          <p:nvPr/>
        </p:nvGrpSpPr>
        <p:grpSpPr>
          <a:xfrm>
            <a:off x="3481323" y="4562820"/>
            <a:ext cx="6140363" cy="606589"/>
            <a:chOff x="0" y="0"/>
            <a:chExt cx="6140361" cy="606588"/>
          </a:xfrm>
        </p:grpSpPr>
        <p:grpSp>
          <p:nvGrpSpPr>
            <p:cNvPr id="388" name="그룹화"/>
            <p:cNvGrpSpPr/>
            <p:nvPr/>
          </p:nvGrpSpPr>
          <p:grpSpPr>
            <a:xfrm>
              <a:off x="0" y="0"/>
              <a:ext cx="6140362" cy="606589"/>
              <a:chOff x="0" y="0"/>
              <a:chExt cx="6140361" cy="606588"/>
            </a:xfrm>
          </p:grpSpPr>
          <p:sp>
            <p:nvSpPr>
              <p:cNvPr id="384" name="모서리가 둥근 직사각형"/>
              <p:cNvSpPr/>
              <p:nvPr/>
            </p:nvSpPr>
            <p:spPr>
              <a:xfrm>
                <a:off x="344456" y="27704"/>
                <a:ext cx="5795906" cy="551181"/>
              </a:xfrm>
              <a:prstGeom prst="roundRect">
                <a:avLst>
                  <a:gd name="adj" fmla="val 50000"/>
                </a:avLst>
              </a:prstGeom>
              <a:solidFill>
                <a:srgbClr val="F2C6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grpSp>
            <p:nvGrpSpPr>
              <p:cNvPr id="387" name="그룹화"/>
              <p:cNvGrpSpPr/>
              <p:nvPr/>
            </p:nvGrpSpPr>
            <p:grpSpPr>
              <a:xfrm>
                <a:off x="0" y="0"/>
                <a:ext cx="626009" cy="606589"/>
                <a:chOff x="0" y="0"/>
                <a:chExt cx="626008" cy="606588"/>
              </a:xfrm>
            </p:grpSpPr>
            <p:sp>
              <p:nvSpPr>
                <p:cNvPr id="385" name="타원형"/>
                <p:cNvSpPr/>
                <p:nvPr/>
              </p:nvSpPr>
              <p:spPr>
                <a:xfrm>
                  <a:off x="0" y="0"/>
                  <a:ext cx="626009" cy="606589"/>
                </a:xfrm>
                <a:prstGeom prst="ellipse">
                  <a:avLst/>
                </a:prstGeom>
                <a:solidFill>
                  <a:srgbClr val="E2949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825500">
                    <a:defRPr sz="3200">
                      <a:solidFill>
                        <a:srgbClr val="000000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386" name="2"/>
                <p:cNvSpPr txBox="1"/>
                <p:nvPr/>
              </p:nvSpPr>
              <p:spPr>
                <a:xfrm>
                  <a:off x="166090" y="-1"/>
                  <a:ext cx="293828" cy="5461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b="1">
                      <a:latin typeface="Noto Sans KR"/>
                      <a:ea typeface="Noto Sans KR"/>
                      <a:cs typeface="Noto Sans KR"/>
                      <a:sym typeface="Noto Sans KR"/>
                    </a:defRPr>
                  </a:lvl1pPr>
                </a:lstStyle>
                <a:p>
                  <a:r>
                    <a:t>2</a:t>
                  </a:r>
                </a:p>
              </p:txBody>
            </p:sp>
          </p:grpSp>
        </p:grpSp>
        <p:sp>
          <p:nvSpPr>
            <p:cNvPr id="389" name="데이터 수집 및 절차 정의"/>
            <p:cNvSpPr txBox="1"/>
            <p:nvPr/>
          </p:nvSpPr>
          <p:spPr>
            <a:xfrm>
              <a:off x="1888795" y="22062"/>
              <a:ext cx="3195219" cy="546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데이터</a:t>
              </a:r>
              <a:r>
                <a:rPr dirty="0"/>
                <a:t> </a:t>
              </a:r>
              <a:r>
                <a:rPr dirty="0" err="1"/>
                <a:t>수집</a:t>
              </a:r>
              <a:r>
                <a:rPr dirty="0"/>
                <a:t> 및 </a:t>
              </a:r>
              <a:r>
                <a:rPr dirty="0" err="1"/>
                <a:t>절차</a:t>
              </a:r>
              <a:r>
                <a:rPr dirty="0"/>
                <a:t> </a:t>
              </a:r>
              <a:r>
                <a:rPr dirty="0" err="1"/>
                <a:t>정의</a:t>
              </a:r>
              <a:endParaRPr dirty="0"/>
            </a:p>
          </p:txBody>
        </p:sp>
      </p:grpSp>
      <p:sp>
        <p:nvSpPr>
          <p:cNvPr id="391" name="모서리가 둥근 직사각형"/>
          <p:cNvSpPr/>
          <p:nvPr/>
        </p:nvSpPr>
        <p:spPr>
          <a:xfrm>
            <a:off x="9139053" y="5903967"/>
            <a:ext cx="6105894" cy="551181"/>
          </a:xfrm>
          <a:prstGeom prst="roundRect">
            <a:avLst>
              <a:gd name="adj" fmla="val 50000"/>
            </a:avLst>
          </a:prstGeom>
          <a:solidFill>
            <a:srgbClr val="C0E1F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92" name="타원형"/>
          <p:cNvSpPr/>
          <p:nvPr/>
        </p:nvSpPr>
        <p:spPr>
          <a:xfrm>
            <a:off x="9036050" y="5848559"/>
            <a:ext cx="626010" cy="606589"/>
          </a:xfrm>
          <a:prstGeom prst="ellipse">
            <a:avLst/>
          </a:prstGeom>
          <a:solidFill>
            <a:srgbClr val="9AB2E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93" name="3"/>
          <p:cNvSpPr txBox="1"/>
          <p:nvPr/>
        </p:nvSpPr>
        <p:spPr>
          <a:xfrm>
            <a:off x="9202141" y="5848559"/>
            <a:ext cx="293828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t>3</a:t>
            </a:r>
          </a:p>
        </p:txBody>
      </p:sp>
      <p:sp>
        <p:nvSpPr>
          <p:cNvPr id="394" name="데이터 전처리"/>
          <p:cNvSpPr txBox="1"/>
          <p:nvPr/>
        </p:nvSpPr>
        <p:spPr>
          <a:xfrm>
            <a:off x="11254244" y="5915891"/>
            <a:ext cx="1875513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rPr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</a:t>
            </a:r>
            <a:r>
              <a:rPr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전처리</a:t>
            </a:r>
            <a:endParaRPr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95" name="모서리가 둥근 직사각형"/>
          <p:cNvSpPr/>
          <p:nvPr/>
        </p:nvSpPr>
        <p:spPr>
          <a:xfrm>
            <a:off x="15465614" y="8475444"/>
            <a:ext cx="3745365" cy="551181"/>
          </a:xfrm>
          <a:prstGeom prst="roundRect">
            <a:avLst>
              <a:gd name="adj" fmla="val 50000"/>
            </a:avLst>
          </a:prstGeom>
          <a:solidFill>
            <a:srgbClr val="A5F2D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96" name="타원형"/>
          <p:cNvSpPr/>
          <p:nvPr/>
        </p:nvSpPr>
        <p:spPr>
          <a:xfrm>
            <a:off x="15202113" y="8453056"/>
            <a:ext cx="626010" cy="606589"/>
          </a:xfrm>
          <a:prstGeom prst="ellipse">
            <a:avLst/>
          </a:prstGeom>
          <a:solidFill>
            <a:srgbClr val="74E2B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97" name="4"/>
          <p:cNvSpPr txBox="1"/>
          <p:nvPr/>
        </p:nvSpPr>
        <p:spPr>
          <a:xfrm>
            <a:off x="15355504" y="8475444"/>
            <a:ext cx="293828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t>4</a:t>
            </a:r>
          </a:p>
        </p:txBody>
      </p:sp>
      <p:sp>
        <p:nvSpPr>
          <p:cNvPr id="398" name="모델링"/>
          <p:cNvSpPr txBox="1"/>
          <p:nvPr/>
        </p:nvSpPr>
        <p:spPr>
          <a:xfrm>
            <a:off x="16733992" y="8475444"/>
            <a:ext cx="955549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rPr dirty="0" err="1"/>
              <a:t>모델링</a:t>
            </a:r>
            <a:endParaRPr dirty="0"/>
          </a:p>
        </p:txBody>
      </p:sp>
      <p:sp>
        <p:nvSpPr>
          <p:cNvPr id="399" name="타원형"/>
          <p:cNvSpPr/>
          <p:nvPr/>
        </p:nvSpPr>
        <p:spPr>
          <a:xfrm>
            <a:off x="18581909" y="7189706"/>
            <a:ext cx="626009" cy="606589"/>
          </a:xfrm>
          <a:prstGeom prst="ellipse">
            <a:avLst/>
          </a:prstGeom>
          <a:solidFill>
            <a:srgbClr val="DDE27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00" name="5"/>
          <p:cNvSpPr txBox="1"/>
          <p:nvPr/>
        </p:nvSpPr>
        <p:spPr>
          <a:xfrm>
            <a:off x="18747999" y="7189706"/>
            <a:ext cx="293828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t>5</a:t>
            </a:r>
          </a:p>
        </p:txBody>
      </p:sp>
      <p:sp>
        <p:nvSpPr>
          <p:cNvPr id="401" name="서비스 구축"/>
          <p:cNvSpPr txBox="1"/>
          <p:nvPr/>
        </p:nvSpPr>
        <p:spPr>
          <a:xfrm>
            <a:off x="19882926" y="7189706"/>
            <a:ext cx="1585571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t>서비스 구축</a:t>
            </a:r>
          </a:p>
        </p:txBody>
      </p:sp>
      <p:sp>
        <p:nvSpPr>
          <p:cNvPr id="402" name="총 개발 기간 5/19 ~ 6/23일 (총 5주)"/>
          <p:cNvSpPr txBox="1"/>
          <p:nvPr/>
        </p:nvSpPr>
        <p:spPr>
          <a:xfrm>
            <a:off x="7877343" y="9420579"/>
            <a:ext cx="8629313" cy="8309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>
            <a:lvl1pPr defTabSz="825500">
              <a:defRPr sz="4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>
                <a:latin typeface="Noto Sans KR Thin" panose="020B0200000000000000" pitchFamily="34" charset="-127"/>
                <a:ea typeface="Noto Sans KR Thin" panose="020B0200000000000000" pitchFamily="34" charset="-127"/>
              </a:rPr>
              <a:t>총 </a:t>
            </a:r>
            <a:r>
              <a:rPr dirty="0" err="1">
                <a:latin typeface="Noto Sans KR Thin" panose="020B0200000000000000" pitchFamily="34" charset="-127"/>
                <a:ea typeface="Noto Sans KR Thin" panose="020B0200000000000000" pitchFamily="34" charset="-127"/>
              </a:rPr>
              <a:t>개발</a:t>
            </a:r>
            <a:r>
              <a:rPr dirty="0">
                <a:latin typeface="Noto Sans KR Thin" panose="020B0200000000000000" pitchFamily="34" charset="-127"/>
                <a:ea typeface="Noto Sans KR Thin" panose="020B0200000000000000" pitchFamily="34" charset="-127"/>
              </a:rPr>
              <a:t> </a:t>
            </a:r>
            <a:r>
              <a:rPr dirty="0" err="1">
                <a:latin typeface="Noto Sans KR Thin" panose="020B0200000000000000" pitchFamily="34" charset="-127"/>
                <a:ea typeface="Noto Sans KR Thin" panose="020B0200000000000000" pitchFamily="34" charset="-127"/>
              </a:rPr>
              <a:t>기간</a:t>
            </a:r>
            <a:r>
              <a:rPr dirty="0">
                <a:latin typeface="Noto Sans KR Thin" panose="020B0200000000000000" pitchFamily="34" charset="-127"/>
                <a:ea typeface="Noto Sans KR Thin" panose="020B0200000000000000" pitchFamily="34" charset="-127"/>
              </a:rPr>
              <a:t> 5/19 ~ 6/23일 (총 5주)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D5E5D98-CB0B-9E25-E9BC-B0CA3886BD9B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6B84D777-469E-710F-8B03-C27E1E977A61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330C82EB-C373-B2A2-1B54-659F4C8B0681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B596DD24-BDA8-27C0-53EA-9D8307AB09D0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A801E8C8-0ADE-E9D1-C859-0D9B3D602DCD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" grpId="1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" name="사각형: 둥근 모서리 10"/>
          <p:cNvGrpSpPr/>
          <p:nvPr/>
        </p:nvGrpSpPr>
        <p:grpSpPr>
          <a:xfrm>
            <a:off x="348407" y="300055"/>
            <a:ext cx="22803973" cy="887505"/>
            <a:chOff x="0" y="0"/>
            <a:chExt cx="22803972" cy="887503"/>
          </a:xfrm>
        </p:grpSpPr>
        <p:sp>
          <p:nvSpPr>
            <p:cNvPr id="408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409" name="II.데이터수집"/>
            <p:cNvSpPr txBox="1"/>
            <p:nvPr/>
          </p:nvSpPr>
          <p:spPr>
            <a:xfrm>
              <a:off x="221410" y="3061"/>
              <a:ext cx="22361152" cy="881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II.데이터수집 </a:t>
              </a:r>
            </a:p>
          </p:txBody>
        </p:sp>
      </p:grpSp>
      <p:grpSp>
        <p:nvGrpSpPr>
          <p:cNvPr id="439" name="그룹화"/>
          <p:cNvGrpSpPr/>
          <p:nvPr/>
        </p:nvGrpSpPr>
        <p:grpSpPr>
          <a:xfrm>
            <a:off x="8119420" y="2763996"/>
            <a:ext cx="8593777" cy="8188010"/>
            <a:chOff x="0" y="0"/>
            <a:chExt cx="8593777" cy="8188010"/>
          </a:xfrm>
        </p:grpSpPr>
        <p:sp>
          <p:nvSpPr>
            <p:cNvPr id="418" name="자유형 6"/>
            <p:cNvSpPr/>
            <p:nvPr/>
          </p:nvSpPr>
          <p:spPr>
            <a:xfrm>
              <a:off x="3663879" y="819843"/>
              <a:ext cx="1266019" cy="32581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11997" y="512"/>
                  </a:lnTo>
                  <a:cubicBezTo>
                    <a:pt x="17996" y="3336"/>
                    <a:pt x="21600" y="6958"/>
                    <a:pt x="21600" y="10906"/>
                  </a:cubicBezTo>
                  <a:cubicBezTo>
                    <a:pt x="21600" y="14291"/>
                    <a:pt x="18952" y="17435"/>
                    <a:pt x="14418" y="20043"/>
                  </a:cubicBezTo>
                  <a:lnTo>
                    <a:pt x="13418" y="20562"/>
                  </a:lnTo>
                  <a:lnTo>
                    <a:pt x="12318" y="20951"/>
                  </a:lnTo>
                  <a:lnTo>
                    <a:pt x="10800" y="21600"/>
                  </a:lnTo>
                  <a:lnTo>
                    <a:pt x="9282" y="20951"/>
                  </a:lnTo>
                  <a:lnTo>
                    <a:pt x="8182" y="20562"/>
                  </a:lnTo>
                  <a:lnTo>
                    <a:pt x="7182" y="20043"/>
                  </a:lnTo>
                  <a:cubicBezTo>
                    <a:pt x="2648" y="17435"/>
                    <a:pt x="0" y="14291"/>
                    <a:pt x="0" y="10906"/>
                  </a:cubicBezTo>
                  <a:cubicBezTo>
                    <a:pt x="0" y="6958"/>
                    <a:pt x="3604" y="3336"/>
                    <a:pt x="9603" y="512"/>
                  </a:cubicBezTo>
                  <a:lnTo>
                    <a:pt x="108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419" name="자유형 7"/>
            <p:cNvSpPr/>
            <p:nvPr/>
          </p:nvSpPr>
          <p:spPr>
            <a:xfrm>
              <a:off x="618425" y="3258108"/>
              <a:ext cx="3663880" cy="16717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86" y="0"/>
                  </a:moveTo>
                  <a:cubicBezTo>
                    <a:pt x="14397" y="0"/>
                    <a:pt x="17618" y="2729"/>
                    <a:pt x="20130" y="7273"/>
                  </a:cubicBezTo>
                  <a:lnTo>
                    <a:pt x="20781" y="8571"/>
                  </a:lnTo>
                  <a:lnTo>
                    <a:pt x="21273" y="10010"/>
                  </a:lnTo>
                  <a:lnTo>
                    <a:pt x="21600" y="10800"/>
                  </a:lnTo>
                  <a:lnTo>
                    <a:pt x="21273" y="11590"/>
                  </a:lnTo>
                  <a:lnTo>
                    <a:pt x="20781" y="13029"/>
                  </a:lnTo>
                  <a:lnTo>
                    <a:pt x="20130" y="14327"/>
                  </a:lnTo>
                  <a:cubicBezTo>
                    <a:pt x="17618" y="18871"/>
                    <a:pt x="14397" y="21600"/>
                    <a:pt x="10886" y="21600"/>
                  </a:cubicBezTo>
                  <a:cubicBezTo>
                    <a:pt x="6873" y="21600"/>
                    <a:pt x="3240" y="18035"/>
                    <a:pt x="610" y="12272"/>
                  </a:cubicBezTo>
                  <a:lnTo>
                    <a:pt x="0" y="10800"/>
                  </a:lnTo>
                  <a:lnTo>
                    <a:pt x="610" y="9328"/>
                  </a:lnTo>
                  <a:cubicBezTo>
                    <a:pt x="3240" y="3565"/>
                    <a:pt x="6873" y="0"/>
                    <a:pt x="10886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420" name="자유형 8"/>
            <p:cNvSpPr/>
            <p:nvPr/>
          </p:nvSpPr>
          <p:spPr>
            <a:xfrm>
              <a:off x="4311474" y="3258108"/>
              <a:ext cx="3663880" cy="16717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14" y="0"/>
                  </a:moveTo>
                  <a:cubicBezTo>
                    <a:pt x="14727" y="0"/>
                    <a:pt x="18360" y="3565"/>
                    <a:pt x="20990" y="9328"/>
                  </a:cubicBezTo>
                  <a:lnTo>
                    <a:pt x="21600" y="10800"/>
                  </a:lnTo>
                  <a:lnTo>
                    <a:pt x="20990" y="12272"/>
                  </a:lnTo>
                  <a:cubicBezTo>
                    <a:pt x="18360" y="18035"/>
                    <a:pt x="14727" y="21600"/>
                    <a:pt x="10714" y="21600"/>
                  </a:cubicBezTo>
                  <a:cubicBezTo>
                    <a:pt x="7203" y="21600"/>
                    <a:pt x="3982" y="18871"/>
                    <a:pt x="1470" y="14327"/>
                  </a:cubicBezTo>
                  <a:lnTo>
                    <a:pt x="819" y="13029"/>
                  </a:lnTo>
                  <a:lnTo>
                    <a:pt x="327" y="11590"/>
                  </a:lnTo>
                  <a:lnTo>
                    <a:pt x="0" y="10800"/>
                  </a:lnTo>
                  <a:lnTo>
                    <a:pt x="327" y="10010"/>
                  </a:lnTo>
                  <a:lnTo>
                    <a:pt x="819" y="8571"/>
                  </a:lnTo>
                  <a:lnTo>
                    <a:pt x="1470" y="7273"/>
                  </a:lnTo>
                  <a:cubicBezTo>
                    <a:pt x="3982" y="2729"/>
                    <a:pt x="7203" y="0"/>
                    <a:pt x="10714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421" name="자유형 9"/>
            <p:cNvSpPr/>
            <p:nvPr/>
          </p:nvSpPr>
          <p:spPr>
            <a:xfrm>
              <a:off x="3663879" y="4110052"/>
              <a:ext cx="1266019" cy="32581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12318" y="649"/>
                  </a:lnTo>
                  <a:lnTo>
                    <a:pt x="13418" y="1038"/>
                  </a:lnTo>
                  <a:lnTo>
                    <a:pt x="14418" y="1557"/>
                  </a:lnTo>
                  <a:cubicBezTo>
                    <a:pt x="18952" y="4165"/>
                    <a:pt x="21600" y="7309"/>
                    <a:pt x="21600" y="10694"/>
                  </a:cubicBezTo>
                  <a:cubicBezTo>
                    <a:pt x="21600" y="14642"/>
                    <a:pt x="17996" y="18264"/>
                    <a:pt x="11997" y="21088"/>
                  </a:cubicBezTo>
                  <a:lnTo>
                    <a:pt x="10800" y="21600"/>
                  </a:lnTo>
                  <a:lnTo>
                    <a:pt x="9603" y="21088"/>
                  </a:lnTo>
                  <a:cubicBezTo>
                    <a:pt x="3604" y="18264"/>
                    <a:pt x="0" y="14642"/>
                    <a:pt x="0" y="10694"/>
                  </a:cubicBezTo>
                  <a:cubicBezTo>
                    <a:pt x="0" y="7309"/>
                    <a:pt x="2648" y="4165"/>
                    <a:pt x="7182" y="1557"/>
                  </a:cubicBezTo>
                  <a:lnTo>
                    <a:pt x="8182" y="1038"/>
                  </a:lnTo>
                  <a:lnTo>
                    <a:pt x="9282" y="649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422" name="자유형 10"/>
            <p:cNvSpPr/>
            <p:nvPr/>
          </p:nvSpPr>
          <p:spPr>
            <a:xfrm>
              <a:off x="0" y="0"/>
              <a:ext cx="4296889" cy="40940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391" y="0"/>
                  </a:moveTo>
                  <a:cubicBezTo>
                    <a:pt x="15813" y="0"/>
                    <a:pt x="18910" y="1456"/>
                    <a:pt x="21153" y="3809"/>
                  </a:cubicBezTo>
                  <a:lnTo>
                    <a:pt x="21600" y="4326"/>
                  </a:lnTo>
                  <a:lnTo>
                    <a:pt x="21247" y="4733"/>
                  </a:lnTo>
                  <a:cubicBezTo>
                    <a:pt x="19480" y="6981"/>
                    <a:pt x="18418" y="9863"/>
                    <a:pt x="18418" y="13005"/>
                  </a:cubicBezTo>
                  <a:cubicBezTo>
                    <a:pt x="18418" y="15699"/>
                    <a:pt x="19198" y="18201"/>
                    <a:pt x="20534" y="20276"/>
                  </a:cubicBezTo>
                  <a:lnTo>
                    <a:pt x="20829" y="20690"/>
                  </a:lnTo>
                  <a:lnTo>
                    <a:pt x="20273" y="20160"/>
                  </a:lnTo>
                  <a:cubicBezTo>
                    <a:pt x="18131" y="18304"/>
                    <a:pt x="15385" y="17190"/>
                    <a:pt x="12391" y="17190"/>
                  </a:cubicBezTo>
                  <a:cubicBezTo>
                    <a:pt x="8969" y="17190"/>
                    <a:pt x="5872" y="18645"/>
                    <a:pt x="3629" y="20999"/>
                  </a:cubicBezTo>
                  <a:lnTo>
                    <a:pt x="3109" y="21600"/>
                  </a:lnTo>
                  <a:lnTo>
                    <a:pt x="2830" y="21278"/>
                  </a:lnTo>
                  <a:cubicBezTo>
                    <a:pt x="1062" y="19029"/>
                    <a:pt x="0" y="16147"/>
                    <a:pt x="0" y="13005"/>
                  </a:cubicBezTo>
                  <a:cubicBezTo>
                    <a:pt x="0" y="5823"/>
                    <a:pt x="5548" y="0"/>
                    <a:pt x="12391" y="0"/>
                  </a:cubicBezTo>
                  <a:close/>
                </a:path>
              </a:pathLst>
            </a:custGeom>
            <a:solidFill>
              <a:srgbClr val="ED220D">
                <a:alpha val="66331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23" name="자유형 11"/>
            <p:cNvSpPr/>
            <p:nvPr/>
          </p:nvSpPr>
          <p:spPr>
            <a:xfrm>
              <a:off x="4296888" y="0"/>
              <a:ext cx="4296889" cy="40940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209" y="0"/>
                  </a:moveTo>
                  <a:cubicBezTo>
                    <a:pt x="16052" y="0"/>
                    <a:pt x="21600" y="5823"/>
                    <a:pt x="21600" y="13005"/>
                  </a:cubicBezTo>
                  <a:cubicBezTo>
                    <a:pt x="21600" y="16147"/>
                    <a:pt x="20538" y="19029"/>
                    <a:pt x="18770" y="21278"/>
                  </a:cubicBezTo>
                  <a:lnTo>
                    <a:pt x="18491" y="21600"/>
                  </a:lnTo>
                  <a:lnTo>
                    <a:pt x="17971" y="20999"/>
                  </a:lnTo>
                  <a:cubicBezTo>
                    <a:pt x="15728" y="18645"/>
                    <a:pt x="12631" y="17190"/>
                    <a:pt x="9209" y="17190"/>
                  </a:cubicBezTo>
                  <a:cubicBezTo>
                    <a:pt x="6215" y="17190"/>
                    <a:pt x="3469" y="18304"/>
                    <a:pt x="1327" y="20160"/>
                  </a:cubicBezTo>
                  <a:lnTo>
                    <a:pt x="771" y="20690"/>
                  </a:lnTo>
                  <a:lnTo>
                    <a:pt x="1066" y="20276"/>
                  </a:lnTo>
                  <a:cubicBezTo>
                    <a:pt x="2402" y="18201"/>
                    <a:pt x="3182" y="15699"/>
                    <a:pt x="3182" y="13005"/>
                  </a:cubicBezTo>
                  <a:cubicBezTo>
                    <a:pt x="3182" y="9863"/>
                    <a:pt x="2120" y="6981"/>
                    <a:pt x="353" y="4733"/>
                  </a:cubicBezTo>
                  <a:lnTo>
                    <a:pt x="0" y="4326"/>
                  </a:lnTo>
                  <a:lnTo>
                    <a:pt x="447" y="3809"/>
                  </a:lnTo>
                  <a:cubicBezTo>
                    <a:pt x="2690" y="1456"/>
                    <a:pt x="5787" y="0"/>
                    <a:pt x="9209" y="0"/>
                  </a:cubicBezTo>
                  <a:close/>
                </a:path>
              </a:pathLst>
            </a:custGeom>
            <a:solidFill>
              <a:srgbClr val="00A1FF">
                <a:alpha val="864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24" name="자유형 12"/>
            <p:cNvSpPr/>
            <p:nvPr/>
          </p:nvSpPr>
          <p:spPr>
            <a:xfrm>
              <a:off x="0" y="4094005"/>
              <a:ext cx="4296889" cy="40940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09" y="0"/>
                  </a:moveTo>
                  <a:lnTo>
                    <a:pt x="3629" y="601"/>
                  </a:lnTo>
                  <a:cubicBezTo>
                    <a:pt x="5872" y="2955"/>
                    <a:pt x="8969" y="4410"/>
                    <a:pt x="12391" y="4410"/>
                  </a:cubicBezTo>
                  <a:cubicBezTo>
                    <a:pt x="15385" y="4410"/>
                    <a:pt x="18131" y="3296"/>
                    <a:pt x="20273" y="1440"/>
                  </a:cubicBezTo>
                  <a:lnTo>
                    <a:pt x="20829" y="910"/>
                  </a:lnTo>
                  <a:lnTo>
                    <a:pt x="20534" y="1324"/>
                  </a:lnTo>
                  <a:cubicBezTo>
                    <a:pt x="19198" y="3399"/>
                    <a:pt x="18418" y="5901"/>
                    <a:pt x="18418" y="8595"/>
                  </a:cubicBezTo>
                  <a:cubicBezTo>
                    <a:pt x="18418" y="11737"/>
                    <a:pt x="19480" y="14619"/>
                    <a:pt x="21247" y="16867"/>
                  </a:cubicBezTo>
                  <a:lnTo>
                    <a:pt x="21600" y="17274"/>
                  </a:lnTo>
                  <a:lnTo>
                    <a:pt x="21153" y="17791"/>
                  </a:lnTo>
                  <a:cubicBezTo>
                    <a:pt x="18910" y="20144"/>
                    <a:pt x="15813" y="21600"/>
                    <a:pt x="12391" y="21600"/>
                  </a:cubicBezTo>
                  <a:cubicBezTo>
                    <a:pt x="5548" y="21600"/>
                    <a:pt x="0" y="15777"/>
                    <a:pt x="0" y="8595"/>
                  </a:cubicBezTo>
                  <a:cubicBezTo>
                    <a:pt x="0" y="5453"/>
                    <a:pt x="1062" y="2571"/>
                    <a:pt x="2830" y="322"/>
                  </a:cubicBezTo>
                  <a:lnTo>
                    <a:pt x="3109" y="0"/>
                  </a:lnTo>
                  <a:close/>
                </a:path>
              </a:pathLst>
            </a:custGeom>
            <a:solidFill>
              <a:srgbClr val="00A1FF">
                <a:alpha val="70191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25" name="자유형 13"/>
            <p:cNvSpPr/>
            <p:nvPr/>
          </p:nvSpPr>
          <p:spPr>
            <a:xfrm>
              <a:off x="4296888" y="4094005"/>
              <a:ext cx="4296889" cy="40940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91" y="0"/>
                  </a:moveTo>
                  <a:lnTo>
                    <a:pt x="18770" y="322"/>
                  </a:lnTo>
                  <a:cubicBezTo>
                    <a:pt x="20538" y="2571"/>
                    <a:pt x="21600" y="5453"/>
                    <a:pt x="21600" y="8595"/>
                  </a:cubicBezTo>
                  <a:cubicBezTo>
                    <a:pt x="21600" y="15777"/>
                    <a:pt x="16052" y="21600"/>
                    <a:pt x="9209" y="21600"/>
                  </a:cubicBezTo>
                  <a:cubicBezTo>
                    <a:pt x="5787" y="21600"/>
                    <a:pt x="2690" y="20144"/>
                    <a:pt x="447" y="17791"/>
                  </a:cubicBezTo>
                  <a:lnTo>
                    <a:pt x="0" y="17274"/>
                  </a:lnTo>
                  <a:lnTo>
                    <a:pt x="353" y="16867"/>
                  </a:lnTo>
                  <a:cubicBezTo>
                    <a:pt x="2120" y="14619"/>
                    <a:pt x="3182" y="11737"/>
                    <a:pt x="3182" y="8595"/>
                  </a:cubicBezTo>
                  <a:cubicBezTo>
                    <a:pt x="3182" y="5901"/>
                    <a:pt x="2402" y="3399"/>
                    <a:pt x="1066" y="1324"/>
                  </a:cubicBezTo>
                  <a:lnTo>
                    <a:pt x="771" y="910"/>
                  </a:lnTo>
                  <a:lnTo>
                    <a:pt x="1327" y="1440"/>
                  </a:lnTo>
                  <a:cubicBezTo>
                    <a:pt x="3469" y="3296"/>
                    <a:pt x="6215" y="4410"/>
                    <a:pt x="9209" y="4410"/>
                  </a:cubicBezTo>
                  <a:cubicBezTo>
                    <a:pt x="12631" y="4410"/>
                    <a:pt x="15728" y="2955"/>
                    <a:pt x="17971" y="601"/>
                  </a:cubicBezTo>
                  <a:lnTo>
                    <a:pt x="18491" y="0"/>
                  </a:lnTo>
                  <a:close/>
                </a:path>
              </a:pathLst>
            </a:custGeom>
            <a:solidFill>
              <a:srgbClr val="ED220D">
                <a:alpha val="8684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grpSp>
          <p:nvGrpSpPr>
            <p:cNvPr id="428" name="Group 14"/>
            <p:cNvGrpSpPr/>
            <p:nvPr/>
          </p:nvGrpSpPr>
          <p:grpSpPr>
            <a:xfrm>
              <a:off x="6220383" y="5820045"/>
              <a:ext cx="816350" cy="692463"/>
              <a:chOff x="0" y="0"/>
              <a:chExt cx="816348" cy="692461"/>
            </a:xfrm>
          </p:grpSpPr>
          <p:sp>
            <p:nvSpPr>
              <p:cNvPr id="426" name="Freeform 16"/>
              <p:cNvSpPr/>
              <p:nvPr/>
            </p:nvSpPr>
            <p:spPr>
              <a:xfrm>
                <a:off x="0" y="-1"/>
                <a:ext cx="816349" cy="6924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868" y="17180"/>
                    </a:moveTo>
                    <a:lnTo>
                      <a:pt x="8810" y="17193"/>
                    </a:lnTo>
                    <a:lnTo>
                      <a:pt x="8758" y="17234"/>
                    </a:lnTo>
                    <a:lnTo>
                      <a:pt x="8718" y="17288"/>
                    </a:lnTo>
                    <a:lnTo>
                      <a:pt x="8701" y="17356"/>
                    </a:lnTo>
                    <a:lnTo>
                      <a:pt x="8339" y="19688"/>
                    </a:lnTo>
                    <a:lnTo>
                      <a:pt x="8344" y="19776"/>
                    </a:lnTo>
                    <a:lnTo>
                      <a:pt x="8379" y="19858"/>
                    </a:lnTo>
                    <a:lnTo>
                      <a:pt x="8436" y="19912"/>
                    </a:lnTo>
                    <a:lnTo>
                      <a:pt x="8517" y="19939"/>
                    </a:lnTo>
                    <a:lnTo>
                      <a:pt x="13083" y="19939"/>
                    </a:lnTo>
                    <a:lnTo>
                      <a:pt x="13158" y="19912"/>
                    </a:lnTo>
                    <a:lnTo>
                      <a:pt x="13210" y="19878"/>
                    </a:lnTo>
                    <a:lnTo>
                      <a:pt x="13250" y="19803"/>
                    </a:lnTo>
                    <a:lnTo>
                      <a:pt x="13261" y="19722"/>
                    </a:lnTo>
                    <a:lnTo>
                      <a:pt x="13261" y="19695"/>
                    </a:lnTo>
                    <a:lnTo>
                      <a:pt x="13256" y="19668"/>
                    </a:lnTo>
                    <a:lnTo>
                      <a:pt x="12899" y="17356"/>
                    </a:lnTo>
                    <a:lnTo>
                      <a:pt x="12882" y="17288"/>
                    </a:lnTo>
                    <a:lnTo>
                      <a:pt x="12842" y="17234"/>
                    </a:lnTo>
                    <a:lnTo>
                      <a:pt x="12790" y="17193"/>
                    </a:lnTo>
                    <a:lnTo>
                      <a:pt x="12732" y="17180"/>
                    </a:lnTo>
                    <a:lnTo>
                      <a:pt x="8868" y="17180"/>
                    </a:lnTo>
                    <a:close/>
                    <a:moveTo>
                      <a:pt x="3364" y="2068"/>
                    </a:moveTo>
                    <a:lnTo>
                      <a:pt x="3284" y="2088"/>
                    </a:lnTo>
                    <a:lnTo>
                      <a:pt x="3220" y="2129"/>
                    </a:lnTo>
                    <a:lnTo>
                      <a:pt x="3163" y="2197"/>
                    </a:lnTo>
                    <a:lnTo>
                      <a:pt x="3128" y="2278"/>
                    </a:lnTo>
                    <a:lnTo>
                      <a:pt x="3117" y="2373"/>
                    </a:lnTo>
                    <a:lnTo>
                      <a:pt x="3117" y="12814"/>
                    </a:lnTo>
                    <a:lnTo>
                      <a:pt x="3128" y="12922"/>
                    </a:lnTo>
                    <a:lnTo>
                      <a:pt x="3180" y="13024"/>
                    </a:lnTo>
                    <a:lnTo>
                      <a:pt x="3261" y="13085"/>
                    </a:lnTo>
                    <a:lnTo>
                      <a:pt x="18334" y="13085"/>
                    </a:lnTo>
                    <a:lnTo>
                      <a:pt x="18414" y="13024"/>
                    </a:lnTo>
                    <a:lnTo>
                      <a:pt x="18466" y="12922"/>
                    </a:lnTo>
                    <a:lnTo>
                      <a:pt x="18483" y="12814"/>
                    </a:lnTo>
                    <a:lnTo>
                      <a:pt x="18483" y="2373"/>
                    </a:lnTo>
                    <a:lnTo>
                      <a:pt x="18472" y="2278"/>
                    </a:lnTo>
                    <a:lnTo>
                      <a:pt x="18437" y="2197"/>
                    </a:lnTo>
                    <a:lnTo>
                      <a:pt x="18380" y="2129"/>
                    </a:lnTo>
                    <a:lnTo>
                      <a:pt x="18316" y="2088"/>
                    </a:lnTo>
                    <a:lnTo>
                      <a:pt x="18230" y="2068"/>
                    </a:lnTo>
                    <a:lnTo>
                      <a:pt x="3364" y="2068"/>
                    </a:lnTo>
                    <a:close/>
                    <a:moveTo>
                      <a:pt x="3364" y="0"/>
                    </a:moveTo>
                    <a:lnTo>
                      <a:pt x="18230" y="0"/>
                    </a:lnTo>
                    <a:lnTo>
                      <a:pt x="18506" y="20"/>
                    </a:lnTo>
                    <a:lnTo>
                      <a:pt x="18765" y="88"/>
                    </a:lnTo>
                    <a:lnTo>
                      <a:pt x="19012" y="183"/>
                    </a:lnTo>
                    <a:lnTo>
                      <a:pt x="19242" y="325"/>
                    </a:lnTo>
                    <a:lnTo>
                      <a:pt x="19461" y="495"/>
                    </a:lnTo>
                    <a:lnTo>
                      <a:pt x="19656" y="698"/>
                    </a:lnTo>
                    <a:lnTo>
                      <a:pt x="19829" y="922"/>
                    </a:lnTo>
                    <a:lnTo>
                      <a:pt x="19973" y="1173"/>
                    </a:lnTo>
                    <a:lnTo>
                      <a:pt x="20088" y="1451"/>
                    </a:lnTo>
                    <a:lnTo>
                      <a:pt x="20174" y="1736"/>
                    </a:lnTo>
                    <a:lnTo>
                      <a:pt x="20226" y="2047"/>
                    </a:lnTo>
                    <a:lnTo>
                      <a:pt x="20243" y="2373"/>
                    </a:lnTo>
                    <a:lnTo>
                      <a:pt x="20243" y="12814"/>
                    </a:lnTo>
                    <a:lnTo>
                      <a:pt x="20231" y="13092"/>
                    </a:lnTo>
                    <a:lnTo>
                      <a:pt x="20185" y="13356"/>
                    </a:lnTo>
                    <a:lnTo>
                      <a:pt x="20128" y="13620"/>
                    </a:lnTo>
                    <a:lnTo>
                      <a:pt x="20180" y="13749"/>
                    </a:lnTo>
                    <a:lnTo>
                      <a:pt x="20220" y="13892"/>
                    </a:lnTo>
                    <a:lnTo>
                      <a:pt x="21560" y="20224"/>
                    </a:lnTo>
                    <a:lnTo>
                      <a:pt x="21588" y="20380"/>
                    </a:lnTo>
                    <a:lnTo>
                      <a:pt x="21600" y="20536"/>
                    </a:lnTo>
                    <a:lnTo>
                      <a:pt x="21583" y="20746"/>
                    </a:lnTo>
                    <a:lnTo>
                      <a:pt x="21525" y="20949"/>
                    </a:lnTo>
                    <a:lnTo>
                      <a:pt x="21445" y="21125"/>
                    </a:lnTo>
                    <a:lnTo>
                      <a:pt x="21335" y="21288"/>
                    </a:lnTo>
                    <a:lnTo>
                      <a:pt x="21203" y="21410"/>
                    </a:lnTo>
                    <a:lnTo>
                      <a:pt x="21048" y="21512"/>
                    </a:lnTo>
                    <a:lnTo>
                      <a:pt x="20881" y="21573"/>
                    </a:lnTo>
                    <a:lnTo>
                      <a:pt x="20697" y="21600"/>
                    </a:lnTo>
                    <a:lnTo>
                      <a:pt x="903" y="21600"/>
                    </a:lnTo>
                    <a:lnTo>
                      <a:pt x="742" y="21580"/>
                    </a:lnTo>
                    <a:lnTo>
                      <a:pt x="581" y="21525"/>
                    </a:lnTo>
                    <a:lnTo>
                      <a:pt x="431" y="21444"/>
                    </a:lnTo>
                    <a:lnTo>
                      <a:pt x="299" y="21329"/>
                    </a:lnTo>
                    <a:lnTo>
                      <a:pt x="190" y="21186"/>
                    </a:lnTo>
                    <a:lnTo>
                      <a:pt x="104" y="21024"/>
                    </a:lnTo>
                    <a:lnTo>
                      <a:pt x="40" y="20847"/>
                    </a:lnTo>
                    <a:lnTo>
                      <a:pt x="6" y="20658"/>
                    </a:lnTo>
                    <a:lnTo>
                      <a:pt x="0" y="20468"/>
                    </a:lnTo>
                    <a:lnTo>
                      <a:pt x="29" y="20278"/>
                    </a:lnTo>
                    <a:lnTo>
                      <a:pt x="1380" y="13892"/>
                    </a:lnTo>
                    <a:lnTo>
                      <a:pt x="1420" y="13749"/>
                    </a:lnTo>
                    <a:lnTo>
                      <a:pt x="1472" y="13620"/>
                    </a:lnTo>
                    <a:lnTo>
                      <a:pt x="1409" y="13356"/>
                    </a:lnTo>
                    <a:lnTo>
                      <a:pt x="1369" y="13092"/>
                    </a:lnTo>
                    <a:lnTo>
                      <a:pt x="1357" y="12814"/>
                    </a:lnTo>
                    <a:lnTo>
                      <a:pt x="1357" y="2373"/>
                    </a:lnTo>
                    <a:lnTo>
                      <a:pt x="1374" y="2047"/>
                    </a:lnTo>
                    <a:lnTo>
                      <a:pt x="1426" y="1736"/>
                    </a:lnTo>
                    <a:lnTo>
                      <a:pt x="1512" y="1451"/>
                    </a:lnTo>
                    <a:lnTo>
                      <a:pt x="1627" y="1173"/>
                    </a:lnTo>
                    <a:lnTo>
                      <a:pt x="1771" y="922"/>
                    </a:lnTo>
                    <a:lnTo>
                      <a:pt x="1944" y="698"/>
                    </a:lnTo>
                    <a:lnTo>
                      <a:pt x="2139" y="495"/>
                    </a:lnTo>
                    <a:lnTo>
                      <a:pt x="2352" y="325"/>
                    </a:lnTo>
                    <a:lnTo>
                      <a:pt x="2588" y="183"/>
                    </a:lnTo>
                    <a:lnTo>
                      <a:pt x="2835" y="88"/>
                    </a:lnTo>
                    <a:lnTo>
                      <a:pt x="3094" y="20"/>
                    </a:lnTo>
                    <a:lnTo>
                      <a:pt x="33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914400">
                  <a:defRPr sz="18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427" name="Freeform 17"/>
              <p:cNvSpPr/>
              <p:nvPr/>
            </p:nvSpPr>
            <p:spPr>
              <a:xfrm>
                <a:off x="337754" y="166921"/>
                <a:ext cx="140841" cy="1421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18" y="0"/>
                    </a:moveTo>
                    <a:lnTo>
                      <a:pt x="2081" y="66"/>
                    </a:lnTo>
                    <a:lnTo>
                      <a:pt x="17009" y="5747"/>
                    </a:lnTo>
                    <a:lnTo>
                      <a:pt x="17406" y="5978"/>
                    </a:lnTo>
                    <a:lnTo>
                      <a:pt x="17703" y="6341"/>
                    </a:lnTo>
                    <a:lnTo>
                      <a:pt x="17901" y="6771"/>
                    </a:lnTo>
                    <a:lnTo>
                      <a:pt x="17967" y="7266"/>
                    </a:lnTo>
                    <a:lnTo>
                      <a:pt x="17868" y="7728"/>
                    </a:lnTo>
                    <a:lnTo>
                      <a:pt x="17637" y="8158"/>
                    </a:lnTo>
                    <a:lnTo>
                      <a:pt x="17306" y="8455"/>
                    </a:lnTo>
                    <a:lnTo>
                      <a:pt x="16844" y="8653"/>
                    </a:lnTo>
                    <a:lnTo>
                      <a:pt x="13607" y="9545"/>
                    </a:lnTo>
                    <a:lnTo>
                      <a:pt x="21171" y="17108"/>
                    </a:lnTo>
                    <a:lnTo>
                      <a:pt x="21435" y="17472"/>
                    </a:lnTo>
                    <a:lnTo>
                      <a:pt x="21600" y="17934"/>
                    </a:lnTo>
                    <a:lnTo>
                      <a:pt x="21600" y="18429"/>
                    </a:lnTo>
                    <a:lnTo>
                      <a:pt x="21435" y="18892"/>
                    </a:lnTo>
                    <a:lnTo>
                      <a:pt x="21171" y="19255"/>
                    </a:lnTo>
                    <a:lnTo>
                      <a:pt x="19255" y="21171"/>
                    </a:lnTo>
                    <a:lnTo>
                      <a:pt x="18859" y="21435"/>
                    </a:lnTo>
                    <a:lnTo>
                      <a:pt x="18396" y="21600"/>
                    </a:lnTo>
                    <a:lnTo>
                      <a:pt x="17934" y="21600"/>
                    </a:lnTo>
                    <a:lnTo>
                      <a:pt x="17505" y="21435"/>
                    </a:lnTo>
                    <a:lnTo>
                      <a:pt x="17075" y="21171"/>
                    </a:lnTo>
                    <a:lnTo>
                      <a:pt x="9545" y="13607"/>
                    </a:lnTo>
                    <a:lnTo>
                      <a:pt x="8653" y="16844"/>
                    </a:lnTo>
                    <a:lnTo>
                      <a:pt x="8455" y="17306"/>
                    </a:lnTo>
                    <a:lnTo>
                      <a:pt x="8125" y="17637"/>
                    </a:lnTo>
                    <a:lnTo>
                      <a:pt x="7728" y="17868"/>
                    </a:lnTo>
                    <a:lnTo>
                      <a:pt x="7266" y="17967"/>
                    </a:lnTo>
                    <a:lnTo>
                      <a:pt x="6771" y="17934"/>
                    </a:lnTo>
                    <a:lnTo>
                      <a:pt x="6341" y="17703"/>
                    </a:lnTo>
                    <a:lnTo>
                      <a:pt x="5978" y="17406"/>
                    </a:lnTo>
                    <a:lnTo>
                      <a:pt x="5747" y="17009"/>
                    </a:lnTo>
                    <a:lnTo>
                      <a:pt x="99" y="2048"/>
                    </a:lnTo>
                    <a:lnTo>
                      <a:pt x="0" y="1651"/>
                    </a:lnTo>
                    <a:lnTo>
                      <a:pt x="0" y="1189"/>
                    </a:lnTo>
                    <a:lnTo>
                      <a:pt x="165" y="793"/>
                    </a:lnTo>
                    <a:lnTo>
                      <a:pt x="462" y="429"/>
                    </a:lnTo>
                    <a:lnTo>
                      <a:pt x="793" y="165"/>
                    </a:lnTo>
                    <a:lnTo>
                      <a:pt x="1222" y="33"/>
                    </a:lnTo>
                    <a:lnTo>
                      <a:pt x="16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914400">
                  <a:defRPr sz="18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</p:grpSp>
        <p:grpSp>
          <p:nvGrpSpPr>
            <p:cNvPr id="431" name="Group 28"/>
            <p:cNvGrpSpPr/>
            <p:nvPr/>
          </p:nvGrpSpPr>
          <p:grpSpPr>
            <a:xfrm>
              <a:off x="1578313" y="1606934"/>
              <a:ext cx="882578" cy="772429"/>
              <a:chOff x="0" y="0"/>
              <a:chExt cx="882577" cy="772428"/>
            </a:xfrm>
          </p:grpSpPr>
          <p:sp>
            <p:nvSpPr>
              <p:cNvPr id="429" name="Freeform 30"/>
              <p:cNvSpPr/>
              <p:nvPr/>
            </p:nvSpPr>
            <p:spPr>
              <a:xfrm>
                <a:off x="293274" y="645755"/>
                <a:ext cx="121166" cy="1266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9765"/>
                    </a:lnTo>
                    <a:lnTo>
                      <a:pt x="3983" y="21170"/>
                    </a:lnTo>
                    <a:lnTo>
                      <a:pt x="3326" y="21444"/>
                    </a:lnTo>
                    <a:lnTo>
                      <a:pt x="2669" y="21600"/>
                    </a:lnTo>
                    <a:lnTo>
                      <a:pt x="2012" y="21561"/>
                    </a:lnTo>
                    <a:lnTo>
                      <a:pt x="1396" y="21327"/>
                    </a:lnTo>
                    <a:lnTo>
                      <a:pt x="821" y="20897"/>
                    </a:lnTo>
                    <a:lnTo>
                      <a:pt x="370" y="20389"/>
                    </a:lnTo>
                    <a:lnTo>
                      <a:pt x="82" y="19803"/>
                    </a:lnTo>
                    <a:lnTo>
                      <a:pt x="0" y="191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914400">
                  <a:defRPr sz="18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430" name="Freeform 31"/>
              <p:cNvSpPr/>
              <p:nvPr/>
            </p:nvSpPr>
            <p:spPr>
              <a:xfrm>
                <a:off x="0" y="0"/>
                <a:ext cx="882578" cy="7297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252" y="0"/>
                    </a:moveTo>
                    <a:lnTo>
                      <a:pt x="21336" y="14"/>
                    </a:lnTo>
                    <a:lnTo>
                      <a:pt x="21415" y="48"/>
                    </a:lnTo>
                    <a:lnTo>
                      <a:pt x="21488" y="109"/>
                    </a:lnTo>
                    <a:lnTo>
                      <a:pt x="21555" y="211"/>
                    </a:lnTo>
                    <a:lnTo>
                      <a:pt x="21594" y="333"/>
                    </a:lnTo>
                    <a:lnTo>
                      <a:pt x="21600" y="448"/>
                    </a:lnTo>
                    <a:lnTo>
                      <a:pt x="21572" y="577"/>
                    </a:lnTo>
                    <a:lnTo>
                      <a:pt x="14834" y="21125"/>
                    </a:lnTo>
                    <a:lnTo>
                      <a:pt x="14772" y="21260"/>
                    </a:lnTo>
                    <a:lnTo>
                      <a:pt x="14694" y="21376"/>
                    </a:lnTo>
                    <a:lnTo>
                      <a:pt x="14598" y="21471"/>
                    </a:lnTo>
                    <a:lnTo>
                      <a:pt x="14480" y="21546"/>
                    </a:lnTo>
                    <a:lnTo>
                      <a:pt x="14368" y="21586"/>
                    </a:lnTo>
                    <a:lnTo>
                      <a:pt x="14256" y="21600"/>
                    </a:lnTo>
                    <a:lnTo>
                      <a:pt x="14116" y="21580"/>
                    </a:lnTo>
                    <a:lnTo>
                      <a:pt x="13986" y="21518"/>
                    </a:lnTo>
                    <a:lnTo>
                      <a:pt x="7176" y="17599"/>
                    </a:lnTo>
                    <a:lnTo>
                      <a:pt x="16754" y="5964"/>
                    </a:lnTo>
                    <a:lnTo>
                      <a:pt x="5817" y="16825"/>
                    </a:lnTo>
                    <a:lnTo>
                      <a:pt x="354" y="13680"/>
                    </a:lnTo>
                    <a:lnTo>
                      <a:pt x="236" y="13585"/>
                    </a:lnTo>
                    <a:lnTo>
                      <a:pt x="135" y="13469"/>
                    </a:lnTo>
                    <a:lnTo>
                      <a:pt x="62" y="13334"/>
                    </a:lnTo>
                    <a:lnTo>
                      <a:pt x="17" y="13177"/>
                    </a:lnTo>
                    <a:lnTo>
                      <a:pt x="0" y="13008"/>
                    </a:lnTo>
                    <a:lnTo>
                      <a:pt x="11" y="12845"/>
                    </a:lnTo>
                    <a:lnTo>
                      <a:pt x="56" y="12682"/>
                    </a:lnTo>
                    <a:lnTo>
                      <a:pt x="129" y="12539"/>
                    </a:lnTo>
                    <a:lnTo>
                      <a:pt x="230" y="12423"/>
                    </a:lnTo>
                    <a:lnTo>
                      <a:pt x="348" y="12335"/>
                    </a:lnTo>
                    <a:lnTo>
                      <a:pt x="21095" y="34"/>
                    </a:lnTo>
                    <a:lnTo>
                      <a:pt x="21173" y="7"/>
                    </a:lnTo>
                    <a:lnTo>
                      <a:pt x="21252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914400">
                  <a:defRPr sz="18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</p:grpSp>
        <p:grpSp>
          <p:nvGrpSpPr>
            <p:cNvPr id="437" name="그룹 33"/>
            <p:cNvGrpSpPr/>
            <p:nvPr/>
          </p:nvGrpSpPr>
          <p:grpSpPr>
            <a:xfrm>
              <a:off x="1824343" y="5765791"/>
              <a:ext cx="865683" cy="959506"/>
              <a:chOff x="0" y="0"/>
              <a:chExt cx="865681" cy="959505"/>
            </a:xfrm>
          </p:grpSpPr>
          <p:sp>
            <p:nvSpPr>
              <p:cNvPr id="432" name="Freeform 17"/>
              <p:cNvSpPr/>
              <p:nvPr/>
            </p:nvSpPr>
            <p:spPr>
              <a:xfrm>
                <a:off x="319834" y="196165"/>
                <a:ext cx="379537" cy="2942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704" y="0"/>
                    </a:moveTo>
                    <a:lnTo>
                      <a:pt x="12667" y="22"/>
                    </a:lnTo>
                    <a:lnTo>
                      <a:pt x="13648" y="135"/>
                    </a:lnTo>
                    <a:lnTo>
                      <a:pt x="14612" y="381"/>
                    </a:lnTo>
                    <a:lnTo>
                      <a:pt x="15559" y="718"/>
                    </a:lnTo>
                    <a:lnTo>
                      <a:pt x="16488" y="1166"/>
                    </a:lnTo>
                    <a:lnTo>
                      <a:pt x="17383" y="1727"/>
                    </a:lnTo>
                    <a:lnTo>
                      <a:pt x="18244" y="2355"/>
                    </a:lnTo>
                    <a:lnTo>
                      <a:pt x="19053" y="3140"/>
                    </a:lnTo>
                    <a:lnTo>
                      <a:pt x="19844" y="3993"/>
                    </a:lnTo>
                    <a:lnTo>
                      <a:pt x="20567" y="4957"/>
                    </a:lnTo>
                    <a:lnTo>
                      <a:pt x="21600" y="6437"/>
                    </a:lnTo>
                    <a:lnTo>
                      <a:pt x="19208" y="9264"/>
                    </a:lnTo>
                    <a:lnTo>
                      <a:pt x="18812" y="8770"/>
                    </a:lnTo>
                    <a:lnTo>
                      <a:pt x="18416" y="8411"/>
                    </a:lnTo>
                    <a:lnTo>
                      <a:pt x="17986" y="8164"/>
                    </a:lnTo>
                    <a:lnTo>
                      <a:pt x="17573" y="8007"/>
                    </a:lnTo>
                    <a:lnTo>
                      <a:pt x="17160" y="7940"/>
                    </a:lnTo>
                    <a:lnTo>
                      <a:pt x="16764" y="7940"/>
                    </a:lnTo>
                    <a:lnTo>
                      <a:pt x="16385" y="7985"/>
                    </a:lnTo>
                    <a:lnTo>
                      <a:pt x="16006" y="8097"/>
                    </a:lnTo>
                    <a:lnTo>
                      <a:pt x="15679" y="8232"/>
                    </a:lnTo>
                    <a:lnTo>
                      <a:pt x="15387" y="8366"/>
                    </a:lnTo>
                    <a:lnTo>
                      <a:pt x="15111" y="8523"/>
                    </a:lnTo>
                    <a:lnTo>
                      <a:pt x="14905" y="8658"/>
                    </a:lnTo>
                    <a:lnTo>
                      <a:pt x="14750" y="8770"/>
                    </a:lnTo>
                    <a:lnTo>
                      <a:pt x="14647" y="8860"/>
                    </a:lnTo>
                    <a:lnTo>
                      <a:pt x="14612" y="8882"/>
                    </a:lnTo>
                    <a:lnTo>
                      <a:pt x="12031" y="11933"/>
                    </a:lnTo>
                    <a:lnTo>
                      <a:pt x="11635" y="12471"/>
                    </a:lnTo>
                    <a:lnTo>
                      <a:pt x="11308" y="13032"/>
                    </a:lnTo>
                    <a:lnTo>
                      <a:pt x="11101" y="13570"/>
                    </a:lnTo>
                    <a:lnTo>
                      <a:pt x="10981" y="14153"/>
                    </a:lnTo>
                    <a:lnTo>
                      <a:pt x="10929" y="14669"/>
                    </a:lnTo>
                    <a:lnTo>
                      <a:pt x="10929" y="15185"/>
                    </a:lnTo>
                    <a:lnTo>
                      <a:pt x="10981" y="15701"/>
                    </a:lnTo>
                    <a:lnTo>
                      <a:pt x="11067" y="16150"/>
                    </a:lnTo>
                    <a:lnTo>
                      <a:pt x="11187" y="16576"/>
                    </a:lnTo>
                    <a:lnTo>
                      <a:pt x="11308" y="16979"/>
                    </a:lnTo>
                    <a:lnTo>
                      <a:pt x="11463" y="17293"/>
                    </a:lnTo>
                    <a:lnTo>
                      <a:pt x="11583" y="17563"/>
                    </a:lnTo>
                    <a:lnTo>
                      <a:pt x="11686" y="17764"/>
                    </a:lnTo>
                    <a:lnTo>
                      <a:pt x="11772" y="17921"/>
                    </a:lnTo>
                    <a:lnTo>
                      <a:pt x="11807" y="17989"/>
                    </a:lnTo>
                    <a:lnTo>
                      <a:pt x="8692" y="21600"/>
                    </a:lnTo>
                    <a:lnTo>
                      <a:pt x="0" y="8972"/>
                    </a:lnTo>
                    <a:lnTo>
                      <a:pt x="4389" y="3813"/>
                    </a:lnTo>
                    <a:lnTo>
                      <a:pt x="5198" y="2983"/>
                    </a:lnTo>
                    <a:lnTo>
                      <a:pt x="6058" y="2221"/>
                    </a:lnTo>
                    <a:lnTo>
                      <a:pt x="6936" y="1593"/>
                    </a:lnTo>
                    <a:lnTo>
                      <a:pt x="7865" y="1032"/>
                    </a:lnTo>
                    <a:lnTo>
                      <a:pt x="8795" y="628"/>
                    </a:lnTo>
                    <a:lnTo>
                      <a:pt x="9759" y="292"/>
                    </a:lnTo>
                    <a:lnTo>
                      <a:pt x="10723" y="90"/>
                    </a:lnTo>
                    <a:lnTo>
                      <a:pt x="117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914400">
                  <a:defRPr sz="18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433" name="Freeform 18"/>
              <p:cNvSpPr/>
              <p:nvPr/>
            </p:nvSpPr>
            <p:spPr>
              <a:xfrm>
                <a:off x="-1" y="332628"/>
                <a:ext cx="631138" cy="6268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341" y="0"/>
                    </a:moveTo>
                    <a:lnTo>
                      <a:pt x="21600" y="12637"/>
                    </a:lnTo>
                    <a:lnTo>
                      <a:pt x="14073" y="19438"/>
                    </a:lnTo>
                    <a:lnTo>
                      <a:pt x="13646" y="19795"/>
                    </a:lnTo>
                    <a:lnTo>
                      <a:pt x="13198" y="20110"/>
                    </a:lnTo>
                    <a:lnTo>
                      <a:pt x="12718" y="20414"/>
                    </a:lnTo>
                    <a:lnTo>
                      <a:pt x="12218" y="20676"/>
                    </a:lnTo>
                    <a:lnTo>
                      <a:pt x="11697" y="20918"/>
                    </a:lnTo>
                    <a:lnTo>
                      <a:pt x="11154" y="21107"/>
                    </a:lnTo>
                    <a:lnTo>
                      <a:pt x="10612" y="21275"/>
                    </a:lnTo>
                    <a:lnTo>
                      <a:pt x="10049" y="21411"/>
                    </a:lnTo>
                    <a:lnTo>
                      <a:pt x="9486" y="21516"/>
                    </a:lnTo>
                    <a:lnTo>
                      <a:pt x="8924" y="21579"/>
                    </a:lnTo>
                    <a:lnTo>
                      <a:pt x="8350" y="21600"/>
                    </a:lnTo>
                    <a:lnTo>
                      <a:pt x="7787" y="21590"/>
                    </a:lnTo>
                    <a:lnTo>
                      <a:pt x="7235" y="21537"/>
                    </a:lnTo>
                    <a:lnTo>
                      <a:pt x="6693" y="21453"/>
                    </a:lnTo>
                    <a:lnTo>
                      <a:pt x="6171" y="21327"/>
                    </a:lnTo>
                    <a:lnTo>
                      <a:pt x="5650" y="21149"/>
                    </a:lnTo>
                    <a:lnTo>
                      <a:pt x="5150" y="20939"/>
                    </a:lnTo>
                    <a:lnTo>
                      <a:pt x="4681" y="20687"/>
                    </a:lnTo>
                    <a:lnTo>
                      <a:pt x="4232" y="20393"/>
                    </a:lnTo>
                    <a:lnTo>
                      <a:pt x="3826" y="20047"/>
                    </a:lnTo>
                    <a:lnTo>
                      <a:pt x="3440" y="19669"/>
                    </a:lnTo>
                    <a:lnTo>
                      <a:pt x="1439" y="17433"/>
                    </a:lnTo>
                    <a:lnTo>
                      <a:pt x="1105" y="17003"/>
                    </a:lnTo>
                    <a:lnTo>
                      <a:pt x="803" y="16552"/>
                    </a:lnTo>
                    <a:lnTo>
                      <a:pt x="563" y="16079"/>
                    </a:lnTo>
                    <a:lnTo>
                      <a:pt x="365" y="15576"/>
                    </a:lnTo>
                    <a:lnTo>
                      <a:pt x="208" y="15061"/>
                    </a:lnTo>
                    <a:lnTo>
                      <a:pt x="94" y="14526"/>
                    </a:lnTo>
                    <a:lnTo>
                      <a:pt x="31" y="13970"/>
                    </a:lnTo>
                    <a:lnTo>
                      <a:pt x="0" y="13413"/>
                    </a:lnTo>
                    <a:lnTo>
                      <a:pt x="10" y="12857"/>
                    </a:lnTo>
                    <a:lnTo>
                      <a:pt x="63" y="12290"/>
                    </a:lnTo>
                    <a:lnTo>
                      <a:pt x="146" y="11724"/>
                    </a:lnTo>
                    <a:lnTo>
                      <a:pt x="271" y="11167"/>
                    </a:lnTo>
                    <a:lnTo>
                      <a:pt x="427" y="10611"/>
                    </a:lnTo>
                    <a:lnTo>
                      <a:pt x="625" y="10065"/>
                    </a:lnTo>
                    <a:lnTo>
                      <a:pt x="844" y="9530"/>
                    </a:lnTo>
                    <a:lnTo>
                      <a:pt x="1105" y="9026"/>
                    </a:lnTo>
                    <a:lnTo>
                      <a:pt x="1386" y="8533"/>
                    </a:lnTo>
                    <a:lnTo>
                      <a:pt x="1710" y="8061"/>
                    </a:lnTo>
                    <a:lnTo>
                      <a:pt x="2054" y="7609"/>
                    </a:lnTo>
                    <a:lnTo>
                      <a:pt x="2419" y="7190"/>
                    </a:lnTo>
                    <a:lnTo>
                      <a:pt x="2815" y="6812"/>
                    </a:lnTo>
                    <a:lnTo>
                      <a:pt x="10341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914400">
                  <a:defRPr sz="18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434" name="Freeform 19"/>
              <p:cNvSpPr/>
              <p:nvPr/>
            </p:nvSpPr>
            <p:spPr>
              <a:xfrm>
                <a:off x="494674" y="307041"/>
                <a:ext cx="298512" cy="3795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551" y="0"/>
                    </a:moveTo>
                    <a:lnTo>
                      <a:pt x="17868" y="1153"/>
                    </a:lnTo>
                    <a:lnTo>
                      <a:pt x="18724" y="1975"/>
                    </a:lnTo>
                    <a:lnTo>
                      <a:pt x="19471" y="2831"/>
                    </a:lnTo>
                    <a:lnTo>
                      <a:pt x="20085" y="3740"/>
                    </a:lnTo>
                    <a:lnTo>
                      <a:pt x="20612" y="4666"/>
                    </a:lnTo>
                    <a:lnTo>
                      <a:pt x="21007" y="5610"/>
                    </a:lnTo>
                    <a:lnTo>
                      <a:pt x="21315" y="6588"/>
                    </a:lnTo>
                    <a:lnTo>
                      <a:pt x="21512" y="7567"/>
                    </a:lnTo>
                    <a:lnTo>
                      <a:pt x="21600" y="8563"/>
                    </a:lnTo>
                    <a:lnTo>
                      <a:pt x="21578" y="9559"/>
                    </a:lnTo>
                    <a:lnTo>
                      <a:pt x="21468" y="10538"/>
                    </a:lnTo>
                    <a:lnTo>
                      <a:pt x="21249" y="11517"/>
                    </a:lnTo>
                    <a:lnTo>
                      <a:pt x="20920" y="12478"/>
                    </a:lnTo>
                    <a:lnTo>
                      <a:pt x="20480" y="13421"/>
                    </a:lnTo>
                    <a:lnTo>
                      <a:pt x="19932" y="14313"/>
                    </a:lnTo>
                    <a:lnTo>
                      <a:pt x="19317" y="15204"/>
                    </a:lnTo>
                    <a:lnTo>
                      <a:pt x="18549" y="16043"/>
                    </a:lnTo>
                    <a:lnTo>
                      <a:pt x="17693" y="16829"/>
                    </a:lnTo>
                    <a:lnTo>
                      <a:pt x="16771" y="17581"/>
                    </a:lnTo>
                    <a:lnTo>
                      <a:pt x="11129" y="21600"/>
                    </a:lnTo>
                    <a:lnTo>
                      <a:pt x="0" y="11726"/>
                    </a:lnTo>
                    <a:lnTo>
                      <a:pt x="3951" y="8895"/>
                    </a:lnTo>
                    <a:lnTo>
                      <a:pt x="3951" y="8860"/>
                    </a:lnTo>
                    <a:lnTo>
                      <a:pt x="4500" y="9262"/>
                    </a:lnTo>
                    <a:lnTo>
                      <a:pt x="5027" y="9577"/>
                    </a:lnTo>
                    <a:lnTo>
                      <a:pt x="5576" y="9769"/>
                    </a:lnTo>
                    <a:lnTo>
                      <a:pt x="6124" y="9891"/>
                    </a:lnTo>
                    <a:lnTo>
                      <a:pt x="6651" y="9944"/>
                    </a:lnTo>
                    <a:lnTo>
                      <a:pt x="7200" y="9926"/>
                    </a:lnTo>
                    <a:lnTo>
                      <a:pt x="7683" y="9874"/>
                    </a:lnTo>
                    <a:lnTo>
                      <a:pt x="8166" y="9769"/>
                    </a:lnTo>
                    <a:lnTo>
                      <a:pt x="8583" y="9647"/>
                    </a:lnTo>
                    <a:lnTo>
                      <a:pt x="8978" y="9524"/>
                    </a:lnTo>
                    <a:lnTo>
                      <a:pt x="9285" y="9367"/>
                    </a:lnTo>
                    <a:lnTo>
                      <a:pt x="9571" y="9245"/>
                    </a:lnTo>
                    <a:lnTo>
                      <a:pt x="9900" y="9070"/>
                    </a:lnTo>
                    <a:lnTo>
                      <a:pt x="9944" y="9052"/>
                    </a:lnTo>
                    <a:lnTo>
                      <a:pt x="13061" y="6833"/>
                    </a:lnTo>
                    <a:lnTo>
                      <a:pt x="13566" y="6396"/>
                    </a:lnTo>
                    <a:lnTo>
                      <a:pt x="13939" y="5977"/>
                    </a:lnTo>
                    <a:lnTo>
                      <a:pt x="14202" y="5540"/>
                    </a:lnTo>
                    <a:lnTo>
                      <a:pt x="14378" y="5120"/>
                    </a:lnTo>
                    <a:lnTo>
                      <a:pt x="14466" y="4701"/>
                    </a:lnTo>
                    <a:lnTo>
                      <a:pt x="14466" y="4299"/>
                    </a:lnTo>
                    <a:lnTo>
                      <a:pt x="14400" y="3915"/>
                    </a:lnTo>
                    <a:lnTo>
                      <a:pt x="14290" y="3548"/>
                    </a:lnTo>
                    <a:lnTo>
                      <a:pt x="14137" y="3233"/>
                    </a:lnTo>
                    <a:lnTo>
                      <a:pt x="13983" y="2953"/>
                    </a:lnTo>
                    <a:lnTo>
                      <a:pt x="13829" y="2691"/>
                    </a:lnTo>
                    <a:lnTo>
                      <a:pt x="13698" y="2482"/>
                    </a:lnTo>
                    <a:lnTo>
                      <a:pt x="13566" y="2342"/>
                    </a:lnTo>
                    <a:lnTo>
                      <a:pt x="13478" y="2237"/>
                    </a:lnTo>
                    <a:lnTo>
                      <a:pt x="13456" y="2219"/>
                    </a:lnTo>
                    <a:lnTo>
                      <a:pt x="165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914400">
                  <a:defRPr sz="18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435" name="Freeform 20"/>
              <p:cNvSpPr/>
              <p:nvPr/>
            </p:nvSpPr>
            <p:spPr>
              <a:xfrm>
                <a:off x="699367" y="0"/>
                <a:ext cx="166315" cy="3070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224" y="0"/>
                    </a:moveTo>
                    <a:lnTo>
                      <a:pt x="13886" y="64"/>
                    </a:lnTo>
                    <a:lnTo>
                      <a:pt x="15666" y="234"/>
                    </a:lnTo>
                    <a:lnTo>
                      <a:pt x="17486" y="489"/>
                    </a:lnTo>
                    <a:lnTo>
                      <a:pt x="19385" y="829"/>
                    </a:lnTo>
                    <a:lnTo>
                      <a:pt x="21284" y="1276"/>
                    </a:lnTo>
                    <a:lnTo>
                      <a:pt x="21521" y="1361"/>
                    </a:lnTo>
                    <a:lnTo>
                      <a:pt x="21600" y="1531"/>
                    </a:lnTo>
                    <a:lnTo>
                      <a:pt x="21560" y="1722"/>
                    </a:lnTo>
                    <a:lnTo>
                      <a:pt x="21363" y="1935"/>
                    </a:lnTo>
                    <a:lnTo>
                      <a:pt x="21046" y="2169"/>
                    </a:lnTo>
                    <a:lnTo>
                      <a:pt x="20611" y="2402"/>
                    </a:lnTo>
                    <a:lnTo>
                      <a:pt x="20176" y="2551"/>
                    </a:lnTo>
                    <a:lnTo>
                      <a:pt x="19741" y="2657"/>
                    </a:lnTo>
                    <a:lnTo>
                      <a:pt x="19345" y="2700"/>
                    </a:lnTo>
                    <a:lnTo>
                      <a:pt x="18989" y="2657"/>
                    </a:lnTo>
                    <a:lnTo>
                      <a:pt x="17090" y="2232"/>
                    </a:lnTo>
                    <a:lnTo>
                      <a:pt x="15270" y="1892"/>
                    </a:lnTo>
                    <a:lnTo>
                      <a:pt x="13609" y="1680"/>
                    </a:lnTo>
                    <a:lnTo>
                      <a:pt x="12066" y="1531"/>
                    </a:lnTo>
                    <a:lnTo>
                      <a:pt x="10602" y="1446"/>
                    </a:lnTo>
                    <a:lnTo>
                      <a:pt x="9297" y="1446"/>
                    </a:lnTo>
                    <a:lnTo>
                      <a:pt x="8110" y="1488"/>
                    </a:lnTo>
                    <a:lnTo>
                      <a:pt x="7042" y="1594"/>
                    </a:lnTo>
                    <a:lnTo>
                      <a:pt x="6132" y="1743"/>
                    </a:lnTo>
                    <a:lnTo>
                      <a:pt x="5380" y="1913"/>
                    </a:lnTo>
                    <a:lnTo>
                      <a:pt x="4708" y="2126"/>
                    </a:lnTo>
                    <a:lnTo>
                      <a:pt x="4233" y="2360"/>
                    </a:lnTo>
                    <a:lnTo>
                      <a:pt x="3798" y="2679"/>
                    </a:lnTo>
                    <a:lnTo>
                      <a:pt x="3481" y="3083"/>
                    </a:lnTo>
                    <a:lnTo>
                      <a:pt x="3284" y="3550"/>
                    </a:lnTo>
                    <a:lnTo>
                      <a:pt x="3244" y="4061"/>
                    </a:lnTo>
                    <a:lnTo>
                      <a:pt x="3363" y="4635"/>
                    </a:lnTo>
                    <a:lnTo>
                      <a:pt x="3679" y="5251"/>
                    </a:lnTo>
                    <a:lnTo>
                      <a:pt x="4154" y="5910"/>
                    </a:lnTo>
                    <a:lnTo>
                      <a:pt x="4905" y="6591"/>
                    </a:lnTo>
                    <a:lnTo>
                      <a:pt x="5895" y="7292"/>
                    </a:lnTo>
                    <a:lnTo>
                      <a:pt x="7121" y="8015"/>
                    </a:lnTo>
                    <a:lnTo>
                      <a:pt x="8664" y="8738"/>
                    </a:lnTo>
                    <a:lnTo>
                      <a:pt x="10365" y="9546"/>
                    </a:lnTo>
                    <a:lnTo>
                      <a:pt x="11789" y="10332"/>
                    </a:lnTo>
                    <a:lnTo>
                      <a:pt x="13055" y="11119"/>
                    </a:lnTo>
                    <a:lnTo>
                      <a:pt x="13965" y="11884"/>
                    </a:lnTo>
                    <a:lnTo>
                      <a:pt x="14716" y="12628"/>
                    </a:lnTo>
                    <a:lnTo>
                      <a:pt x="15152" y="13394"/>
                    </a:lnTo>
                    <a:lnTo>
                      <a:pt x="15389" y="14138"/>
                    </a:lnTo>
                    <a:lnTo>
                      <a:pt x="15349" y="14861"/>
                    </a:lnTo>
                    <a:lnTo>
                      <a:pt x="15073" y="15583"/>
                    </a:lnTo>
                    <a:lnTo>
                      <a:pt x="14558" y="16285"/>
                    </a:lnTo>
                    <a:lnTo>
                      <a:pt x="13727" y="16987"/>
                    </a:lnTo>
                    <a:lnTo>
                      <a:pt x="12897" y="17603"/>
                    </a:lnTo>
                    <a:lnTo>
                      <a:pt x="11947" y="18198"/>
                    </a:lnTo>
                    <a:lnTo>
                      <a:pt x="10998" y="18709"/>
                    </a:lnTo>
                    <a:lnTo>
                      <a:pt x="10009" y="19219"/>
                    </a:lnTo>
                    <a:lnTo>
                      <a:pt x="8980" y="19644"/>
                    </a:lnTo>
                    <a:lnTo>
                      <a:pt x="7991" y="20069"/>
                    </a:lnTo>
                    <a:lnTo>
                      <a:pt x="7002" y="20409"/>
                    </a:lnTo>
                    <a:lnTo>
                      <a:pt x="6092" y="20707"/>
                    </a:lnTo>
                    <a:lnTo>
                      <a:pt x="5222" y="20962"/>
                    </a:lnTo>
                    <a:lnTo>
                      <a:pt x="4510" y="21175"/>
                    </a:lnTo>
                    <a:lnTo>
                      <a:pt x="3877" y="21366"/>
                    </a:lnTo>
                    <a:lnTo>
                      <a:pt x="3363" y="21494"/>
                    </a:lnTo>
                    <a:lnTo>
                      <a:pt x="3007" y="21579"/>
                    </a:lnTo>
                    <a:lnTo>
                      <a:pt x="2809" y="21600"/>
                    </a:lnTo>
                    <a:lnTo>
                      <a:pt x="0" y="19963"/>
                    </a:lnTo>
                    <a:lnTo>
                      <a:pt x="198" y="19814"/>
                    </a:lnTo>
                    <a:lnTo>
                      <a:pt x="554" y="19708"/>
                    </a:lnTo>
                    <a:lnTo>
                      <a:pt x="1662" y="19538"/>
                    </a:lnTo>
                    <a:lnTo>
                      <a:pt x="2848" y="19410"/>
                    </a:lnTo>
                    <a:lnTo>
                      <a:pt x="3363" y="19368"/>
                    </a:lnTo>
                    <a:lnTo>
                      <a:pt x="3719" y="19346"/>
                    </a:lnTo>
                    <a:lnTo>
                      <a:pt x="5301" y="19028"/>
                    </a:lnTo>
                    <a:lnTo>
                      <a:pt x="6686" y="18687"/>
                    </a:lnTo>
                    <a:lnTo>
                      <a:pt x="7873" y="18326"/>
                    </a:lnTo>
                    <a:lnTo>
                      <a:pt x="8822" y="17986"/>
                    </a:lnTo>
                    <a:lnTo>
                      <a:pt x="9574" y="17624"/>
                    </a:lnTo>
                    <a:lnTo>
                      <a:pt x="10207" y="17327"/>
                    </a:lnTo>
                    <a:lnTo>
                      <a:pt x="10642" y="17050"/>
                    </a:lnTo>
                    <a:lnTo>
                      <a:pt x="10958" y="16838"/>
                    </a:lnTo>
                    <a:lnTo>
                      <a:pt x="11116" y="16710"/>
                    </a:lnTo>
                    <a:lnTo>
                      <a:pt x="11156" y="16668"/>
                    </a:lnTo>
                    <a:lnTo>
                      <a:pt x="11433" y="16434"/>
                    </a:lnTo>
                    <a:lnTo>
                      <a:pt x="11670" y="16179"/>
                    </a:lnTo>
                    <a:lnTo>
                      <a:pt x="11908" y="15902"/>
                    </a:lnTo>
                    <a:lnTo>
                      <a:pt x="12105" y="15605"/>
                    </a:lnTo>
                    <a:lnTo>
                      <a:pt x="12224" y="15243"/>
                    </a:lnTo>
                    <a:lnTo>
                      <a:pt x="12264" y="14882"/>
                    </a:lnTo>
                    <a:lnTo>
                      <a:pt x="12185" y="14478"/>
                    </a:lnTo>
                    <a:lnTo>
                      <a:pt x="11947" y="14031"/>
                    </a:lnTo>
                    <a:lnTo>
                      <a:pt x="11670" y="13585"/>
                    </a:lnTo>
                    <a:lnTo>
                      <a:pt x="11196" y="13096"/>
                    </a:lnTo>
                    <a:lnTo>
                      <a:pt x="10602" y="12543"/>
                    </a:lnTo>
                    <a:lnTo>
                      <a:pt x="9811" y="11991"/>
                    </a:lnTo>
                    <a:lnTo>
                      <a:pt x="8782" y="11374"/>
                    </a:lnTo>
                    <a:lnTo>
                      <a:pt x="7596" y="10736"/>
                    </a:lnTo>
                    <a:lnTo>
                      <a:pt x="4668" y="9376"/>
                    </a:lnTo>
                    <a:lnTo>
                      <a:pt x="3442" y="8653"/>
                    </a:lnTo>
                    <a:lnTo>
                      <a:pt x="2374" y="7930"/>
                    </a:lnTo>
                    <a:lnTo>
                      <a:pt x="1543" y="7228"/>
                    </a:lnTo>
                    <a:lnTo>
                      <a:pt x="949" y="6506"/>
                    </a:lnTo>
                    <a:lnTo>
                      <a:pt x="475" y="5783"/>
                    </a:lnTo>
                    <a:lnTo>
                      <a:pt x="277" y="5081"/>
                    </a:lnTo>
                    <a:lnTo>
                      <a:pt x="316" y="4380"/>
                    </a:lnTo>
                    <a:lnTo>
                      <a:pt x="554" y="3720"/>
                    </a:lnTo>
                    <a:lnTo>
                      <a:pt x="1068" y="3061"/>
                    </a:lnTo>
                    <a:lnTo>
                      <a:pt x="1741" y="2445"/>
                    </a:lnTo>
                    <a:lnTo>
                      <a:pt x="2651" y="1828"/>
                    </a:lnTo>
                    <a:lnTo>
                      <a:pt x="3719" y="1318"/>
                    </a:lnTo>
                    <a:lnTo>
                      <a:pt x="4866" y="872"/>
                    </a:lnTo>
                    <a:lnTo>
                      <a:pt x="6171" y="531"/>
                    </a:lnTo>
                    <a:lnTo>
                      <a:pt x="7516" y="276"/>
                    </a:lnTo>
                    <a:lnTo>
                      <a:pt x="8980" y="85"/>
                    </a:lnTo>
                    <a:lnTo>
                      <a:pt x="10563" y="0"/>
                    </a:lnTo>
                    <a:lnTo>
                      <a:pt x="122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914400">
                  <a:defRPr sz="18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436" name="Freeform 21"/>
              <p:cNvSpPr/>
              <p:nvPr/>
            </p:nvSpPr>
            <p:spPr>
              <a:xfrm>
                <a:off x="550113" y="336891"/>
                <a:ext cx="110877" cy="1066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521" y="0"/>
                    </a:moveTo>
                    <a:lnTo>
                      <a:pt x="16702" y="185"/>
                    </a:lnTo>
                    <a:lnTo>
                      <a:pt x="17882" y="677"/>
                    </a:lnTo>
                    <a:lnTo>
                      <a:pt x="19003" y="1354"/>
                    </a:lnTo>
                    <a:lnTo>
                      <a:pt x="19948" y="2277"/>
                    </a:lnTo>
                    <a:lnTo>
                      <a:pt x="20656" y="3323"/>
                    </a:lnTo>
                    <a:lnTo>
                      <a:pt x="21246" y="4615"/>
                    </a:lnTo>
                    <a:lnTo>
                      <a:pt x="21541" y="5846"/>
                    </a:lnTo>
                    <a:lnTo>
                      <a:pt x="21600" y="7077"/>
                    </a:lnTo>
                    <a:lnTo>
                      <a:pt x="21423" y="8369"/>
                    </a:lnTo>
                    <a:lnTo>
                      <a:pt x="21010" y="9600"/>
                    </a:lnTo>
                    <a:lnTo>
                      <a:pt x="20302" y="10769"/>
                    </a:lnTo>
                    <a:lnTo>
                      <a:pt x="19475" y="11754"/>
                    </a:lnTo>
                    <a:lnTo>
                      <a:pt x="10741" y="19877"/>
                    </a:lnTo>
                    <a:lnTo>
                      <a:pt x="9679" y="20677"/>
                    </a:lnTo>
                    <a:lnTo>
                      <a:pt x="8557" y="21292"/>
                    </a:lnTo>
                    <a:lnTo>
                      <a:pt x="7318" y="21600"/>
                    </a:lnTo>
                    <a:lnTo>
                      <a:pt x="6079" y="21600"/>
                    </a:lnTo>
                    <a:lnTo>
                      <a:pt x="4898" y="21415"/>
                    </a:lnTo>
                    <a:lnTo>
                      <a:pt x="3718" y="20923"/>
                    </a:lnTo>
                    <a:lnTo>
                      <a:pt x="2597" y="20308"/>
                    </a:lnTo>
                    <a:lnTo>
                      <a:pt x="1652" y="19385"/>
                    </a:lnTo>
                    <a:lnTo>
                      <a:pt x="885" y="18277"/>
                    </a:lnTo>
                    <a:lnTo>
                      <a:pt x="354" y="17046"/>
                    </a:lnTo>
                    <a:lnTo>
                      <a:pt x="59" y="15815"/>
                    </a:lnTo>
                    <a:lnTo>
                      <a:pt x="0" y="14523"/>
                    </a:lnTo>
                    <a:lnTo>
                      <a:pt x="177" y="13231"/>
                    </a:lnTo>
                    <a:lnTo>
                      <a:pt x="590" y="12062"/>
                    </a:lnTo>
                    <a:lnTo>
                      <a:pt x="1298" y="10954"/>
                    </a:lnTo>
                    <a:lnTo>
                      <a:pt x="2184" y="9908"/>
                    </a:lnTo>
                    <a:lnTo>
                      <a:pt x="10800" y="1785"/>
                    </a:lnTo>
                    <a:lnTo>
                      <a:pt x="11921" y="985"/>
                    </a:lnTo>
                    <a:lnTo>
                      <a:pt x="13043" y="431"/>
                    </a:lnTo>
                    <a:lnTo>
                      <a:pt x="14223" y="62"/>
                    </a:lnTo>
                    <a:lnTo>
                      <a:pt x="15521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914400">
                  <a:defRPr sz="18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</p:grpSp>
        <p:sp>
          <p:nvSpPr>
            <p:cNvPr id="438" name="Freeform 11"/>
            <p:cNvSpPr/>
            <p:nvPr/>
          </p:nvSpPr>
          <p:spPr>
            <a:xfrm>
              <a:off x="6195729" y="1468655"/>
              <a:ext cx="709256" cy="870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64" y="15733"/>
                  </a:moveTo>
                  <a:lnTo>
                    <a:pt x="19204" y="15746"/>
                  </a:lnTo>
                  <a:lnTo>
                    <a:pt x="19044" y="15783"/>
                  </a:lnTo>
                  <a:lnTo>
                    <a:pt x="18891" y="15845"/>
                  </a:lnTo>
                  <a:lnTo>
                    <a:pt x="18762" y="15945"/>
                  </a:lnTo>
                  <a:lnTo>
                    <a:pt x="16206" y="18284"/>
                  </a:lnTo>
                  <a:lnTo>
                    <a:pt x="14878" y="17419"/>
                  </a:lnTo>
                  <a:lnTo>
                    <a:pt x="14726" y="17338"/>
                  </a:lnTo>
                  <a:lnTo>
                    <a:pt x="14565" y="17295"/>
                  </a:lnTo>
                  <a:lnTo>
                    <a:pt x="14405" y="17282"/>
                  </a:lnTo>
                  <a:lnTo>
                    <a:pt x="14237" y="17295"/>
                  </a:lnTo>
                  <a:lnTo>
                    <a:pt x="14077" y="17338"/>
                  </a:lnTo>
                  <a:lnTo>
                    <a:pt x="13932" y="17413"/>
                  </a:lnTo>
                  <a:lnTo>
                    <a:pt x="13810" y="17506"/>
                  </a:lnTo>
                  <a:lnTo>
                    <a:pt x="13711" y="17631"/>
                  </a:lnTo>
                  <a:lnTo>
                    <a:pt x="13665" y="17762"/>
                  </a:lnTo>
                  <a:lnTo>
                    <a:pt x="13642" y="17892"/>
                  </a:lnTo>
                  <a:lnTo>
                    <a:pt x="13665" y="18035"/>
                  </a:lnTo>
                  <a:lnTo>
                    <a:pt x="13711" y="18166"/>
                  </a:lnTo>
                  <a:lnTo>
                    <a:pt x="13802" y="18278"/>
                  </a:lnTo>
                  <a:lnTo>
                    <a:pt x="13932" y="18377"/>
                  </a:lnTo>
                  <a:lnTo>
                    <a:pt x="15817" y="19609"/>
                  </a:lnTo>
                  <a:lnTo>
                    <a:pt x="15969" y="19690"/>
                  </a:lnTo>
                  <a:lnTo>
                    <a:pt x="16129" y="19734"/>
                  </a:lnTo>
                  <a:lnTo>
                    <a:pt x="16290" y="19746"/>
                  </a:lnTo>
                  <a:lnTo>
                    <a:pt x="16450" y="19734"/>
                  </a:lnTo>
                  <a:lnTo>
                    <a:pt x="16595" y="19696"/>
                  </a:lnTo>
                  <a:lnTo>
                    <a:pt x="16740" y="19628"/>
                  </a:lnTo>
                  <a:lnTo>
                    <a:pt x="16862" y="19547"/>
                  </a:lnTo>
                  <a:lnTo>
                    <a:pt x="19891" y="16760"/>
                  </a:lnTo>
                  <a:lnTo>
                    <a:pt x="19990" y="16648"/>
                  </a:lnTo>
                  <a:lnTo>
                    <a:pt x="20051" y="16524"/>
                  </a:lnTo>
                  <a:lnTo>
                    <a:pt x="20089" y="16380"/>
                  </a:lnTo>
                  <a:lnTo>
                    <a:pt x="20074" y="16250"/>
                  </a:lnTo>
                  <a:lnTo>
                    <a:pt x="20028" y="16119"/>
                  </a:lnTo>
                  <a:lnTo>
                    <a:pt x="19952" y="15995"/>
                  </a:lnTo>
                  <a:lnTo>
                    <a:pt x="19830" y="15895"/>
                  </a:lnTo>
                  <a:lnTo>
                    <a:pt x="19685" y="15814"/>
                  </a:lnTo>
                  <a:lnTo>
                    <a:pt x="19532" y="15765"/>
                  </a:lnTo>
                  <a:lnTo>
                    <a:pt x="19364" y="15733"/>
                  </a:lnTo>
                  <a:close/>
                  <a:moveTo>
                    <a:pt x="7203" y="15118"/>
                  </a:moveTo>
                  <a:lnTo>
                    <a:pt x="10613" y="15118"/>
                  </a:lnTo>
                  <a:lnTo>
                    <a:pt x="10728" y="15136"/>
                  </a:lnTo>
                  <a:lnTo>
                    <a:pt x="10834" y="15180"/>
                  </a:lnTo>
                  <a:lnTo>
                    <a:pt x="10918" y="15242"/>
                  </a:lnTo>
                  <a:lnTo>
                    <a:pt x="10972" y="15329"/>
                  </a:lnTo>
                  <a:lnTo>
                    <a:pt x="10987" y="15429"/>
                  </a:lnTo>
                  <a:lnTo>
                    <a:pt x="10987" y="15733"/>
                  </a:lnTo>
                  <a:lnTo>
                    <a:pt x="10972" y="15833"/>
                  </a:lnTo>
                  <a:lnTo>
                    <a:pt x="10918" y="15920"/>
                  </a:lnTo>
                  <a:lnTo>
                    <a:pt x="10834" y="15982"/>
                  </a:lnTo>
                  <a:lnTo>
                    <a:pt x="10728" y="16032"/>
                  </a:lnTo>
                  <a:lnTo>
                    <a:pt x="10613" y="16044"/>
                  </a:lnTo>
                  <a:lnTo>
                    <a:pt x="7203" y="16044"/>
                  </a:lnTo>
                  <a:lnTo>
                    <a:pt x="7080" y="16032"/>
                  </a:lnTo>
                  <a:lnTo>
                    <a:pt x="6974" y="15982"/>
                  </a:lnTo>
                  <a:lnTo>
                    <a:pt x="6897" y="15920"/>
                  </a:lnTo>
                  <a:lnTo>
                    <a:pt x="6836" y="15833"/>
                  </a:lnTo>
                  <a:lnTo>
                    <a:pt x="6821" y="15733"/>
                  </a:lnTo>
                  <a:lnTo>
                    <a:pt x="6821" y="15429"/>
                  </a:lnTo>
                  <a:lnTo>
                    <a:pt x="6836" y="15329"/>
                  </a:lnTo>
                  <a:lnTo>
                    <a:pt x="6897" y="15242"/>
                  </a:lnTo>
                  <a:lnTo>
                    <a:pt x="6974" y="15180"/>
                  </a:lnTo>
                  <a:lnTo>
                    <a:pt x="7080" y="15136"/>
                  </a:lnTo>
                  <a:lnTo>
                    <a:pt x="7203" y="15118"/>
                  </a:lnTo>
                  <a:close/>
                  <a:moveTo>
                    <a:pt x="5867" y="14427"/>
                  </a:moveTo>
                  <a:lnTo>
                    <a:pt x="5974" y="14446"/>
                  </a:lnTo>
                  <a:lnTo>
                    <a:pt x="6066" y="14495"/>
                  </a:lnTo>
                  <a:lnTo>
                    <a:pt x="6142" y="14564"/>
                  </a:lnTo>
                  <a:lnTo>
                    <a:pt x="6180" y="14651"/>
                  </a:lnTo>
                  <a:lnTo>
                    <a:pt x="6180" y="14732"/>
                  </a:lnTo>
                  <a:lnTo>
                    <a:pt x="6157" y="14819"/>
                  </a:lnTo>
                  <a:lnTo>
                    <a:pt x="6104" y="14900"/>
                  </a:lnTo>
                  <a:lnTo>
                    <a:pt x="4700" y="16175"/>
                  </a:lnTo>
                  <a:lnTo>
                    <a:pt x="4624" y="16225"/>
                  </a:lnTo>
                  <a:lnTo>
                    <a:pt x="4532" y="16256"/>
                  </a:lnTo>
                  <a:lnTo>
                    <a:pt x="4433" y="16275"/>
                  </a:lnTo>
                  <a:lnTo>
                    <a:pt x="4326" y="16250"/>
                  </a:lnTo>
                  <a:lnTo>
                    <a:pt x="4219" y="16206"/>
                  </a:lnTo>
                  <a:lnTo>
                    <a:pt x="3349" y="15640"/>
                  </a:lnTo>
                  <a:lnTo>
                    <a:pt x="3281" y="15572"/>
                  </a:lnTo>
                  <a:lnTo>
                    <a:pt x="3227" y="15491"/>
                  </a:lnTo>
                  <a:lnTo>
                    <a:pt x="3220" y="15410"/>
                  </a:lnTo>
                  <a:lnTo>
                    <a:pt x="3243" y="15323"/>
                  </a:lnTo>
                  <a:lnTo>
                    <a:pt x="3296" y="15236"/>
                  </a:lnTo>
                  <a:lnTo>
                    <a:pt x="3372" y="15180"/>
                  </a:lnTo>
                  <a:lnTo>
                    <a:pt x="3479" y="15149"/>
                  </a:lnTo>
                  <a:lnTo>
                    <a:pt x="3586" y="15136"/>
                  </a:lnTo>
                  <a:lnTo>
                    <a:pt x="3693" y="15155"/>
                  </a:lnTo>
                  <a:lnTo>
                    <a:pt x="3784" y="15198"/>
                  </a:lnTo>
                  <a:lnTo>
                    <a:pt x="4395" y="15597"/>
                  </a:lnTo>
                  <a:lnTo>
                    <a:pt x="5577" y="14520"/>
                  </a:lnTo>
                  <a:lnTo>
                    <a:pt x="5661" y="14458"/>
                  </a:lnTo>
                  <a:lnTo>
                    <a:pt x="5761" y="14433"/>
                  </a:lnTo>
                  <a:lnTo>
                    <a:pt x="5867" y="14427"/>
                  </a:lnTo>
                  <a:close/>
                  <a:moveTo>
                    <a:pt x="16679" y="13575"/>
                  </a:moveTo>
                  <a:lnTo>
                    <a:pt x="17175" y="13593"/>
                  </a:lnTo>
                  <a:lnTo>
                    <a:pt x="17671" y="13662"/>
                  </a:lnTo>
                  <a:lnTo>
                    <a:pt x="18144" y="13761"/>
                  </a:lnTo>
                  <a:lnTo>
                    <a:pt x="18594" y="13892"/>
                  </a:lnTo>
                  <a:lnTo>
                    <a:pt x="19029" y="14060"/>
                  </a:lnTo>
                  <a:lnTo>
                    <a:pt x="19426" y="14265"/>
                  </a:lnTo>
                  <a:lnTo>
                    <a:pt x="19807" y="14489"/>
                  </a:lnTo>
                  <a:lnTo>
                    <a:pt x="20158" y="14750"/>
                  </a:lnTo>
                  <a:lnTo>
                    <a:pt x="20471" y="15037"/>
                  </a:lnTo>
                  <a:lnTo>
                    <a:pt x="20761" y="15341"/>
                  </a:lnTo>
                  <a:lnTo>
                    <a:pt x="21005" y="15677"/>
                  </a:lnTo>
                  <a:lnTo>
                    <a:pt x="21211" y="16032"/>
                  </a:lnTo>
                  <a:lnTo>
                    <a:pt x="21379" y="16399"/>
                  </a:lnTo>
                  <a:lnTo>
                    <a:pt x="21501" y="16785"/>
                  </a:lnTo>
                  <a:lnTo>
                    <a:pt x="21577" y="17177"/>
                  </a:lnTo>
                  <a:lnTo>
                    <a:pt x="21600" y="17587"/>
                  </a:lnTo>
                  <a:lnTo>
                    <a:pt x="21577" y="17998"/>
                  </a:lnTo>
                  <a:lnTo>
                    <a:pt x="21501" y="18402"/>
                  </a:lnTo>
                  <a:lnTo>
                    <a:pt x="21379" y="18782"/>
                  </a:lnTo>
                  <a:lnTo>
                    <a:pt x="21211" y="19155"/>
                  </a:lnTo>
                  <a:lnTo>
                    <a:pt x="21005" y="19497"/>
                  </a:lnTo>
                  <a:lnTo>
                    <a:pt x="20761" y="19833"/>
                  </a:lnTo>
                  <a:lnTo>
                    <a:pt x="20471" y="20138"/>
                  </a:lnTo>
                  <a:lnTo>
                    <a:pt x="20158" y="20424"/>
                  </a:lnTo>
                  <a:lnTo>
                    <a:pt x="19807" y="20685"/>
                  </a:lnTo>
                  <a:lnTo>
                    <a:pt x="19426" y="20916"/>
                  </a:lnTo>
                  <a:lnTo>
                    <a:pt x="19029" y="21115"/>
                  </a:lnTo>
                  <a:lnTo>
                    <a:pt x="18594" y="21283"/>
                  </a:lnTo>
                  <a:lnTo>
                    <a:pt x="18144" y="21420"/>
                  </a:lnTo>
                  <a:lnTo>
                    <a:pt x="17671" y="21519"/>
                  </a:lnTo>
                  <a:lnTo>
                    <a:pt x="17175" y="21581"/>
                  </a:lnTo>
                  <a:lnTo>
                    <a:pt x="16679" y="21600"/>
                  </a:lnTo>
                  <a:lnTo>
                    <a:pt x="16175" y="21581"/>
                  </a:lnTo>
                  <a:lnTo>
                    <a:pt x="15679" y="21519"/>
                  </a:lnTo>
                  <a:lnTo>
                    <a:pt x="15206" y="21420"/>
                  </a:lnTo>
                  <a:lnTo>
                    <a:pt x="14756" y="21283"/>
                  </a:lnTo>
                  <a:lnTo>
                    <a:pt x="14321" y="21115"/>
                  </a:lnTo>
                  <a:lnTo>
                    <a:pt x="13924" y="20916"/>
                  </a:lnTo>
                  <a:lnTo>
                    <a:pt x="13543" y="20685"/>
                  </a:lnTo>
                  <a:lnTo>
                    <a:pt x="13192" y="20424"/>
                  </a:lnTo>
                  <a:lnTo>
                    <a:pt x="12879" y="20138"/>
                  </a:lnTo>
                  <a:lnTo>
                    <a:pt x="12589" y="19833"/>
                  </a:lnTo>
                  <a:lnTo>
                    <a:pt x="12345" y="19497"/>
                  </a:lnTo>
                  <a:lnTo>
                    <a:pt x="12139" y="19155"/>
                  </a:lnTo>
                  <a:lnTo>
                    <a:pt x="11971" y="18782"/>
                  </a:lnTo>
                  <a:lnTo>
                    <a:pt x="11849" y="18402"/>
                  </a:lnTo>
                  <a:lnTo>
                    <a:pt x="11773" y="17998"/>
                  </a:lnTo>
                  <a:lnTo>
                    <a:pt x="11750" y="17587"/>
                  </a:lnTo>
                  <a:lnTo>
                    <a:pt x="11773" y="17177"/>
                  </a:lnTo>
                  <a:lnTo>
                    <a:pt x="11849" y="16785"/>
                  </a:lnTo>
                  <a:lnTo>
                    <a:pt x="11971" y="16399"/>
                  </a:lnTo>
                  <a:lnTo>
                    <a:pt x="12139" y="16032"/>
                  </a:lnTo>
                  <a:lnTo>
                    <a:pt x="12345" y="15677"/>
                  </a:lnTo>
                  <a:lnTo>
                    <a:pt x="12589" y="15341"/>
                  </a:lnTo>
                  <a:lnTo>
                    <a:pt x="12879" y="15037"/>
                  </a:lnTo>
                  <a:lnTo>
                    <a:pt x="13192" y="14750"/>
                  </a:lnTo>
                  <a:lnTo>
                    <a:pt x="13543" y="14489"/>
                  </a:lnTo>
                  <a:lnTo>
                    <a:pt x="13924" y="14265"/>
                  </a:lnTo>
                  <a:lnTo>
                    <a:pt x="14321" y="14060"/>
                  </a:lnTo>
                  <a:lnTo>
                    <a:pt x="14756" y="13892"/>
                  </a:lnTo>
                  <a:lnTo>
                    <a:pt x="15206" y="13761"/>
                  </a:lnTo>
                  <a:lnTo>
                    <a:pt x="15679" y="13662"/>
                  </a:lnTo>
                  <a:lnTo>
                    <a:pt x="16175" y="13593"/>
                  </a:lnTo>
                  <a:lnTo>
                    <a:pt x="16679" y="13575"/>
                  </a:lnTo>
                  <a:close/>
                  <a:moveTo>
                    <a:pt x="7203" y="12343"/>
                  </a:moveTo>
                  <a:lnTo>
                    <a:pt x="11376" y="12343"/>
                  </a:lnTo>
                  <a:lnTo>
                    <a:pt x="11483" y="12355"/>
                  </a:lnTo>
                  <a:lnTo>
                    <a:pt x="11590" y="12405"/>
                  </a:lnTo>
                  <a:lnTo>
                    <a:pt x="11681" y="12467"/>
                  </a:lnTo>
                  <a:lnTo>
                    <a:pt x="11727" y="12554"/>
                  </a:lnTo>
                  <a:lnTo>
                    <a:pt x="11750" y="12654"/>
                  </a:lnTo>
                  <a:lnTo>
                    <a:pt x="11750" y="12959"/>
                  </a:lnTo>
                  <a:lnTo>
                    <a:pt x="11727" y="13058"/>
                  </a:lnTo>
                  <a:lnTo>
                    <a:pt x="11681" y="13145"/>
                  </a:lnTo>
                  <a:lnTo>
                    <a:pt x="11590" y="13208"/>
                  </a:lnTo>
                  <a:lnTo>
                    <a:pt x="11483" y="13257"/>
                  </a:lnTo>
                  <a:lnTo>
                    <a:pt x="11376" y="13270"/>
                  </a:lnTo>
                  <a:lnTo>
                    <a:pt x="7203" y="13270"/>
                  </a:lnTo>
                  <a:lnTo>
                    <a:pt x="7080" y="13257"/>
                  </a:lnTo>
                  <a:lnTo>
                    <a:pt x="6974" y="13208"/>
                  </a:lnTo>
                  <a:lnTo>
                    <a:pt x="6897" y="13145"/>
                  </a:lnTo>
                  <a:lnTo>
                    <a:pt x="6836" y="13058"/>
                  </a:lnTo>
                  <a:lnTo>
                    <a:pt x="6821" y="12959"/>
                  </a:lnTo>
                  <a:lnTo>
                    <a:pt x="6821" y="12654"/>
                  </a:lnTo>
                  <a:lnTo>
                    <a:pt x="6836" y="12554"/>
                  </a:lnTo>
                  <a:lnTo>
                    <a:pt x="6897" y="12467"/>
                  </a:lnTo>
                  <a:lnTo>
                    <a:pt x="6974" y="12405"/>
                  </a:lnTo>
                  <a:lnTo>
                    <a:pt x="7080" y="12355"/>
                  </a:lnTo>
                  <a:lnTo>
                    <a:pt x="7203" y="12343"/>
                  </a:lnTo>
                  <a:close/>
                  <a:moveTo>
                    <a:pt x="5867" y="11783"/>
                  </a:moveTo>
                  <a:lnTo>
                    <a:pt x="5974" y="11802"/>
                  </a:lnTo>
                  <a:lnTo>
                    <a:pt x="6066" y="11851"/>
                  </a:lnTo>
                  <a:lnTo>
                    <a:pt x="6142" y="11920"/>
                  </a:lnTo>
                  <a:lnTo>
                    <a:pt x="6180" y="12007"/>
                  </a:lnTo>
                  <a:lnTo>
                    <a:pt x="6180" y="12088"/>
                  </a:lnTo>
                  <a:lnTo>
                    <a:pt x="6157" y="12175"/>
                  </a:lnTo>
                  <a:lnTo>
                    <a:pt x="6104" y="12256"/>
                  </a:lnTo>
                  <a:lnTo>
                    <a:pt x="4700" y="13531"/>
                  </a:lnTo>
                  <a:lnTo>
                    <a:pt x="4624" y="13581"/>
                  </a:lnTo>
                  <a:lnTo>
                    <a:pt x="4532" y="13612"/>
                  </a:lnTo>
                  <a:lnTo>
                    <a:pt x="4433" y="13631"/>
                  </a:lnTo>
                  <a:lnTo>
                    <a:pt x="4326" y="13606"/>
                  </a:lnTo>
                  <a:lnTo>
                    <a:pt x="4219" y="13562"/>
                  </a:lnTo>
                  <a:lnTo>
                    <a:pt x="3349" y="12990"/>
                  </a:lnTo>
                  <a:lnTo>
                    <a:pt x="3281" y="12928"/>
                  </a:lnTo>
                  <a:lnTo>
                    <a:pt x="3227" y="12847"/>
                  </a:lnTo>
                  <a:lnTo>
                    <a:pt x="3220" y="12766"/>
                  </a:lnTo>
                  <a:lnTo>
                    <a:pt x="3243" y="12679"/>
                  </a:lnTo>
                  <a:lnTo>
                    <a:pt x="3296" y="12592"/>
                  </a:lnTo>
                  <a:lnTo>
                    <a:pt x="3372" y="12536"/>
                  </a:lnTo>
                  <a:lnTo>
                    <a:pt x="3479" y="12505"/>
                  </a:lnTo>
                  <a:lnTo>
                    <a:pt x="3586" y="12486"/>
                  </a:lnTo>
                  <a:lnTo>
                    <a:pt x="3693" y="12511"/>
                  </a:lnTo>
                  <a:lnTo>
                    <a:pt x="3784" y="12554"/>
                  </a:lnTo>
                  <a:lnTo>
                    <a:pt x="4395" y="12953"/>
                  </a:lnTo>
                  <a:lnTo>
                    <a:pt x="5577" y="11876"/>
                  </a:lnTo>
                  <a:lnTo>
                    <a:pt x="5661" y="11814"/>
                  </a:lnTo>
                  <a:lnTo>
                    <a:pt x="5761" y="11789"/>
                  </a:lnTo>
                  <a:lnTo>
                    <a:pt x="5867" y="11783"/>
                  </a:lnTo>
                  <a:close/>
                  <a:moveTo>
                    <a:pt x="7203" y="9879"/>
                  </a:moveTo>
                  <a:lnTo>
                    <a:pt x="13261" y="9879"/>
                  </a:lnTo>
                  <a:lnTo>
                    <a:pt x="13383" y="9892"/>
                  </a:lnTo>
                  <a:lnTo>
                    <a:pt x="13490" y="9935"/>
                  </a:lnTo>
                  <a:lnTo>
                    <a:pt x="13566" y="10004"/>
                  </a:lnTo>
                  <a:lnTo>
                    <a:pt x="13627" y="10085"/>
                  </a:lnTo>
                  <a:lnTo>
                    <a:pt x="13642" y="10184"/>
                  </a:lnTo>
                  <a:lnTo>
                    <a:pt x="13642" y="10495"/>
                  </a:lnTo>
                  <a:lnTo>
                    <a:pt x="13627" y="10588"/>
                  </a:lnTo>
                  <a:lnTo>
                    <a:pt x="13566" y="10676"/>
                  </a:lnTo>
                  <a:lnTo>
                    <a:pt x="13490" y="10744"/>
                  </a:lnTo>
                  <a:lnTo>
                    <a:pt x="13383" y="10788"/>
                  </a:lnTo>
                  <a:lnTo>
                    <a:pt x="13261" y="10800"/>
                  </a:lnTo>
                  <a:lnTo>
                    <a:pt x="7203" y="10800"/>
                  </a:lnTo>
                  <a:lnTo>
                    <a:pt x="7080" y="10788"/>
                  </a:lnTo>
                  <a:lnTo>
                    <a:pt x="6974" y="10744"/>
                  </a:lnTo>
                  <a:lnTo>
                    <a:pt x="6897" y="10676"/>
                  </a:lnTo>
                  <a:lnTo>
                    <a:pt x="6836" y="10588"/>
                  </a:lnTo>
                  <a:lnTo>
                    <a:pt x="6821" y="10495"/>
                  </a:lnTo>
                  <a:lnTo>
                    <a:pt x="6821" y="10184"/>
                  </a:lnTo>
                  <a:lnTo>
                    <a:pt x="6836" y="10085"/>
                  </a:lnTo>
                  <a:lnTo>
                    <a:pt x="6897" y="10004"/>
                  </a:lnTo>
                  <a:lnTo>
                    <a:pt x="6974" y="9935"/>
                  </a:lnTo>
                  <a:lnTo>
                    <a:pt x="7080" y="9892"/>
                  </a:lnTo>
                  <a:lnTo>
                    <a:pt x="7203" y="9879"/>
                  </a:lnTo>
                  <a:close/>
                  <a:moveTo>
                    <a:pt x="5867" y="9158"/>
                  </a:moveTo>
                  <a:lnTo>
                    <a:pt x="5974" y="9176"/>
                  </a:lnTo>
                  <a:lnTo>
                    <a:pt x="6066" y="9226"/>
                  </a:lnTo>
                  <a:lnTo>
                    <a:pt x="6142" y="9294"/>
                  </a:lnTo>
                  <a:lnTo>
                    <a:pt x="6180" y="9382"/>
                  </a:lnTo>
                  <a:lnTo>
                    <a:pt x="6180" y="9462"/>
                  </a:lnTo>
                  <a:lnTo>
                    <a:pt x="6157" y="9550"/>
                  </a:lnTo>
                  <a:lnTo>
                    <a:pt x="6104" y="9630"/>
                  </a:lnTo>
                  <a:lnTo>
                    <a:pt x="4700" y="10906"/>
                  </a:lnTo>
                  <a:lnTo>
                    <a:pt x="4624" y="10956"/>
                  </a:lnTo>
                  <a:lnTo>
                    <a:pt x="4532" y="10993"/>
                  </a:lnTo>
                  <a:lnTo>
                    <a:pt x="4433" y="11005"/>
                  </a:lnTo>
                  <a:lnTo>
                    <a:pt x="4326" y="10980"/>
                  </a:lnTo>
                  <a:lnTo>
                    <a:pt x="4219" y="10937"/>
                  </a:lnTo>
                  <a:lnTo>
                    <a:pt x="3349" y="10371"/>
                  </a:lnTo>
                  <a:lnTo>
                    <a:pt x="3281" y="10302"/>
                  </a:lnTo>
                  <a:lnTo>
                    <a:pt x="3227" y="10221"/>
                  </a:lnTo>
                  <a:lnTo>
                    <a:pt x="3220" y="10141"/>
                  </a:lnTo>
                  <a:lnTo>
                    <a:pt x="3243" y="10047"/>
                  </a:lnTo>
                  <a:lnTo>
                    <a:pt x="3296" y="9966"/>
                  </a:lnTo>
                  <a:lnTo>
                    <a:pt x="3372" y="9910"/>
                  </a:lnTo>
                  <a:lnTo>
                    <a:pt x="3479" y="9879"/>
                  </a:lnTo>
                  <a:lnTo>
                    <a:pt x="3586" y="9867"/>
                  </a:lnTo>
                  <a:lnTo>
                    <a:pt x="3693" y="9885"/>
                  </a:lnTo>
                  <a:lnTo>
                    <a:pt x="3784" y="9929"/>
                  </a:lnTo>
                  <a:lnTo>
                    <a:pt x="4395" y="10327"/>
                  </a:lnTo>
                  <a:lnTo>
                    <a:pt x="5577" y="9251"/>
                  </a:lnTo>
                  <a:lnTo>
                    <a:pt x="5661" y="9189"/>
                  </a:lnTo>
                  <a:lnTo>
                    <a:pt x="5761" y="9164"/>
                  </a:lnTo>
                  <a:lnTo>
                    <a:pt x="5867" y="9158"/>
                  </a:lnTo>
                  <a:close/>
                  <a:moveTo>
                    <a:pt x="7203" y="7092"/>
                  </a:moveTo>
                  <a:lnTo>
                    <a:pt x="13261" y="7092"/>
                  </a:lnTo>
                  <a:lnTo>
                    <a:pt x="13383" y="7117"/>
                  </a:lnTo>
                  <a:lnTo>
                    <a:pt x="13490" y="7154"/>
                  </a:lnTo>
                  <a:lnTo>
                    <a:pt x="13566" y="7229"/>
                  </a:lnTo>
                  <a:lnTo>
                    <a:pt x="13627" y="7310"/>
                  </a:lnTo>
                  <a:lnTo>
                    <a:pt x="13642" y="7403"/>
                  </a:lnTo>
                  <a:lnTo>
                    <a:pt x="13642" y="7714"/>
                  </a:lnTo>
                  <a:lnTo>
                    <a:pt x="13627" y="7808"/>
                  </a:lnTo>
                  <a:lnTo>
                    <a:pt x="13566" y="7895"/>
                  </a:lnTo>
                  <a:lnTo>
                    <a:pt x="13490" y="7963"/>
                  </a:lnTo>
                  <a:lnTo>
                    <a:pt x="13383" y="8007"/>
                  </a:lnTo>
                  <a:lnTo>
                    <a:pt x="13261" y="8025"/>
                  </a:lnTo>
                  <a:lnTo>
                    <a:pt x="7203" y="8025"/>
                  </a:lnTo>
                  <a:lnTo>
                    <a:pt x="7080" y="8007"/>
                  </a:lnTo>
                  <a:lnTo>
                    <a:pt x="6974" y="7963"/>
                  </a:lnTo>
                  <a:lnTo>
                    <a:pt x="6897" y="7895"/>
                  </a:lnTo>
                  <a:lnTo>
                    <a:pt x="6836" y="7808"/>
                  </a:lnTo>
                  <a:lnTo>
                    <a:pt x="6821" y="7714"/>
                  </a:lnTo>
                  <a:lnTo>
                    <a:pt x="6821" y="7403"/>
                  </a:lnTo>
                  <a:lnTo>
                    <a:pt x="6836" y="7310"/>
                  </a:lnTo>
                  <a:lnTo>
                    <a:pt x="6897" y="7229"/>
                  </a:lnTo>
                  <a:lnTo>
                    <a:pt x="6974" y="7154"/>
                  </a:lnTo>
                  <a:lnTo>
                    <a:pt x="7080" y="7117"/>
                  </a:lnTo>
                  <a:lnTo>
                    <a:pt x="7203" y="7092"/>
                  </a:lnTo>
                  <a:close/>
                  <a:moveTo>
                    <a:pt x="5867" y="6408"/>
                  </a:moveTo>
                  <a:lnTo>
                    <a:pt x="5974" y="6433"/>
                  </a:lnTo>
                  <a:lnTo>
                    <a:pt x="6066" y="6482"/>
                  </a:lnTo>
                  <a:lnTo>
                    <a:pt x="6142" y="6551"/>
                  </a:lnTo>
                  <a:lnTo>
                    <a:pt x="6180" y="6632"/>
                  </a:lnTo>
                  <a:lnTo>
                    <a:pt x="6180" y="6725"/>
                  </a:lnTo>
                  <a:lnTo>
                    <a:pt x="6157" y="6806"/>
                  </a:lnTo>
                  <a:lnTo>
                    <a:pt x="6104" y="6881"/>
                  </a:lnTo>
                  <a:lnTo>
                    <a:pt x="4700" y="8162"/>
                  </a:lnTo>
                  <a:lnTo>
                    <a:pt x="4624" y="8212"/>
                  </a:lnTo>
                  <a:lnTo>
                    <a:pt x="4532" y="8249"/>
                  </a:lnTo>
                  <a:lnTo>
                    <a:pt x="4433" y="8256"/>
                  </a:lnTo>
                  <a:lnTo>
                    <a:pt x="4326" y="8243"/>
                  </a:lnTo>
                  <a:lnTo>
                    <a:pt x="4219" y="8193"/>
                  </a:lnTo>
                  <a:lnTo>
                    <a:pt x="3349" y="7627"/>
                  </a:lnTo>
                  <a:lnTo>
                    <a:pt x="3281" y="7559"/>
                  </a:lnTo>
                  <a:lnTo>
                    <a:pt x="3227" y="7478"/>
                  </a:lnTo>
                  <a:lnTo>
                    <a:pt x="3220" y="7391"/>
                  </a:lnTo>
                  <a:lnTo>
                    <a:pt x="3243" y="7304"/>
                  </a:lnTo>
                  <a:lnTo>
                    <a:pt x="3296" y="7229"/>
                  </a:lnTo>
                  <a:lnTo>
                    <a:pt x="3372" y="7167"/>
                  </a:lnTo>
                  <a:lnTo>
                    <a:pt x="3479" y="7129"/>
                  </a:lnTo>
                  <a:lnTo>
                    <a:pt x="3586" y="7123"/>
                  </a:lnTo>
                  <a:lnTo>
                    <a:pt x="3693" y="7136"/>
                  </a:lnTo>
                  <a:lnTo>
                    <a:pt x="3784" y="7179"/>
                  </a:lnTo>
                  <a:lnTo>
                    <a:pt x="4395" y="7577"/>
                  </a:lnTo>
                  <a:lnTo>
                    <a:pt x="5577" y="6507"/>
                  </a:lnTo>
                  <a:lnTo>
                    <a:pt x="5661" y="6445"/>
                  </a:lnTo>
                  <a:lnTo>
                    <a:pt x="5761" y="6414"/>
                  </a:lnTo>
                  <a:lnTo>
                    <a:pt x="5867" y="6408"/>
                  </a:lnTo>
                  <a:close/>
                  <a:moveTo>
                    <a:pt x="1144" y="2159"/>
                  </a:moveTo>
                  <a:lnTo>
                    <a:pt x="4212" y="2159"/>
                  </a:lnTo>
                  <a:lnTo>
                    <a:pt x="4181" y="2314"/>
                  </a:lnTo>
                  <a:lnTo>
                    <a:pt x="4174" y="2482"/>
                  </a:lnTo>
                  <a:lnTo>
                    <a:pt x="4196" y="2731"/>
                  </a:lnTo>
                  <a:lnTo>
                    <a:pt x="4265" y="2968"/>
                  </a:lnTo>
                  <a:lnTo>
                    <a:pt x="4380" y="3179"/>
                  </a:lnTo>
                  <a:lnTo>
                    <a:pt x="4532" y="3384"/>
                  </a:lnTo>
                  <a:lnTo>
                    <a:pt x="4715" y="3559"/>
                  </a:lnTo>
                  <a:lnTo>
                    <a:pt x="4944" y="3720"/>
                  </a:lnTo>
                  <a:lnTo>
                    <a:pt x="5196" y="3845"/>
                  </a:lnTo>
                  <a:lnTo>
                    <a:pt x="5455" y="3932"/>
                  </a:lnTo>
                  <a:lnTo>
                    <a:pt x="5745" y="3994"/>
                  </a:lnTo>
                  <a:lnTo>
                    <a:pt x="6050" y="4013"/>
                  </a:lnTo>
                  <a:lnTo>
                    <a:pt x="11002" y="4013"/>
                  </a:lnTo>
                  <a:lnTo>
                    <a:pt x="11307" y="3994"/>
                  </a:lnTo>
                  <a:lnTo>
                    <a:pt x="11597" y="3932"/>
                  </a:lnTo>
                  <a:lnTo>
                    <a:pt x="11864" y="3845"/>
                  </a:lnTo>
                  <a:lnTo>
                    <a:pt x="12116" y="3714"/>
                  </a:lnTo>
                  <a:lnTo>
                    <a:pt x="12330" y="3559"/>
                  </a:lnTo>
                  <a:lnTo>
                    <a:pt x="12521" y="3378"/>
                  </a:lnTo>
                  <a:lnTo>
                    <a:pt x="12673" y="3173"/>
                  </a:lnTo>
                  <a:lnTo>
                    <a:pt x="12788" y="2955"/>
                  </a:lnTo>
                  <a:lnTo>
                    <a:pt x="12864" y="2712"/>
                  </a:lnTo>
                  <a:lnTo>
                    <a:pt x="12887" y="2464"/>
                  </a:lnTo>
                  <a:lnTo>
                    <a:pt x="12879" y="2308"/>
                  </a:lnTo>
                  <a:lnTo>
                    <a:pt x="12841" y="2159"/>
                  </a:lnTo>
                  <a:lnTo>
                    <a:pt x="15160" y="2159"/>
                  </a:lnTo>
                  <a:lnTo>
                    <a:pt x="15481" y="2171"/>
                  </a:lnTo>
                  <a:lnTo>
                    <a:pt x="15771" y="2215"/>
                  </a:lnTo>
                  <a:lnTo>
                    <a:pt x="16030" y="2277"/>
                  </a:lnTo>
                  <a:lnTo>
                    <a:pt x="16267" y="2358"/>
                  </a:lnTo>
                  <a:lnTo>
                    <a:pt x="16473" y="2464"/>
                  </a:lnTo>
                  <a:lnTo>
                    <a:pt x="16648" y="2588"/>
                  </a:lnTo>
                  <a:lnTo>
                    <a:pt x="16793" y="2725"/>
                  </a:lnTo>
                  <a:lnTo>
                    <a:pt x="16900" y="2874"/>
                  </a:lnTo>
                  <a:lnTo>
                    <a:pt x="16984" y="3036"/>
                  </a:lnTo>
                  <a:lnTo>
                    <a:pt x="17037" y="3216"/>
                  </a:lnTo>
                  <a:lnTo>
                    <a:pt x="17053" y="3397"/>
                  </a:lnTo>
                  <a:lnTo>
                    <a:pt x="17053" y="12666"/>
                  </a:lnTo>
                  <a:lnTo>
                    <a:pt x="16862" y="12660"/>
                  </a:lnTo>
                  <a:lnTo>
                    <a:pt x="16679" y="12654"/>
                  </a:lnTo>
                  <a:lnTo>
                    <a:pt x="16160" y="12673"/>
                  </a:lnTo>
                  <a:lnTo>
                    <a:pt x="15649" y="12722"/>
                  </a:lnTo>
                  <a:lnTo>
                    <a:pt x="15160" y="12816"/>
                  </a:lnTo>
                  <a:lnTo>
                    <a:pt x="15160" y="5556"/>
                  </a:lnTo>
                  <a:lnTo>
                    <a:pt x="1900" y="5556"/>
                  </a:lnTo>
                  <a:lnTo>
                    <a:pt x="1900" y="17892"/>
                  </a:lnTo>
                  <a:lnTo>
                    <a:pt x="10636" y="17892"/>
                  </a:lnTo>
                  <a:lnTo>
                    <a:pt x="10682" y="18303"/>
                  </a:lnTo>
                  <a:lnTo>
                    <a:pt x="10773" y="18695"/>
                  </a:lnTo>
                  <a:lnTo>
                    <a:pt x="10903" y="19074"/>
                  </a:lnTo>
                  <a:lnTo>
                    <a:pt x="11063" y="19441"/>
                  </a:lnTo>
                  <a:lnTo>
                    <a:pt x="1518" y="19441"/>
                  </a:lnTo>
                  <a:lnTo>
                    <a:pt x="1244" y="19423"/>
                  </a:lnTo>
                  <a:lnTo>
                    <a:pt x="992" y="19360"/>
                  </a:lnTo>
                  <a:lnTo>
                    <a:pt x="755" y="19267"/>
                  </a:lnTo>
                  <a:lnTo>
                    <a:pt x="542" y="19155"/>
                  </a:lnTo>
                  <a:lnTo>
                    <a:pt x="359" y="19000"/>
                  </a:lnTo>
                  <a:lnTo>
                    <a:pt x="206" y="18832"/>
                  </a:lnTo>
                  <a:lnTo>
                    <a:pt x="99" y="18632"/>
                  </a:lnTo>
                  <a:lnTo>
                    <a:pt x="23" y="18427"/>
                  </a:lnTo>
                  <a:lnTo>
                    <a:pt x="0" y="18203"/>
                  </a:lnTo>
                  <a:lnTo>
                    <a:pt x="0" y="3397"/>
                  </a:lnTo>
                  <a:lnTo>
                    <a:pt x="23" y="3191"/>
                  </a:lnTo>
                  <a:lnTo>
                    <a:pt x="69" y="3005"/>
                  </a:lnTo>
                  <a:lnTo>
                    <a:pt x="160" y="2831"/>
                  </a:lnTo>
                  <a:lnTo>
                    <a:pt x="275" y="2663"/>
                  </a:lnTo>
                  <a:lnTo>
                    <a:pt x="404" y="2520"/>
                  </a:lnTo>
                  <a:lnTo>
                    <a:pt x="542" y="2395"/>
                  </a:lnTo>
                  <a:lnTo>
                    <a:pt x="694" y="2296"/>
                  </a:lnTo>
                  <a:lnTo>
                    <a:pt x="847" y="2227"/>
                  </a:lnTo>
                  <a:lnTo>
                    <a:pt x="1000" y="2171"/>
                  </a:lnTo>
                  <a:lnTo>
                    <a:pt x="1144" y="2159"/>
                  </a:lnTo>
                  <a:close/>
                  <a:moveTo>
                    <a:pt x="8530" y="616"/>
                  </a:moveTo>
                  <a:lnTo>
                    <a:pt x="8378" y="635"/>
                  </a:lnTo>
                  <a:lnTo>
                    <a:pt x="8240" y="678"/>
                  </a:lnTo>
                  <a:lnTo>
                    <a:pt x="8126" y="753"/>
                  </a:lnTo>
                  <a:lnTo>
                    <a:pt x="8034" y="846"/>
                  </a:lnTo>
                  <a:lnTo>
                    <a:pt x="7981" y="958"/>
                  </a:lnTo>
                  <a:lnTo>
                    <a:pt x="7958" y="1082"/>
                  </a:lnTo>
                  <a:lnTo>
                    <a:pt x="7981" y="1207"/>
                  </a:lnTo>
                  <a:lnTo>
                    <a:pt x="8034" y="1313"/>
                  </a:lnTo>
                  <a:lnTo>
                    <a:pt x="8126" y="1406"/>
                  </a:lnTo>
                  <a:lnTo>
                    <a:pt x="8240" y="1481"/>
                  </a:lnTo>
                  <a:lnTo>
                    <a:pt x="8378" y="1524"/>
                  </a:lnTo>
                  <a:lnTo>
                    <a:pt x="8530" y="1543"/>
                  </a:lnTo>
                  <a:lnTo>
                    <a:pt x="8683" y="1524"/>
                  </a:lnTo>
                  <a:lnTo>
                    <a:pt x="8820" y="1481"/>
                  </a:lnTo>
                  <a:lnTo>
                    <a:pt x="8927" y="1406"/>
                  </a:lnTo>
                  <a:lnTo>
                    <a:pt x="9018" y="1313"/>
                  </a:lnTo>
                  <a:lnTo>
                    <a:pt x="9072" y="1207"/>
                  </a:lnTo>
                  <a:lnTo>
                    <a:pt x="9102" y="1082"/>
                  </a:lnTo>
                  <a:lnTo>
                    <a:pt x="9072" y="958"/>
                  </a:lnTo>
                  <a:lnTo>
                    <a:pt x="9018" y="846"/>
                  </a:lnTo>
                  <a:lnTo>
                    <a:pt x="8927" y="753"/>
                  </a:lnTo>
                  <a:lnTo>
                    <a:pt x="8820" y="678"/>
                  </a:lnTo>
                  <a:lnTo>
                    <a:pt x="8683" y="635"/>
                  </a:lnTo>
                  <a:lnTo>
                    <a:pt x="8530" y="616"/>
                  </a:lnTo>
                  <a:close/>
                  <a:moveTo>
                    <a:pt x="8515" y="0"/>
                  </a:moveTo>
                  <a:lnTo>
                    <a:pt x="8545" y="0"/>
                  </a:lnTo>
                  <a:lnTo>
                    <a:pt x="8774" y="19"/>
                  </a:lnTo>
                  <a:lnTo>
                    <a:pt x="9003" y="68"/>
                  </a:lnTo>
                  <a:lnTo>
                    <a:pt x="9202" y="143"/>
                  </a:lnTo>
                  <a:lnTo>
                    <a:pt x="9385" y="249"/>
                  </a:lnTo>
                  <a:lnTo>
                    <a:pt x="9553" y="379"/>
                  </a:lnTo>
                  <a:lnTo>
                    <a:pt x="9675" y="529"/>
                  </a:lnTo>
                  <a:lnTo>
                    <a:pt x="9774" y="697"/>
                  </a:lnTo>
                  <a:lnTo>
                    <a:pt x="9827" y="877"/>
                  </a:lnTo>
                  <a:lnTo>
                    <a:pt x="9858" y="1064"/>
                  </a:lnTo>
                  <a:lnTo>
                    <a:pt x="9858" y="1082"/>
                  </a:lnTo>
                  <a:lnTo>
                    <a:pt x="9873" y="1207"/>
                  </a:lnTo>
                  <a:lnTo>
                    <a:pt x="9934" y="1313"/>
                  </a:lnTo>
                  <a:lnTo>
                    <a:pt x="10026" y="1406"/>
                  </a:lnTo>
                  <a:lnTo>
                    <a:pt x="10132" y="1481"/>
                  </a:lnTo>
                  <a:lnTo>
                    <a:pt x="10262" y="1524"/>
                  </a:lnTo>
                  <a:lnTo>
                    <a:pt x="10415" y="1543"/>
                  </a:lnTo>
                  <a:lnTo>
                    <a:pt x="11002" y="1543"/>
                  </a:lnTo>
                  <a:lnTo>
                    <a:pt x="11231" y="1562"/>
                  </a:lnTo>
                  <a:lnTo>
                    <a:pt x="11437" y="1618"/>
                  </a:lnTo>
                  <a:lnTo>
                    <a:pt x="11628" y="1705"/>
                  </a:lnTo>
                  <a:lnTo>
                    <a:pt x="11803" y="1810"/>
                  </a:lnTo>
                  <a:lnTo>
                    <a:pt x="11933" y="1941"/>
                  </a:lnTo>
                  <a:lnTo>
                    <a:pt x="12040" y="2103"/>
                  </a:lnTo>
                  <a:lnTo>
                    <a:pt x="12109" y="2277"/>
                  </a:lnTo>
                  <a:lnTo>
                    <a:pt x="12131" y="2464"/>
                  </a:lnTo>
                  <a:lnTo>
                    <a:pt x="12131" y="2482"/>
                  </a:lnTo>
                  <a:lnTo>
                    <a:pt x="12109" y="2663"/>
                  </a:lnTo>
                  <a:lnTo>
                    <a:pt x="12040" y="2837"/>
                  </a:lnTo>
                  <a:lnTo>
                    <a:pt x="11933" y="2992"/>
                  </a:lnTo>
                  <a:lnTo>
                    <a:pt x="11803" y="3129"/>
                  </a:lnTo>
                  <a:lnTo>
                    <a:pt x="11628" y="3241"/>
                  </a:lnTo>
                  <a:lnTo>
                    <a:pt x="11437" y="3322"/>
                  </a:lnTo>
                  <a:lnTo>
                    <a:pt x="11231" y="3378"/>
                  </a:lnTo>
                  <a:lnTo>
                    <a:pt x="11002" y="3397"/>
                  </a:lnTo>
                  <a:lnTo>
                    <a:pt x="6050" y="3397"/>
                  </a:lnTo>
                  <a:lnTo>
                    <a:pt x="5829" y="3378"/>
                  </a:lnTo>
                  <a:lnTo>
                    <a:pt x="5616" y="3322"/>
                  </a:lnTo>
                  <a:lnTo>
                    <a:pt x="5425" y="3241"/>
                  </a:lnTo>
                  <a:lnTo>
                    <a:pt x="5257" y="3129"/>
                  </a:lnTo>
                  <a:lnTo>
                    <a:pt x="5120" y="2992"/>
                  </a:lnTo>
                  <a:lnTo>
                    <a:pt x="5013" y="2837"/>
                  </a:lnTo>
                  <a:lnTo>
                    <a:pt x="4952" y="2663"/>
                  </a:lnTo>
                  <a:lnTo>
                    <a:pt x="4929" y="2482"/>
                  </a:lnTo>
                  <a:lnTo>
                    <a:pt x="4929" y="2464"/>
                  </a:lnTo>
                  <a:lnTo>
                    <a:pt x="4952" y="2277"/>
                  </a:lnTo>
                  <a:lnTo>
                    <a:pt x="5013" y="2103"/>
                  </a:lnTo>
                  <a:lnTo>
                    <a:pt x="5120" y="1941"/>
                  </a:lnTo>
                  <a:lnTo>
                    <a:pt x="5257" y="1810"/>
                  </a:lnTo>
                  <a:lnTo>
                    <a:pt x="5425" y="1705"/>
                  </a:lnTo>
                  <a:lnTo>
                    <a:pt x="5616" y="1618"/>
                  </a:lnTo>
                  <a:lnTo>
                    <a:pt x="5829" y="1562"/>
                  </a:lnTo>
                  <a:lnTo>
                    <a:pt x="6050" y="1543"/>
                  </a:lnTo>
                  <a:lnTo>
                    <a:pt x="6638" y="1543"/>
                  </a:lnTo>
                  <a:lnTo>
                    <a:pt x="6783" y="1524"/>
                  </a:lnTo>
                  <a:lnTo>
                    <a:pt x="6920" y="1481"/>
                  </a:lnTo>
                  <a:lnTo>
                    <a:pt x="7035" y="1406"/>
                  </a:lnTo>
                  <a:lnTo>
                    <a:pt x="7119" y="1313"/>
                  </a:lnTo>
                  <a:lnTo>
                    <a:pt x="7180" y="1207"/>
                  </a:lnTo>
                  <a:lnTo>
                    <a:pt x="7203" y="1082"/>
                  </a:lnTo>
                  <a:lnTo>
                    <a:pt x="7203" y="1064"/>
                  </a:lnTo>
                  <a:lnTo>
                    <a:pt x="7225" y="877"/>
                  </a:lnTo>
                  <a:lnTo>
                    <a:pt x="7279" y="697"/>
                  </a:lnTo>
                  <a:lnTo>
                    <a:pt x="7378" y="529"/>
                  </a:lnTo>
                  <a:lnTo>
                    <a:pt x="7508" y="379"/>
                  </a:lnTo>
                  <a:lnTo>
                    <a:pt x="7668" y="249"/>
                  </a:lnTo>
                  <a:lnTo>
                    <a:pt x="7851" y="143"/>
                  </a:lnTo>
                  <a:lnTo>
                    <a:pt x="8057" y="68"/>
                  </a:lnTo>
                  <a:lnTo>
                    <a:pt x="8278" y="19"/>
                  </a:lnTo>
                  <a:lnTo>
                    <a:pt x="8515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914400">
                <a:defRPr sz="180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</p:grpSp>
      <p:sp>
        <p:nvSpPr>
          <p:cNvPr id="440" name="선"/>
          <p:cNvSpPr/>
          <p:nvPr/>
        </p:nvSpPr>
        <p:spPr>
          <a:xfrm>
            <a:off x="16666867" y="4809313"/>
            <a:ext cx="1941386" cy="1"/>
          </a:xfrm>
          <a:prstGeom prst="line">
            <a:avLst/>
          </a:prstGeom>
          <a:ln w="38100">
            <a:solidFill>
              <a:srgbClr val="07AED5"/>
            </a:solidFill>
            <a:miter lim="400000"/>
            <a:tailEnd type="oval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41" name="과거 매물 학습데이터…"/>
          <p:cNvSpPr txBox="1"/>
          <p:nvPr/>
        </p:nvSpPr>
        <p:spPr>
          <a:xfrm>
            <a:off x="2444323" y="4249501"/>
            <a:ext cx="3528442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914400">
              <a:defRPr sz="3000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algn="l" defTabSz="914400">
              <a:defRPr sz="3000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</a:lstStyle>
          <a:p>
            <a:r>
              <a:rPr dirty="0" err="1"/>
              <a:t>과거</a:t>
            </a:r>
            <a:r>
              <a:rPr dirty="0"/>
              <a:t> </a:t>
            </a:r>
            <a:r>
              <a:rPr dirty="0" err="1"/>
              <a:t>매물</a:t>
            </a:r>
            <a:r>
              <a:rPr dirty="0"/>
              <a:t> </a:t>
            </a:r>
            <a:r>
              <a:rPr dirty="0" err="1"/>
              <a:t>학습데이터</a:t>
            </a:r>
            <a:r>
              <a:rPr dirty="0"/>
              <a:t> </a:t>
            </a:r>
          </a:p>
          <a:p>
            <a:pPr lvl="1"/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수집</a:t>
            </a:r>
            <a:r>
              <a:rPr dirty="0"/>
              <a:t> </a:t>
            </a:r>
            <a:r>
              <a:rPr dirty="0" err="1"/>
              <a:t>과정</a:t>
            </a:r>
            <a:endParaRPr dirty="0"/>
          </a:p>
        </p:txBody>
      </p:sp>
      <p:sp>
        <p:nvSpPr>
          <p:cNvPr id="442" name="선"/>
          <p:cNvSpPr/>
          <p:nvPr/>
        </p:nvSpPr>
        <p:spPr>
          <a:xfrm>
            <a:off x="16666867" y="8860844"/>
            <a:ext cx="1941386" cy="1"/>
          </a:xfrm>
          <a:prstGeom prst="line">
            <a:avLst/>
          </a:prstGeom>
          <a:ln w="38100">
            <a:solidFill>
              <a:schemeClr val="accent5">
                <a:lumOff val="-29866"/>
              </a:schemeClr>
            </a:solidFill>
            <a:miter lim="400000"/>
            <a:tailEnd type="oval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43" name="이상치 제거 및 log1p"/>
          <p:cNvSpPr txBox="1"/>
          <p:nvPr/>
        </p:nvSpPr>
        <p:spPr>
          <a:xfrm>
            <a:off x="18859851" y="8530644"/>
            <a:ext cx="3532633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914400">
              <a:defRPr sz="3000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dirty="0" err="1"/>
              <a:t>이상치</a:t>
            </a:r>
            <a:r>
              <a:rPr dirty="0"/>
              <a:t> </a:t>
            </a:r>
            <a:r>
              <a:rPr dirty="0" err="1"/>
              <a:t>제거</a:t>
            </a:r>
            <a:r>
              <a:rPr dirty="0"/>
              <a:t> 및 log1p</a:t>
            </a:r>
          </a:p>
        </p:txBody>
      </p:sp>
      <p:sp>
        <p:nvSpPr>
          <p:cNvPr id="444" name="선"/>
          <p:cNvSpPr/>
          <p:nvPr/>
        </p:nvSpPr>
        <p:spPr>
          <a:xfrm flipH="1">
            <a:off x="6189580" y="8860844"/>
            <a:ext cx="1941385" cy="1"/>
          </a:xfrm>
          <a:prstGeom prst="line">
            <a:avLst/>
          </a:prstGeom>
          <a:ln w="38100">
            <a:solidFill>
              <a:srgbClr val="07AED5"/>
            </a:solidFill>
            <a:miter lim="400000"/>
            <a:tailEnd type="oval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45" name="상관 관계 분석"/>
          <p:cNvSpPr txBox="1"/>
          <p:nvPr/>
        </p:nvSpPr>
        <p:spPr>
          <a:xfrm>
            <a:off x="3582370" y="8530644"/>
            <a:ext cx="2390395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914400">
              <a:defRPr sz="3000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rPr dirty="0" err="1"/>
              <a:t>상관</a:t>
            </a:r>
            <a:r>
              <a:rPr dirty="0"/>
              <a:t> </a:t>
            </a:r>
            <a:r>
              <a:rPr dirty="0" err="1"/>
              <a:t>관계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</p:txBody>
      </p:sp>
      <p:sp>
        <p:nvSpPr>
          <p:cNvPr id="446" name="실시간 매물 크롤링 과정"/>
          <p:cNvSpPr txBox="1"/>
          <p:nvPr/>
        </p:nvSpPr>
        <p:spPr>
          <a:xfrm>
            <a:off x="18859851" y="4479113"/>
            <a:ext cx="3878962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914400">
              <a:defRPr sz="3000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매물</a:t>
            </a:r>
            <a:r>
              <a:rPr dirty="0"/>
              <a:t> </a:t>
            </a:r>
            <a:r>
              <a:rPr dirty="0" err="1"/>
              <a:t>크롤링</a:t>
            </a:r>
            <a:r>
              <a:rPr dirty="0"/>
              <a:t> </a:t>
            </a:r>
            <a:r>
              <a:rPr dirty="0" err="1"/>
              <a:t>과정</a:t>
            </a:r>
            <a:endParaRPr dirty="0"/>
          </a:p>
        </p:txBody>
      </p:sp>
      <p:sp>
        <p:nvSpPr>
          <p:cNvPr id="447" name="선"/>
          <p:cNvSpPr/>
          <p:nvPr/>
        </p:nvSpPr>
        <p:spPr>
          <a:xfrm flipH="1">
            <a:off x="6202280" y="4809313"/>
            <a:ext cx="1941385" cy="1"/>
          </a:xfrm>
          <a:prstGeom prst="line">
            <a:avLst/>
          </a:prstGeom>
          <a:ln w="38100">
            <a:solidFill>
              <a:schemeClr val="accent5">
                <a:lumOff val="-29866"/>
              </a:schemeClr>
            </a:solidFill>
            <a:miter lim="400000"/>
            <a:tailEnd type="oval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1D494FE-D54A-B588-C8FA-02995B3CF41C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A36C970-3838-CFC1-E2DA-B11414DE2402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A61B4297-05E2-E194-84D2-16589E15281C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476139D3-2866-5D86-9461-6F948F16C8F6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12D87582-2377-CFE3-B3F9-3B0238B15810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4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4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4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" grpId="0" animBg="1"/>
      <p:bldP spid="443" grpId="0" animBg="1"/>
      <p:bldP spid="445" grpId="0" animBg="1"/>
      <p:bldP spid="44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449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450" name="II.데이터수집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II.데이터수집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ko-KR" altLang="en-US" sz="2800" dirty="0"/>
                <a:t>과거 매물 학습 데이터 자료 수집 과정</a:t>
              </a:r>
              <a:r>
                <a:rPr sz="2800" dirty="0"/>
                <a:t> </a:t>
              </a:r>
            </a:p>
          </p:txBody>
        </p:sp>
      </p:grpSp>
      <p:pic>
        <p:nvPicPr>
          <p:cNvPr id="459" name="그림 4" descr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41" y="2430611"/>
            <a:ext cx="22866159" cy="8854778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460" name="TextBox 10"/>
          <p:cNvSpPr txBox="1"/>
          <p:nvPr/>
        </p:nvSpPr>
        <p:spPr>
          <a:xfrm>
            <a:off x="7016390" y="11892689"/>
            <a:ext cx="9468007" cy="86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l" defTabSz="914400">
              <a:defRPr sz="5000"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lvl1pPr>
          </a:lstStyle>
          <a:p>
            <a:r>
              <a:rPr dirty="0"/>
              <a:t>[2</a:t>
            </a:r>
            <a:r>
              <a:rPr lang="en-US" dirty="0"/>
              <a:t>,</a:t>
            </a:r>
            <a:r>
              <a:rPr dirty="0"/>
              <a:t>666</a:t>
            </a:r>
            <a:r>
              <a:rPr lang="en-US" dirty="0"/>
              <a:t>,</a:t>
            </a:r>
            <a:r>
              <a:rPr dirty="0"/>
              <a:t>598 rows x 20 columns]</a:t>
            </a:r>
          </a:p>
        </p:txBody>
      </p:sp>
      <p:sp>
        <p:nvSpPr>
          <p:cNvPr id="461" name="직사각형"/>
          <p:cNvSpPr/>
          <p:nvPr/>
        </p:nvSpPr>
        <p:spPr>
          <a:xfrm>
            <a:off x="1008009" y="2427085"/>
            <a:ext cx="22825622" cy="8861830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2CF933F-C71B-A524-4B74-0391E8C2EC03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4AA7505C-A92E-11B3-EB1A-992E70D5E8E2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1CCE0CDB-FA37-0081-7ED7-427C2B988586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A10B95EF-8AB8-E01E-7E8A-D7C4F8AB805A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0AC60A6D-124A-3191-DC3F-DBCDF3E12E66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464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465" name="II.데이터수집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II.데이터수집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ko-KR" altLang="en-US" sz="2800" dirty="0"/>
                <a:t>과거 매물 학습 데이터 자료 수집 과정</a:t>
              </a:r>
              <a:endParaRPr sz="2800" dirty="0"/>
            </a:p>
          </p:txBody>
        </p:sp>
      </p:grpSp>
      <p:pic>
        <p:nvPicPr>
          <p:cNvPr id="474" name="그림 4" descr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41" y="2430611"/>
            <a:ext cx="22866159" cy="8854778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475" name="TextBox 10"/>
          <p:cNvSpPr txBox="1"/>
          <p:nvPr/>
        </p:nvSpPr>
        <p:spPr>
          <a:xfrm>
            <a:off x="7016390" y="11892689"/>
            <a:ext cx="9468007" cy="86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l" defTabSz="914400">
              <a:defRPr sz="5000"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lvl1pPr>
          </a:lstStyle>
          <a:p>
            <a:r>
              <a:rPr dirty="0"/>
              <a:t>[2</a:t>
            </a:r>
            <a:r>
              <a:rPr lang="en-US" dirty="0"/>
              <a:t>,</a:t>
            </a:r>
            <a:r>
              <a:rPr dirty="0"/>
              <a:t>666</a:t>
            </a:r>
            <a:r>
              <a:rPr lang="en-US" dirty="0"/>
              <a:t>,</a:t>
            </a:r>
            <a:r>
              <a:rPr dirty="0"/>
              <a:t>598 rows x 20 columns]</a:t>
            </a:r>
          </a:p>
        </p:txBody>
      </p:sp>
      <p:sp>
        <p:nvSpPr>
          <p:cNvPr id="476" name="직사각형"/>
          <p:cNvSpPr/>
          <p:nvPr/>
        </p:nvSpPr>
        <p:spPr>
          <a:xfrm>
            <a:off x="1028863" y="2412544"/>
            <a:ext cx="22783914" cy="8890912"/>
          </a:xfrm>
          <a:prstGeom prst="rect">
            <a:avLst/>
          </a:prstGeom>
          <a:solidFill>
            <a:srgbClr val="000000">
              <a:alpha val="6604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484" name="그룹화"/>
          <p:cNvGrpSpPr/>
          <p:nvPr/>
        </p:nvGrpSpPr>
        <p:grpSpPr>
          <a:xfrm>
            <a:off x="3253554" y="2400101"/>
            <a:ext cx="16815682" cy="8915703"/>
            <a:chOff x="0" y="0"/>
            <a:chExt cx="16815680" cy="8915702"/>
          </a:xfrm>
        </p:grpSpPr>
        <p:pic>
          <p:nvPicPr>
            <p:cNvPr id="477" name="그림 4" descr="그림 4"/>
            <p:cNvPicPr>
              <a:picLocks noChangeAspect="1"/>
            </p:cNvPicPr>
            <p:nvPr/>
          </p:nvPicPr>
          <p:blipFill>
            <a:blip r:embed="rId2"/>
            <a:srcRect l="10424" r="84955"/>
            <a:stretch>
              <a:fillRect/>
            </a:stretch>
          </p:blipFill>
          <p:spPr>
            <a:xfrm>
              <a:off x="0" y="0"/>
              <a:ext cx="1063739" cy="89157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8" name="그림 4" descr="그림 4"/>
            <p:cNvPicPr>
              <a:picLocks noChangeAspect="1"/>
            </p:cNvPicPr>
            <p:nvPr/>
          </p:nvPicPr>
          <p:blipFill>
            <a:blip r:embed="rId2"/>
            <a:srcRect l="18674" r="76518"/>
            <a:stretch>
              <a:fillRect/>
            </a:stretch>
          </p:blipFill>
          <p:spPr>
            <a:xfrm>
              <a:off x="2110265" y="17264"/>
              <a:ext cx="1102308" cy="8881288"/>
            </a:xfrm>
            <a:prstGeom prst="rect">
              <a:avLst/>
            </a:prstGeom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</p:pic>
        <p:pic>
          <p:nvPicPr>
            <p:cNvPr id="479" name="그림 4" descr="그림 4"/>
            <p:cNvPicPr>
              <a:picLocks noChangeAspect="1"/>
            </p:cNvPicPr>
            <p:nvPr/>
          </p:nvPicPr>
          <p:blipFill>
            <a:blip r:embed="rId2"/>
            <a:srcRect l="31645" r="42582"/>
            <a:stretch>
              <a:fillRect/>
            </a:stretch>
          </p:blipFill>
          <p:spPr>
            <a:xfrm>
              <a:off x="5049788" y="0"/>
              <a:ext cx="5933766" cy="8915672"/>
            </a:xfrm>
            <a:prstGeom prst="rect">
              <a:avLst/>
            </a:prstGeom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</p:pic>
        <p:grpSp>
          <p:nvGrpSpPr>
            <p:cNvPr id="483" name="그룹화"/>
            <p:cNvGrpSpPr/>
            <p:nvPr/>
          </p:nvGrpSpPr>
          <p:grpSpPr>
            <a:xfrm>
              <a:off x="15742530" y="67596"/>
              <a:ext cx="1073151" cy="8780604"/>
              <a:chOff x="0" y="0"/>
              <a:chExt cx="1073150" cy="8780602"/>
            </a:xfrm>
          </p:grpSpPr>
          <p:pic>
            <p:nvPicPr>
              <p:cNvPr id="480" name="그림 4" descr="그림 4"/>
              <p:cNvPicPr>
                <a:picLocks noChangeAspect="1"/>
              </p:cNvPicPr>
              <p:nvPr/>
            </p:nvPicPr>
            <p:blipFill>
              <a:blip r:embed="rId2"/>
              <a:srcRect l="78578" r="16813"/>
              <a:stretch>
                <a:fillRect/>
              </a:stretch>
            </p:blipFill>
            <p:spPr>
              <a:xfrm>
                <a:off x="14428" y="0"/>
                <a:ext cx="1044787" cy="8780603"/>
              </a:xfrm>
              <a:prstGeom prst="rect">
                <a:avLst/>
              </a:prstGeom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</p:pic>
          <p:sp>
            <p:nvSpPr>
              <p:cNvPr id="481" name="직사각형 5"/>
              <p:cNvSpPr/>
              <p:nvPr/>
            </p:nvSpPr>
            <p:spPr>
              <a:xfrm>
                <a:off x="99826" y="944671"/>
                <a:ext cx="873496" cy="424268"/>
              </a:xfrm>
              <a:prstGeom prst="rect">
                <a:avLst/>
              </a:prstGeom>
              <a:noFill/>
              <a:ln w="19050" cap="flat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1800">
                    <a:solidFill>
                      <a:srgbClr val="FFFFFF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482" name="직사각형 8"/>
              <p:cNvSpPr/>
              <p:nvPr/>
            </p:nvSpPr>
            <p:spPr>
              <a:xfrm>
                <a:off x="0" y="13388"/>
                <a:ext cx="1073150" cy="8753765"/>
              </a:xfrm>
              <a:prstGeom prst="rect">
                <a:avLst/>
              </a:prstGeom>
              <a:noFill/>
              <a:ln w="19050" cap="flat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1800">
                    <a:solidFill>
                      <a:srgbClr val="FFFFFF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</p:grpSp>
      </p:grpSp>
      <p:sp>
        <p:nvSpPr>
          <p:cNvPr id="485" name="직사각형"/>
          <p:cNvSpPr/>
          <p:nvPr/>
        </p:nvSpPr>
        <p:spPr>
          <a:xfrm>
            <a:off x="1008009" y="2427085"/>
            <a:ext cx="22825622" cy="8861830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2F6F7DD-72F9-BBC2-E4C8-700B00B0D556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90BAA640-F560-5A31-E878-EC2BD10F1FAC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7B39D95F-C35B-F8B9-0CFB-9D6FAB8810A3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A47DA04E-652D-B41D-7AA0-37DAB346FD69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7DD1D4DF-6B8A-F2A6-9123-BD1B2615AB77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488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489" name="II.데이터수집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II.데이터수집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ko-KR" altLang="en-US" sz="2800" dirty="0"/>
                <a:t>과거 매물 학습 데이터 자료 수집 과정</a:t>
              </a:r>
              <a:endParaRPr sz="2800" dirty="0"/>
            </a:p>
          </p:txBody>
        </p:sp>
      </p:grpSp>
      <p:pic>
        <p:nvPicPr>
          <p:cNvPr id="498" name="그림 4" descr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41" y="2430611"/>
            <a:ext cx="22866159" cy="8854778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499" name="TextBox 10"/>
          <p:cNvSpPr txBox="1"/>
          <p:nvPr/>
        </p:nvSpPr>
        <p:spPr>
          <a:xfrm>
            <a:off x="7457996" y="11892689"/>
            <a:ext cx="9468007" cy="86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l" defTabSz="914400">
              <a:defRPr sz="5000"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lvl1pPr>
          </a:lstStyle>
          <a:p>
            <a:r>
              <a:rPr dirty="0"/>
              <a:t>[334</a:t>
            </a:r>
            <a:r>
              <a:rPr lang="en-US" dirty="0"/>
              <a:t>,</a:t>
            </a:r>
            <a:r>
              <a:rPr dirty="0"/>
              <a:t>600 rows x 9 columns]</a:t>
            </a:r>
          </a:p>
        </p:txBody>
      </p:sp>
      <p:sp>
        <p:nvSpPr>
          <p:cNvPr id="500" name="직사각형"/>
          <p:cNvSpPr/>
          <p:nvPr/>
        </p:nvSpPr>
        <p:spPr>
          <a:xfrm>
            <a:off x="1028863" y="2412544"/>
            <a:ext cx="22783914" cy="8890912"/>
          </a:xfrm>
          <a:prstGeom prst="rect">
            <a:avLst/>
          </a:prstGeom>
          <a:solidFill>
            <a:srgbClr val="000000">
              <a:alpha val="74452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01" name="직사각형"/>
          <p:cNvSpPr/>
          <p:nvPr/>
        </p:nvSpPr>
        <p:spPr>
          <a:xfrm>
            <a:off x="1008009" y="2427085"/>
            <a:ext cx="22825622" cy="8861830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504" name="그룹화"/>
          <p:cNvGrpSpPr/>
          <p:nvPr/>
        </p:nvGrpSpPr>
        <p:grpSpPr>
          <a:xfrm>
            <a:off x="5531405" y="2406160"/>
            <a:ext cx="14199021" cy="8903680"/>
            <a:chOff x="0" y="0"/>
            <a:chExt cx="14199020" cy="8903679"/>
          </a:xfrm>
        </p:grpSpPr>
        <p:pic>
          <p:nvPicPr>
            <p:cNvPr id="502" name="그림 20" descr="그림 20"/>
            <p:cNvPicPr>
              <a:picLocks noChangeAspect="1"/>
            </p:cNvPicPr>
            <p:nvPr/>
          </p:nvPicPr>
          <p:blipFill>
            <a:blip r:embed="rId3"/>
            <a:srcRect l="10002" b="10134"/>
            <a:stretch>
              <a:fillRect/>
            </a:stretch>
          </p:blipFill>
          <p:spPr>
            <a:xfrm>
              <a:off x="0" y="0"/>
              <a:ext cx="14199021" cy="8903680"/>
            </a:xfrm>
            <a:prstGeom prst="rect">
              <a:avLst/>
            </a:prstGeom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</p:pic>
        <p:sp>
          <p:nvSpPr>
            <p:cNvPr id="503" name="직사각형"/>
            <p:cNvSpPr/>
            <p:nvPr/>
          </p:nvSpPr>
          <p:spPr>
            <a:xfrm>
              <a:off x="34015" y="48978"/>
              <a:ext cx="14151348" cy="8805654"/>
            </a:xfrm>
            <a:prstGeom prst="rect">
              <a:avLst/>
            </a:prstGeom>
            <a:noFill/>
            <a:ln w="50800" cap="flat">
              <a:solidFill>
                <a:schemeClr val="accent4">
                  <a:hueOff val="-348544"/>
                  <a:lumOff val="-7139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A30B7AC8-5107-F214-E625-7B9E681F08DB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C3E3E8B-32A0-3947-A898-41044A413B2A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0B596C7E-46C4-A5CE-A996-2847D69B4EB7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71839172-65CA-AD9B-F66D-310717E80E1E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F29B5B65-922E-1396-C4D2-25923F62718D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9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507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508" name="II.데이터수집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II.데이터수집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ko-KR" altLang="en-US" sz="2800" dirty="0"/>
                <a:t>과거 매물 학습 데이터 자료 수집 과정</a:t>
              </a:r>
              <a:endParaRPr sz="2800" dirty="0"/>
            </a:p>
          </p:txBody>
        </p:sp>
      </p:grpSp>
      <p:grpSp>
        <p:nvGrpSpPr>
          <p:cNvPr id="519" name="그룹화"/>
          <p:cNvGrpSpPr/>
          <p:nvPr/>
        </p:nvGrpSpPr>
        <p:grpSpPr>
          <a:xfrm>
            <a:off x="733707" y="3362380"/>
            <a:ext cx="10037178" cy="6657182"/>
            <a:chOff x="0" y="0"/>
            <a:chExt cx="10037177" cy="6657181"/>
          </a:xfrm>
        </p:grpSpPr>
        <p:pic>
          <p:nvPicPr>
            <p:cNvPr id="517" name="그림 5" descr="그림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10037178" cy="6657182"/>
            </a:xfrm>
            <a:prstGeom prst="rect">
              <a:avLst/>
            </a:prstGeom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</p:pic>
        <p:sp>
          <p:nvSpPr>
            <p:cNvPr id="518" name="직사각형"/>
            <p:cNvSpPr/>
            <p:nvPr/>
          </p:nvSpPr>
          <p:spPr>
            <a:xfrm>
              <a:off x="1227738" y="1213041"/>
              <a:ext cx="8608716" cy="742106"/>
            </a:xfrm>
            <a:prstGeom prst="rect">
              <a:avLst/>
            </a:prstGeom>
            <a:solidFill>
              <a:srgbClr val="FFFFFF">
                <a:alpha val="16235"/>
              </a:srgbClr>
            </a:solidFill>
            <a:ln w="127000" cap="flat">
              <a:solidFill>
                <a:schemeClr val="accent4">
                  <a:alpha val="16235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528" name="그룹화"/>
          <p:cNvGrpSpPr/>
          <p:nvPr/>
        </p:nvGrpSpPr>
        <p:grpSpPr>
          <a:xfrm>
            <a:off x="835343" y="1900791"/>
            <a:ext cx="7828357" cy="765503"/>
            <a:chOff x="0" y="0"/>
            <a:chExt cx="7828355" cy="765502"/>
          </a:xfrm>
        </p:grpSpPr>
        <p:sp>
          <p:nvSpPr>
            <p:cNvPr id="520" name="직사각형"/>
            <p:cNvSpPr/>
            <p:nvPr/>
          </p:nvSpPr>
          <p:spPr>
            <a:xfrm>
              <a:off x="0" y="67445"/>
              <a:ext cx="1998295" cy="69805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521" name="직사각형"/>
            <p:cNvSpPr/>
            <p:nvPr/>
          </p:nvSpPr>
          <p:spPr>
            <a:xfrm>
              <a:off x="1970628" y="67445"/>
              <a:ext cx="1998295" cy="69805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522" name="직사각형"/>
            <p:cNvSpPr/>
            <p:nvPr/>
          </p:nvSpPr>
          <p:spPr>
            <a:xfrm>
              <a:off x="3968452" y="67445"/>
              <a:ext cx="1998296" cy="69805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523" name="직사각형"/>
            <p:cNvSpPr/>
            <p:nvPr/>
          </p:nvSpPr>
          <p:spPr>
            <a:xfrm>
              <a:off x="5830060" y="67445"/>
              <a:ext cx="1998296" cy="69805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524" name="자치구명"/>
            <p:cNvSpPr txBox="1"/>
            <p:nvPr/>
          </p:nvSpPr>
          <p:spPr>
            <a:xfrm>
              <a:off x="26777" y="0"/>
              <a:ext cx="1944741" cy="725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latin typeface="Noto Sans KR Medium"/>
                  <a:ea typeface="Noto Sans KR Medium"/>
                  <a:cs typeface="Noto Sans KR Medium"/>
                  <a:sym typeface="Noto Sans KR Medium"/>
                </a:defRPr>
              </a:lvl1pPr>
            </a:lstStyle>
            <a:p>
              <a:r>
                <a:t>자치구명</a:t>
              </a:r>
            </a:p>
          </p:txBody>
        </p:sp>
        <p:sp>
          <p:nvSpPr>
            <p:cNvPr id="525" name="법정동명"/>
            <p:cNvSpPr txBox="1"/>
            <p:nvPr/>
          </p:nvSpPr>
          <p:spPr>
            <a:xfrm>
              <a:off x="1997405" y="0"/>
              <a:ext cx="1944741" cy="725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latin typeface="Noto Sans KR Medium"/>
                  <a:ea typeface="Noto Sans KR Medium"/>
                  <a:cs typeface="Noto Sans KR Medium"/>
                  <a:sym typeface="Noto Sans KR Medium"/>
                </a:defRPr>
              </a:lvl1pPr>
            </a:lstStyle>
            <a:p>
              <a:r>
                <a:rPr dirty="0" err="1"/>
                <a:t>법정동명</a:t>
              </a:r>
              <a:endParaRPr dirty="0"/>
            </a:p>
          </p:txBody>
        </p:sp>
        <p:sp>
          <p:nvSpPr>
            <p:cNvPr id="526" name="본번"/>
            <p:cNvSpPr txBox="1"/>
            <p:nvPr/>
          </p:nvSpPr>
          <p:spPr>
            <a:xfrm>
              <a:off x="4436453" y="0"/>
              <a:ext cx="1062294" cy="725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latin typeface="Noto Sans KR Medium"/>
                  <a:ea typeface="Noto Sans KR Medium"/>
                  <a:cs typeface="Noto Sans KR Medium"/>
                  <a:sym typeface="Noto Sans KR Medium"/>
                </a:defRPr>
              </a:lvl1pPr>
            </a:lstStyle>
            <a:p>
              <a:r>
                <a:t>본번</a:t>
              </a:r>
            </a:p>
          </p:txBody>
        </p:sp>
        <p:sp>
          <p:nvSpPr>
            <p:cNvPr id="527" name="부번"/>
            <p:cNvSpPr txBox="1"/>
            <p:nvPr/>
          </p:nvSpPr>
          <p:spPr>
            <a:xfrm>
              <a:off x="6298061" y="0"/>
              <a:ext cx="1062294" cy="725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latin typeface="Noto Sans KR Medium"/>
                  <a:ea typeface="Noto Sans KR Medium"/>
                  <a:cs typeface="Noto Sans KR Medium"/>
                  <a:sym typeface="Noto Sans KR Medium"/>
                </a:defRPr>
              </a:lvl1pPr>
            </a:lstStyle>
            <a:p>
              <a:r>
                <a:t>부번</a:t>
              </a:r>
            </a:p>
          </p:txBody>
        </p:sp>
      </p:grpSp>
      <p:grpSp>
        <p:nvGrpSpPr>
          <p:cNvPr id="531" name="그룹화"/>
          <p:cNvGrpSpPr/>
          <p:nvPr/>
        </p:nvGrpSpPr>
        <p:grpSpPr>
          <a:xfrm>
            <a:off x="8668247" y="2283542"/>
            <a:ext cx="2052858" cy="851603"/>
            <a:chOff x="0" y="0"/>
            <a:chExt cx="2052857" cy="851602"/>
          </a:xfrm>
        </p:grpSpPr>
        <p:sp>
          <p:nvSpPr>
            <p:cNvPr id="529" name="선"/>
            <p:cNvSpPr/>
            <p:nvPr/>
          </p:nvSpPr>
          <p:spPr>
            <a:xfrm>
              <a:off x="0" y="0"/>
              <a:ext cx="2052858" cy="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30" name="선"/>
            <p:cNvSpPr/>
            <p:nvPr/>
          </p:nvSpPr>
          <p:spPr>
            <a:xfrm>
              <a:off x="2023435" y="86099"/>
              <a:ext cx="1" cy="765504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custDash>
                <a:ds d="200000" sp="200000"/>
              </a:custDash>
              <a:miter lim="400000"/>
              <a:tailEnd type="arrow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534" name="그림 15"/>
          <p:cNvGrpSpPr/>
          <p:nvPr/>
        </p:nvGrpSpPr>
        <p:grpSpPr>
          <a:xfrm>
            <a:off x="12031006" y="2015722"/>
            <a:ext cx="3478989" cy="4985658"/>
            <a:chOff x="0" y="0"/>
            <a:chExt cx="3478988" cy="4985657"/>
          </a:xfrm>
        </p:grpSpPr>
        <p:pic>
          <p:nvPicPr>
            <p:cNvPr id="533" name="그림 15" descr="그림 15"/>
            <p:cNvPicPr>
              <a:picLocks noChangeAspect="1"/>
            </p:cNvPicPr>
            <p:nvPr/>
          </p:nvPicPr>
          <p:blipFill>
            <a:blip r:embed="rId3"/>
            <a:srcRect b="55429"/>
            <a:stretch>
              <a:fillRect/>
            </a:stretch>
          </p:blipFill>
          <p:spPr>
            <a:xfrm>
              <a:off x="127000" y="88900"/>
              <a:ext cx="3224989" cy="4655458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532" name="그림 15" descr="그림 15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478989" cy="4985658"/>
            </a:xfrm>
            <a:prstGeom prst="rect">
              <a:avLst/>
            </a:prstGeom>
            <a:effectLst/>
          </p:spPr>
        </p:pic>
      </p:grpSp>
      <p:pic>
        <p:nvPicPr>
          <p:cNvPr id="535" name="그림 24" descr="그림 24"/>
          <p:cNvPicPr>
            <a:picLocks noChangeAspect="1"/>
          </p:cNvPicPr>
          <p:nvPr/>
        </p:nvPicPr>
        <p:blipFill>
          <a:blip r:embed="rId5"/>
          <a:srcRect t="4725"/>
          <a:stretch>
            <a:fillRect/>
          </a:stretch>
        </p:blipFill>
        <p:spPr>
          <a:xfrm>
            <a:off x="16923306" y="2125729"/>
            <a:ext cx="6227538" cy="2241053"/>
          </a:xfrm>
          <a:prstGeom prst="rect">
            <a:avLst/>
          </a:prstGeom>
          <a:ln w="25400">
            <a:solidFill>
              <a:srgbClr val="FFFFFF"/>
            </a:solidFill>
            <a:miter lim="400000"/>
          </a:ln>
          <a:effectLst>
            <a:outerShdw blurRad="50800" dist="25400" dir="3600000" rotWithShape="0">
              <a:srgbClr val="000000">
                <a:alpha val="70000"/>
              </a:srgbClr>
            </a:outerShdw>
          </a:effectLst>
        </p:spPr>
      </p:pic>
      <p:sp>
        <p:nvSpPr>
          <p:cNvPr id="536" name="선"/>
          <p:cNvSpPr/>
          <p:nvPr/>
        </p:nvSpPr>
        <p:spPr>
          <a:xfrm>
            <a:off x="10811976" y="4645093"/>
            <a:ext cx="1219030" cy="1"/>
          </a:xfrm>
          <a:prstGeom prst="line">
            <a:avLst/>
          </a:prstGeom>
          <a:ln w="76200">
            <a:solidFill>
              <a:schemeClr val="accent5">
                <a:lumOff val="-29866"/>
              </a:schemeClr>
            </a:solidFill>
            <a:miter lim="400000"/>
            <a:tailEnd type="arrow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537" name="선"/>
          <p:cNvSpPr/>
          <p:nvPr/>
        </p:nvSpPr>
        <p:spPr>
          <a:xfrm>
            <a:off x="15580371" y="3509335"/>
            <a:ext cx="1330237" cy="1"/>
          </a:xfrm>
          <a:prstGeom prst="line">
            <a:avLst/>
          </a:prstGeom>
          <a:ln w="76200">
            <a:solidFill>
              <a:schemeClr val="accent5">
                <a:lumOff val="-29866"/>
              </a:schemeClr>
            </a:solidFill>
            <a:miter lim="400000"/>
            <a:tailEnd type="arrow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540" name="그룹화"/>
          <p:cNvGrpSpPr/>
          <p:nvPr/>
        </p:nvGrpSpPr>
        <p:grpSpPr>
          <a:xfrm>
            <a:off x="20935472" y="3035351"/>
            <a:ext cx="1656415" cy="1745467"/>
            <a:chOff x="0" y="-7836"/>
            <a:chExt cx="1656414" cy="1745465"/>
          </a:xfrm>
        </p:grpSpPr>
        <p:sp>
          <p:nvSpPr>
            <p:cNvPr id="538" name="선"/>
            <p:cNvSpPr/>
            <p:nvPr/>
          </p:nvSpPr>
          <p:spPr>
            <a:xfrm flipH="1">
              <a:off x="1656414" y="-7837"/>
              <a:ext cx="1" cy="1745467"/>
            </a:xfrm>
            <a:prstGeom prst="line">
              <a:avLst/>
            </a:prstGeom>
            <a:noFill/>
            <a:ln w="76200" cap="flat">
              <a:solidFill>
                <a:schemeClr val="accent5">
                  <a:lumOff val="-29866"/>
                </a:schemeClr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39" name="선"/>
            <p:cNvSpPr/>
            <p:nvPr/>
          </p:nvSpPr>
          <p:spPr>
            <a:xfrm flipV="1">
              <a:off x="0" y="18415"/>
              <a:ext cx="1651145" cy="1"/>
            </a:xfrm>
            <a:prstGeom prst="line">
              <a:avLst/>
            </a:prstGeom>
            <a:noFill/>
            <a:ln w="76200" cap="flat">
              <a:solidFill>
                <a:schemeClr val="accent5">
                  <a:lumOff val="-2986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547" name="그룹화"/>
          <p:cNvGrpSpPr/>
          <p:nvPr/>
        </p:nvGrpSpPr>
        <p:grpSpPr>
          <a:xfrm>
            <a:off x="547029" y="10411060"/>
            <a:ext cx="7324934" cy="1643088"/>
            <a:chOff x="-126999" y="-15516"/>
            <a:chExt cx="7324932" cy="1643086"/>
          </a:xfrm>
        </p:grpSpPr>
        <p:grpSp>
          <p:nvGrpSpPr>
            <p:cNvPr id="544" name="스크린샷 2023-06-22 오후 4.33.48.png"/>
            <p:cNvGrpSpPr/>
            <p:nvPr/>
          </p:nvGrpSpPr>
          <p:grpSpPr>
            <a:xfrm>
              <a:off x="-127000" y="-15517"/>
              <a:ext cx="7324933" cy="1643088"/>
              <a:chOff x="0" y="0"/>
              <a:chExt cx="7324932" cy="1643086"/>
            </a:xfrm>
          </p:grpSpPr>
          <p:pic>
            <p:nvPicPr>
              <p:cNvPr id="543" name="스크린샷 2023-06-22 오후 4.33.48.png" descr="스크린샷 2023-06-22 오후 4.33.48.png"/>
              <p:cNvPicPr>
                <a:picLocks noChangeAspect="1"/>
              </p:cNvPicPr>
              <p:nvPr/>
            </p:nvPicPr>
            <p:blipFill>
              <a:blip r:embed="rId6"/>
              <a:srcRect l="1984" t="10037" r="1984"/>
              <a:stretch>
                <a:fillRect/>
              </a:stretch>
            </p:blipFill>
            <p:spPr>
              <a:xfrm>
                <a:off x="127000" y="88899"/>
                <a:ext cx="7070933" cy="1312888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542" name="스크린샷 2023-06-22 오후 4.33.48.png" descr="스크린샷 2023-06-22 오후 4.33.48.png"/>
              <p:cNvPicPr>
                <a:picLocks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7324933" cy="1643087"/>
              </a:xfrm>
              <a:prstGeom prst="rect">
                <a:avLst/>
              </a:prstGeom>
              <a:effectLst/>
            </p:spPr>
          </p:pic>
        </p:grpSp>
        <p:sp>
          <p:nvSpPr>
            <p:cNvPr id="545" name="직사각형"/>
            <p:cNvSpPr/>
            <p:nvPr/>
          </p:nvSpPr>
          <p:spPr>
            <a:xfrm>
              <a:off x="155078" y="0"/>
              <a:ext cx="4491802" cy="45487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546" name="직사각형"/>
            <p:cNvSpPr/>
            <p:nvPr/>
          </p:nvSpPr>
          <p:spPr>
            <a:xfrm>
              <a:off x="2689539" y="984003"/>
              <a:ext cx="4275374" cy="33447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551" name="그룹화"/>
          <p:cNvGrpSpPr/>
          <p:nvPr/>
        </p:nvGrpSpPr>
        <p:grpSpPr>
          <a:xfrm>
            <a:off x="13373721" y="4771675"/>
            <a:ext cx="10509886" cy="6980653"/>
            <a:chOff x="0" y="168331"/>
            <a:chExt cx="10509884" cy="6980651"/>
          </a:xfrm>
        </p:grpSpPr>
        <p:pic>
          <p:nvPicPr>
            <p:cNvPr id="548" name="그림 41" descr="그림 41"/>
            <p:cNvPicPr>
              <a:picLocks noChangeAspect="1"/>
            </p:cNvPicPr>
            <p:nvPr/>
          </p:nvPicPr>
          <p:blipFill>
            <a:blip r:embed="rId8"/>
            <a:srcRect l="151" r="33518" b="2354"/>
            <a:stretch>
              <a:fillRect/>
            </a:stretch>
          </p:blipFill>
          <p:spPr>
            <a:xfrm>
              <a:off x="0" y="168331"/>
              <a:ext cx="10509885" cy="6980653"/>
            </a:xfrm>
            <a:prstGeom prst="rect">
              <a:avLst/>
            </a:prstGeom>
            <a:ln w="25400" cap="flat">
              <a:solidFill>
                <a:srgbClr val="1E1E1E"/>
              </a:solidFill>
              <a:prstDash val="solid"/>
              <a:miter lim="400000"/>
            </a:ln>
            <a:effectLst>
              <a:outerShdw blurRad="50800" dist="25400" dir="3600000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549" name="직사각형"/>
            <p:cNvSpPr/>
            <p:nvPr/>
          </p:nvSpPr>
          <p:spPr>
            <a:xfrm>
              <a:off x="9234382" y="2050186"/>
              <a:ext cx="1270001" cy="586741"/>
            </a:xfrm>
            <a:prstGeom prst="rect">
              <a:avLst/>
            </a:prstGeom>
            <a:solidFill>
              <a:srgbClr val="1E1E1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550" name="직사각형"/>
            <p:cNvSpPr/>
            <p:nvPr/>
          </p:nvSpPr>
          <p:spPr>
            <a:xfrm>
              <a:off x="820939" y="1674564"/>
              <a:ext cx="1270001" cy="434138"/>
            </a:xfrm>
            <a:prstGeom prst="rect">
              <a:avLst/>
            </a:prstGeom>
            <a:solidFill>
              <a:srgbClr val="1E1E1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554" name="그림 27"/>
          <p:cNvGrpSpPr/>
          <p:nvPr/>
        </p:nvGrpSpPr>
        <p:grpSpPr>
          <a:xfrm>
            <a:off x="8078976" y="10458915"/>
            <a:ext cx="5862607" cy="1698308"/>
            <a:chOff x="0" y="0"/>
            <a:chExt cx="5862606" cy="1698307"/>
          </a:xfrm>
        </p:grpSpPr>
        <p:pic>
          <p:nvPicPr>
            <p:cNvPr id="553" name="그림 27" descr="그림 27"/>
            <p:cNvPicPr>
              <a:picLocks noChangeAspect="1"/>
            </p:cNvPicPr>
            <p:nvPr/>
          </p:nvPicPr>
          <p:blipFill>
            <a:blip r:embed="rId9"/>
            <a:srcRect l="2273" b="85005"/>
            <a:stretch>
              <a:fillRect/>
            </a:stretch>
          </p:blipFill>
          <p:spPr>
            <a:xfrm>
              <a:off x="127000" y="94918"/>
              <a:ext cx="5595823" cy="136209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552" name="그림 27" descr="그림 27"/>
            <p:cNvPicPr>
              <a:picLocks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-1" y="-1"/>
              <a:ext cx="5862608" cy="1698309"/>
            </a:xfrm>
            <a:prstGeom prst="rect">
              <a:avLst/>
            </a:prstGeom>
            <a:effectLst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5742C68-2DDA-366D-C9B4-B6B6A25346B9}"/>
              </a:ext>
            </a:extLst>
          </p:cNvPr>
          <p:cNvSpPr txBox="1"/>
          <p:nvPr/>
        </p:nvSpPr>
        <p:spPr>
          <a:xfrm>
            <a:off x="572651" y="12305950"/>
            <a:ext cx="13229149" cy="5812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2" algn="just" defTabSz="1828800">
              <a:lnSpc>
                <a:spcPct val="150000"/>
              </a:lnSpc>
              <a:spcBef>
                <a:spcPts val="1600"/>
              </a:spcBef>
              <a:defRPr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lang="ko-KR" altLang="en-US" dirty="0" err="1"/>
              <a:t>이고은</a:t>
            </a:r>
            <a:r>
              <a:rPr lang="en-US" altLang="ko-KR" dirty="0"/>
              <a:t>,</a:t>
            </a:r>
            <a:r>
              <a:rPr lang="ko-KR" altLang="en-US" dirty="0" err="1"/>
              <a:t>최열</a:t>
            </a:r>
            <a:r>
              <a:rPr lang="en-US" altLang="ko-KR" dirty="0"/>
              <a:t>, “</a:t>
            </a:r>
            <a:r>
              <a:rPr lang="ko-KR" altLang="en-US" dirty="0"/>
              <a:t>도시공원 유형 및 입지적 특성이 공동주택가격에 미치는 영향”</a:t>
            </a:r>
            <a:r>
              <a:rPr lang="en-US" altLang="ko-KR" dirty="0"/>
              <a:t>, 92page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E272222-7516-8844-9AB9-217C1374EBDF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538C67E5-511D-9467-80E6-03AF44E23FC3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9337BB0-37E1-6DE9-B699-87F3CAEDAEED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2CD45CE2-C3B4-D89E-9FF3-B8C70E4135BD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9C99FCA-2E85-D030-0E0D-25D3170370B0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556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557" name="II.데이터수집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II.데이터수집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ko-KR" altLang="en-US" sz="2800" dirty="0"/>
                <a:t>이상치 제거 및 </a:t>
              </a:r>
              <a:r>
                <a:rPr lang="en-US" altLang="ko-KR" sz="2800" dirty="0"/>
                <a:t>log1p</a:t>
              </a:r>
              <a:r>
                <a:rPr sz="2800" dirty="0"/>
                <a:t> </a:t>
              </a:r>
            </a:p>
          </p:txBody>
        </p:sp>
      </p:grpSp>
      <p:pic>
        <p:nvPicPr>
          <p:cNvPr id="566" name="그림 5" descr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637" y="1630193"/>
            <a:ext cx="6970408" cy="5227807"/>
          </a:xfrm>
          <a:prstGeom prst="rect">
            <a:avLst/>
          </a:prstGeom>
          <a:ln w="12700">
            <a:miter lim="400000"/>
          </a:ln>
        </p:spPr>
      </p:pic>
      <p:pic>
        <p:nvPicPr>
          <p:cNvPr id="567" name="그림 7" descr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2828" y="1630193"/>
            <a:ext cx="6972301" cy="52292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68" name="그림 9" descr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91" y="7863187"/>
            <a:ext cx="6972301" cy="52292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69" name="그림 11" descr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606" y="7863187"/>
            <a:ext cx="6972301" cy="5229226"/>
          </a:xfrm>
          <a:prstGeom prst="rect">
            <a:avLst/>
          </a:prstGeom>
          <a:ln w="12700">
            <a:miter lim="400000"/>
          </a:ln>
        </p:spPr>
      </p:pic>
      <p:sp>
        <p:nvSpPr>
          <p:cNvPr id="570" name="건물 금액 80억 이하…"/>
          <p:cNvSpPr txBox="1"/>
          <p:nvPr/>
        </p:nvSpPr>
        <p:spPr>
          <a:xfrm>
            <a:off x="9989551" y="6070291"/>
            <a:ext cx="4398253" cy="1087477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dirty="0" err="1"/>
              <a:t>건물</a:t>
            </a:r>
            <a:r>
              <a:rPr dirty="0"/>
              <a:t> </a:t>
            </a:r>
            <a:r>
              <a:rPr dirty="0" err="1"/>
              <a:t>금액</a:t>
            </a:r>
            <a:r>
              <a:rPr dirty="0"/>
              <a:t> 80억 </a:t>
            </a:r>
            <a:r>
              <a:rPr dirty="0" err="1"/>
              <a:t>이하</a:t>
            </a:r>
            <a:endParaRPr dirty="0"/>
          </a:p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dirty="0" err="1"/>
              <a:t>건물</a:t>
            </a:r>
            <a:r>
              <a:rPr dirty="0"/>
              <a:t> </a:t>
            </a:r>
            <a:r>
              <a:rPr dirty="0" err="1"/>
              <a:t>면적</a:t>
            </a:r>
            <a:r>
              <a:rPr dirty="0"/>
              <a:t> 100평 </a:t>
            </a:r>
            <a:r>
              <a:rPr dirty="0" err="1"/>
              <a:t>이하</a:t>
            </a:r>
            <a:endParaRPr dirty="0"/>
          </a:p>
        </p:txBody>
      </p:sp>
      <p:sp>
        <p:nvSpPr>
          <p:cNvPr id="571" name="종속변수 정규화"/>
          <p:cNvSpPr txBox="1"/>
          <p:nvPr/>
        </p:nvSpPr>
        <p:spPr>
          <a:xfrm>
            <a:off x="10115764" y="12653752"/>
            <a:ext cx="3525124" cy="618846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종속변수 정규화</a:t>
            </a:r>
          </a:p>
        </p:txBody>
      </p:sp>
      <p:sp>
        <p:nvSpPr>
          <p:cNvPr id="572" name="선"/>
          <p:cNvSpPr/>
          <p:nvPr/>
        </p:nvSpPr>
        <p:spPr>
          <a:xfrm>
            <a:off x="16664" y="7429500"/>
            <a:ext cx="24349761" cy="0"/>
          </a:xfrm>
          <a:prstGeom prst="line">
            <a:avLst/>
          </a:prstGeom>
          <a:ln w="38100" cap="rnd">
            <a:solidFill>
              <a:srgbClr val="000000"/>
            </a:solidFill>
            <a:custDash>
              <a:ds d="1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574" name="선"/>
          <p:cNvSpPr/>
          <p:nvPr/>
        </p:nvSpPr>
        <p:spPr>
          <a:xfrm>
            <a:off x="8528761" y="10477799"/>
            <a:ext cx="6970407" cy="1"/>
          </a:xfrm>
          <a:prstGeom prst="line">
            <a:avLst/>
          </a:prstGeom>
          <a:ln w="139700">
            <a:solidFill>
              <a:schemeClr val="accent1">
                <a:lumOff val="16847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575" name="선"/>
          <p:cNvSpPr/>
          <p:nvPr/>
        </p:nvSpPr>
        <p:spPr>
          <a:xfrm>
            <a:off x="8393122" y="4381200"/>
            <a:ext cx="6970407" cy="1"/>
          </a:xfrm>
          <a:prstGeom prst="line">
            <a:avLst/>
          </a:prstGeom>
          <a:ln w="139700">
            <a:solidFill>
              <a:schemeClr val="accent1">
                <a:lumOff val="16847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BE235D0-10D9-07F0-B058-806AC77CCFF1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1CE0C007-73CA-71F6-8C23-50524465FAFB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F35C2F6A-7BD8-7EBD-2408-3470BE406144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448B3811-1021-F628-43C9-D2D43C16DD0C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C977E62-1C19-2332-DE9C-5599A8CA2E07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590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591" name="II.데이터수집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II.데이터수집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ko-KR" altLang="en-US" sz="2800" dirty="0"/>
                <a:t>모델의 정확성</a:t>
              </a:r>
              <a:endParaRPr sz="2800" dirty="0"/>
            </a:p>
          </p:txBody>
        </p:sp>
      </p:grpSp>
      <p:sp>
        <p:nvSpPr>
          <p:cNvPr id="601" name="선"/>
          <p:cNvSpPr/>
          <p:nvPr/>
        </p:nvSpPr>
        <p:spPr>
          <a:xfrm>
            <a:off x="13617754" y="6858000"/>
            <a:ext cx="10772727" cy="0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602" name="그룹화"/>
          <p:cNvSpPr txBox="1"/>
          <p:nvPr/>
        </p:nvSpPr>
        <p:spPr>
          <a:xfrm>
            <a:off x="9411938" y="3009237"/>
            <a:ext cx="5560125" cy="171516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4000" dirty="0" err="1">
                <a:latin typeface="Noto Sans KR Medium"/>
                <a:ea typeface="Noto Sans KR Medium"/>
                <a:cs typeface="Noto Sans KR Medium"/>
                <a:sym typeface="Noto Sans KR Medium"/>
              </a:rPr>
              <a:t>이상치</a:t>
            </a:r>
            <a:r>
              <a:rPr sz="4000" dirty="0">
                <a:latin typeface="Noto Sans KR Medium"/>
                <a:ea typeface="Noto Sans KR Medium"/>
                <a:cs typeface="Noto Sans KR Medium"/>
                <a:sym typeface="Noto Sans KR Medium"/>
              </a:rPr>
              <a:t> </a:t>
            </a:r>
            <a:r>
              <a:rPr sz="4000" dirty="0" err="1">
                <a:latin typeface="Noto Sans KR Medium"/>
                <a:ea typeface="Noto Sans KR Medium"/>
                <a:cs typeface="Noto Sans KR Medium"/>
                <a:sym typeface="Noto Sans KR Medium"/>
              </a:rPr>
              <a:t>제거</a:t>
            </a:r>
            <a:endParaRPr sz="4000" dirty="0">
              <a:latin typeface="Noto Sans KR Medium"/>
              <a:ea typeface="Noto Sans KR Medium"/>
              <a:cs typeface="Noto Sans KR Medium"/>
              <a:sym typeface="Noto Sans KR Medium"/>
            </a:endParaRPr>
          </a:p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80억,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면적</a:t>
            </a: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100평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이상</a:t>
            </a: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제거</a:t>
            </a:r>
            <a:endParaRPr dirty="0">
              <a:latin typeface="Noto Sans KR Medium" panose="020B0600000000000000" pitchFamily="34" charset="-127"/>
              <a:ea typeface="Noto Sans KR Medium" panose="020B0600000000000000" pitchFamily="34" charset="-127"/>
            </a:endParaRPr>
          </a:p>
        </p:txBody>
      </p:sp>
      <p:sp>
        <p:nvSpPr>
          <p:cNvPr id="603" name="그룹화"/>
          <p:cNvSpPr txBox="1"/>
          <p:nvPr/>
        </p:nvSpPr>
        <p:spPr>
          <a:xfrm>
            <a:off x="8391396" y="9305192"/>
            <a:ext cx="7601207" cy="1089648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log1p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정규화를</a:t>
            </a: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통해</a:t>
            </a: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종속</a:t>
            </a: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변수</a:t>
            </a: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정규화</a:t>
            </a:r>
            <a:endParaRPr dirty="0">
              <a:latin typeface="Noto Sans KR Medium" panose="020B0600000000000000" pitchFamily="34" charset="-127"/>
              <a:ea typeface="Noto Sans KR Medium" panose="020B0600000000000000" pitchFamily="34" charset="-127"/>
            </a:endParaRPr>
          </a:p>
        </p:txBody>
      </p:sp>
      <p:sp>
        <p:nvSpPr>
          <p:cNvPr id="604" name="왜 log1p?"/>
          <p:cNvSpPr txBox="1"/>
          <p:nvPr/>
        </p:nvSpPr>
        <p:spPr>
          <a:xfrm>
            <a:off x="10852823" y="6388099"/>
            <a:ext cx="2678354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6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dirty="0"/>
              <a:t>왜 </a:t>
            </a:r>
            <a:r>
              <a:rPr b="1" dirty="0">
                <a:solidFill>
                  <a:schemeClr val="accent5">
                    <a:lumOff val="-29866"/>
                  </a:schemeClr>
                </a:solidFill>
              </a:rPr>
              <a:t>log1p</a:t>
            </a:r>
            <a:r>
              <a:rPr dirty="0"/>
              <a:t>?</a:t>
            </a:r>
          </a:p>
        </p:txBody>
      </p:sp>
      <p:sp>
        <p:nvSpPr>
          <p:cNvPr id="605" name="선"/>
          <p:cNvSpPr/>
          <p:nvPr/>
        </p:nvSpPr>
        <p:spPr>
          <a:xfrm>
            <a:off x="-14177" y="6858000"/>
            <a:ext cx="10772727" cy="0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09CC76B-E8BB-D8D4-6879-883B292FDCFF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F8C89D3B-6CEA-F7B8-CB55-2A06CAD138A2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A5FBA02B-B2E2-7E58-BF78-75421A9F391B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1F648BBB-7B51-8E13-78B8-E96E97FBC6FD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46942DB5-D394-AB17-C9E9-9F697F844F9E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2" grpId="0" animBg="1"/>
      <p:bldP spid="603" grpId="0" animBg="1"/>
      <p:bldP spid="604" grpId="3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577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578" name="II.데이터수집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II.데이터수집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ko-KR" altLang="en-US" sz="2800" dirty="0"/>
                <a:t>이상치 제거 및 </a:t>
              </a:r>
              <a:r>
                <a:rPr lang="en-US" altLang="ko-KR" sz="2800" dirty="0"/>
                <a:t>log1p</a:t>
              </a:r>
              <a:r>
                <a:rPr sz="2800" dirty="0"/>
                <a:t> 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F63E86F-5DFE-45BF-64D4-92D183779AF4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040BD8D3-D423-070F-27CA-DC0616EA9EE3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2B36F422-46D2-97B9-9F99-E457ED4A23D0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0E791FC3-54A1-3B63-8DC9-2A603C61D573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8815021-2E50-93D0-BDB8-298BDAD06AD3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37BB30B-D0C8-2AB1-976A-F4F152D5EAF3}"/>
              </a:ext>
            </a:extLst>
          </p:cNvPr>
          <p:cNvSpPr/>
          <p:nvPr/>
        </p:nvSpPr>
        <p:spPr>
          <a:xfrm>
            <a:off x="13831911" y="5113176"/>
            <a:ext cx="5022393" cy="65376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358BE8B-E0D0-D307-5C15-1CB9FA599DE2}"/>
              </a:ext>
            </a:extLst>
          </p:cNvPr>
          <p:cNvSpPr/>
          <p:nvPr/>
        </p:nvSpPr>
        <p:spPr>
          <a:xfrm>
            <a:off x="9772731" y="2065138"/>
            <a:ext cx="4838537" cy="772401"/>
          </a:xfrm>
          <a:prstGeom prst="round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Noto Sans KR Medium" panose="020B0600000000000000" pitchFamily="34" charset="-127"/>
                <a:ea typeface="Noto Sans KR Medium" panose="020B0600000000000000" pitchFamily="34" charset="-127"/>
                <a:cs typeface="Helvetica Neue Medium"/>
                <a:sym typeface="Helvetica Neue Medium"/>
              </a:rPr>
              <a:t>수치형 변환 정규화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DAD9AF5-3F13-A82D-B526-D34C4D9A230D}"/>
              </a:ext>
            </a:extLst>
          </p:cNvPr>
          <p:cNvSpPr/>
          <p:nvPr/>
        </p:nvSpPr>
        <p:spPr>
          <a:xfrm>
            <a:off x="5625889" y="5329232"/>
            <a:ext cx="4838537" cy="1411629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3200" dirty="0" err="1">
                <a:solidFill>
                  <a:schemeClr val="bg2">
                    <a:lumMod val="10000"/>
                  </a:schemeClr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  <a:cs typeface="Helvetica Neue Black Condensed"/>
                <a:sym typeface="Helvetica Neue Black Condensed"/>
              </a:rPr>
              <a:t>MinMaxScaler</a:t>
            </a:r>
            <a:endParaRPr lang="en-US" altLang="ko-KR" sz="3200" dirty="0">
              <a:solidFill>
                <a:schemeClr val="bg2">
                  <a:lumMod val="10000"/>
                </a:schemeClr>
              </a:solidFill>
              <a:latin typeface="Noto Sans KR Medium" panose="020B0600000000000000" pitchFamily="34" charset="-127"/>
              <a:ea typeface="Noto Sans KR Medium" panose="020B0600000000000000" pitchFamily="34" charset="-127"/>
              <a:cs typeface="Helvetica Neue Black Condensed"/>
              <a:sym typeface="Helvetica Neue Black Condensed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3200" dirty="0">
                <a:solidFill>
                  <a:schemeClr val="bg2">
                    <a:lumMod val="10000"/>
                  </a:schemeClr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  <a:cs typeface="Helvetica Neue Black Condensed"/>
                <a:sym typeface="Helvetica Neue Black Condensed"/>
              </a:rPr>
              <a:t>최소최대 스케일링</a:t>
            </a: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Noto Sans KR Medium" panose="020B0600000000000000" pitchFamily="34" charset="-127"/>
              <a:ea typeface="Noto Sans KR Medium" panose="020B0600000000000000" pitchFamily="34" charset="-127"/>
              <a:cs typeface="Helvetica Neue Medium"/>
              <a:sym typeface="Helvetica Neue Medium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56C1279-87EA-0A17-E679-7662AF239F56}"/>
              </a:ext>
            </a:extLst>
          </p:cNvPr>
          <p:cNvSpPr/>
          <p:nvPr/>
        </p:nvSpPr>
        <p:spPr>
          <a:xfrm>
            <a:off x="13919574" y="5329232"/>
            <a:ext cx="4838537" cy="1411629"/>
          </a:xfrm>
          <a:prstGeom prst="round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3200" dirty="0">
                <a:solidFill>
                  <a:schemeClr val="bg2">
                    <a:lumMod val="10000"/>
                  </a:schemeClr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  <a:cs typeface="Helvetica Neue Black Condensed"/>
                <a:sym typeface="Helvetica Neue Black Condensed"/>
              </a:rPr>
              <a:t>Log Scaling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3200" dirty="0">
                <a:solidFill>
                  <a:schemeClr val="bg2">
                    <a:lumMod val="10000"/>
                  </a:schemeClr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  <a:cs typeface="Helvetica Neue Black Condensed"/>
                <a:sym typeface="Helvetica Neue Black Condensed"/>
              </a:rPr>
              <a:t>로그 변환</a:t>
            </a: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Noto Sans KR Medium" panose="020B0600000000000000" pitchFamily="34" charset="-127"/>
              <a:ea typeface="Noto Sans KR Medium" panose="020B0600000000000000" pitchFamily="34" charset="-127"/>
              <a:cs typeface="Helvetica Neue Medium"/>
              <a:sym typeface="Helvetica Neue Medium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4C7CDFC-FAB4-8FB9-4584-A6077B7871FA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8420521" y="6740861"/>
            <a:ext cx="57297" cy="33512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1094FF3-70A0-0290-CB2D-7EE56DA0968C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flipH="1">
            <a:off x="16315629" y="6740861"/>
            <a:ext cx="23214" cy="3351296"/>
          </a:xfrm>
          <a:prstGeom prst="straightConnector1">
            <a:avLst/>
          </a:prstGeom>
          <a:ln w="762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402D704-4F0B-DF83-342B-28861D9E2357}"/>
              </a:ext>
            </a:extLst>
          </p:cNvPr>
          <p:cNvSpPr txBox="1"/>
          <p:nvPr/>
        </p:nvSpPr>
        <p:spPr>
          <a:xfrm>
            <a:off x="7171644" y="10092157"/>
            <a:ext cx="2612348" cy="14203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36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Noto Sans KR Medium" panose="020B0600000000000000" pitchFamily="34" charset="-127"/>
                <a:ea typeface="Noto Sans KR Medium" panose="020B0600000000000000" pitchFamily="34" charset="-127"/>
                <a:sym typeface="Helvetica Neue"/>
              </a:rPr>
              <a:t>선형 변환 방식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FD2500-540D-31A7-26E8-6F41199BF013}"/>
              </a:ext>
            </a:extLst>
          </p:cNvPr>
          <p:cNvSpPr txBox="1"/>
          <p:nvPr/>
        </p:nvSpPr>
        <p:spPr>
          <a:xfrm>
            <a:off x="14880755" y="10092157"/>
            <a:ext cx="2869745" cy="14203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36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Noto Sans KR Medium" panose="020B0600000000000000" pitchFamily="34" charset="-127"/>
                <a:ea typeface="Noto Sans KR Medium" panose="020B0600000000000000" pitchFamily="34" charset="-127"/>
                <a:sym typeface="Helvetica Neue"/>
              </a:rPr>
              <a:t>비선형 변환 방식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7AD4EFC-5173-6CE6-3C30-5D9A1ACE8551}"/>
              </a:ext>
            </a:extLst>
          </p:cNvPr>
          <p:cNvCxnSpPr>
            <a:cxnSpLocks/>
          </p:cNvCxnSpPr>
          <p:nvPr/>
        </p:nvCxnSpPr>
        <p:spPr>
          <a:xfrm>
            <a:off x="10464426" y="3087962"/>
            <a:ext cx="0" cy="2254429"/>
          </a:xfrm>
          <a:prstGeom prst="line">
            <a:avLst/>
          </a:prstGeom>
          <a:ln w="285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3B20226-D62E-B23F-C3AD-92C511448E56}"/>
              </a:ext>
            </a:extLst>
          </p:cNvPr>
          <p:cNvCxnSpPr>
            <a:cxnSpLocks/>
          </p:cNvCxnSpPr>
          <p:nvPr/>
        </p:nvCxnSpPr>
        <p:spPr>
          <a:xfrm>
            <a:off x="14015767" y="3087962"/>
            <a:ext cx="0" cy="2241270"/>
          </a:xfrm>
          <a:prstGeom prst="line">
            <a:avLst/>
          </a:prstGeom>
          <a:noFill/>
          <a:ln w="38100" cap="flat">
            <a:solidFill>
              <a:schemeClr val="accent5">
                <a:lumMod val="75000"/>
              </a:schemeClr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607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608" name="II.데이터수집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II.데이터수집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ko-KR" altLang="en-US" sz="2800" dirty="0"/>
                <a:t>과거 매물 학습 데이터 자료 수집 과정</a:t>
              </a:r>
              <a:endParaRPr sz="2800" dirty="0"/>
            </a:p>
          </p:txBody>
        </p:sp>
      </p:grpSp>
      <p:pic>
        <p:nvPicPr>
          <p:cNvPr id="617" name="그림 9" descr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203" y="2168325"/>
            <a:ext cx="12931469" cy="2742277"/>
          </a:xfrm>
          <a:prstGeom prst="rect">
            <a:avLst/>
          </a:prstGeom>
          <a:ln w="25400">
            <a:miter lim="400000"/>
          </a:ln>
          <a:effectLst>
            <a:reflection stA="50000" endPos="40000" dir="5400000" sy="-100000" algn="bl" rotWithShape="0"/>
          </a:effectLst>
        </p:spPr>
      </p:pic>
      <p:pic>
        <p:nvPicPr>
          <p:cNvPr id="618" name="그림 7" descr="그림 7"/>
          <p:cNvPicPr>
            <a:picLocks noChangeAspect="1"/>
          </p:cNvPicPr>
          <p:nvPr/>
        </p:nvPicPr>
        <p:blipFill>
          <a:blip r:embed="rId3"/>
          <a:srcRect l="33658" r="2757" b="32202"/>
          <a:stretch>
            <a:fillRect/>
          </a:stretch>
        </p:blipFill>
        <p:spPr>
          <a:xfrm>
            <a:off x="16636408" y="4371671"/>
            <a:ext cx="3805406" cy="8593522"/>
          </a:xfrm>
          <a:prstGeom prst="rect">
            <a:avLst/>
          </a:prstGeom>
          <a:ln w="50800">
            <a:solidFill>
              <a:srgbClr val="000000"/>
            </a:solidFill>
            <a:miter lim="400000"/>
          </a:ln>
        </p:spPr>
      </p:pic>
      <p:sp>
        <p:nvSpPr>
          <p:cNvPr id="619" name="범주형 변수 라벨링"/>
          <p:cNvSpPr txBox="1"/>
          <p:nvPr/>
        </p:nvSpPr>
        <p:spPr>
          <a:xfrm>
            <a:off x="5546033" y="7911515"/>
            <a:ext cx="6167807" cy="1231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100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t>범주형 변수 라벨링</a:t>
            </a:r>
          </a:p>
        </p:txBody>
      </p:sp>
      <p:sp>
        <p:nvSpPr>
          <p:cNvPr id="620" name="선"/>
          <p:cNvSpPr/>
          <p:nvPr/>
        </p:nvSpPr>
        <p:spPr>
          <a:xfrm>
            <a:off x="7661326" y="3222187"/>
            <a:ext cx="9736403" cy="1"/>
          </a:xfrm>
          <a:prstGeom prst="line">
            <a:avLst/>
          </a:prstGeom>
          <a:ln w="889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621" name="선"/>
          <p:cNvSpPr/>
          <p:nvPr/>
        </p:nvSpPr>
        <p:spPr>
          <a:xfrm>
            <a:off x="17397654" y="3176722"/>
            <a:ext cx="1" cy="1016001"/>
          </a:xfrm>
          <a:prstGeom prst="line">
            <a:avLst/>
          </a:prstGeom>
          <a:ln w="889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622" name="선"/>
          <p:cNvSpPr/>
          <p:nvPr/>
        </p:nvSpPr>
        <p:spPr>
          <a:xfrm>
            <a:off x="7661326" y="4549537"/>
            <a:ext cx="8178135" cy="1"/>
          </a:xfrm>
          <a:prstGeom prst="line">
            <a:avLst/>
          </a:prstGeom>
          <a:ln w="88900">
            <a:solidFill>
              <a:schemeClr val="accent3">
                <a:hueOff val="914338"/>
                <a:satOff val="31515"/>
                <a:lumOff val="-3079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623" name="선"/>
          <p:cNvSpPr/>
          <p:nvPr/>
        </p:nvSpPr>
        <p:spPr>
          <a:xfrm flipV="1">
            <a:off x="15866040" y="3706002"/>
            <a:ext cx="1" cy="887505"/>
          </a:xfrm>
          <a:prstGeom prst="line">
            <a:avLst/>
          </a:prstGeom>
          <a:ln w="88900">
            <a:solidFill>
              <a:schemeClr val="accent3">
                <a:hueOff val="914338"/>
                <a:satOff val="31515"/>
                <a:lumOff val="-3079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624" name="선"/>
          <p:cNvSpPr/>
          <p:nvPr/>
        </p:nvSpPr>
        <p:spPr>
          <a:xfrm>
            <a:off x="15859690" y="3750868"/>
            <a:ext cx="3410194" cy="1"/>
          </a:xfrm>
          <a:prstGeom prst="line">
            <a:avLst/>
          </a:prstGeom>
          <a:ln w="88900">
            <a:solidFill>
              <a:schemeClr val="accent3">
                <a:hueOff val="914338"/>
                <a:satOff val="31515"/>
                <a:lumOff val="-3079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625" name="선"/>
          <p:cNvSpPr/>
          <p:nvPr/>
        </p:nvSpPr>
        <p:spPr>
          <a:xfrm>
            <a:off x="19305226" y="3706001"/>
            <a:ext cx="1" cy="551181"/>
          </a:xfrm>
          <a:prstGeom prst="line">
            <a:avLst/>
          </a:prstGeom>
          <a:ln w="88900">
            <a:solidFill>
              <a:schemeClr val="accent3">
                <a:hueOff val="914338"/>
                <a:satOff val="31515"/>
                <a:lumOff val="-30790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626" name="모서리가 둥근 직사각형"/>
          <p:cNvSpPr/>
          <p:nvPr/>
        </p:nvSpPr>
        <p:spPr>
          <a:xfrm>
            <a:off x="2207383" y="2905119"/>
            <a:ext cx="5422906" cy="634137"/>
          </a:xfrm>
          <a:prstGeom prst="roundRect">
            <a:avLst>
              <a:gd name="adj" fmla="val 30041"/>
            </a:avLst>
          </a:prstGeom>
          <a:ln w="508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27" name="모서리가 둥근 직사각형"/>
          <p:cNvSpPr/>
          <p:nvPr/>
        </p:nvSpPr>
        <p:spPr>
          <a:xfrm>
            <a:off x="2220083" y="4081271"/>
            <a:ext cx="5422906" cy="634137"/>
          </a:xfrm>
          <a:prstGeom prst="roundRect">
            <a:avLst>
              <a:gd name="adj" fmla="val 30041"/>
            </a:avLst>
          </a:prstGeom>
          <a:ln w="63500">
            <a:solidFill>
              <a:schemeClr val="accent3">
                <a:hueOff val="914338"/>
                <a:satOff val="31515"/>
                <a:lumOff val="-3079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A5E76A2-8F09-A8DA-2949-C86171080497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9185681F-FBF1-BFB4-B615-C0E0A78F89A9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17356355-DFA5-AF99-D28E-08DAF2559965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5F3FC5B-1E9D-B802-1094-DB84856B71B2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2D8C8176-C508-396F-15A3-324491F63376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그룹화"/>
          <p:cNvGrpSpPr/>
          <p:nvPr/>
        </p:nvGrpSpPr>
        <p:grpSpPr>
          <a:xfrm>
            <a:off x="16645314" y="2224851"/>
            <a:ext cx="5584314" cy="10583867"/>
            <a:chOff x="0" y="0"/>
            <a:chExt cx="5584313" cy="10583865"/>
          </a:xfrm>
        </p:grpSpPr>
        <p:grpSp>
          <p:nvGrpSpPr>
            <p:cNvPr id="668" name="그룹화"/>
            <p:cNvGrpSpPr/>
            <p:nvPr/>
          </p:nvGrpSpPr>
          <p:grpSpPr>
            <a:xfrm>
              <a:off x="4186511" y="0"/>
              <a:ext cx="1397803" cy="10583866"/>
              <a:chOff x="0" y="0"/>
              <a:chExt cx="1397801" cy="10583865"/>
            </a:xfrm>
          </p:grpSpPr>
          <p:pic>
            <p:nvPicPr>
              <p:cNvPr id="658" name="이미지" descr="이미지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284105"/>
                <a:ext cx="435790" cy="1026720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659" name="1.00"/>
              <p:cNvSpPr txBox="1"/>
              <p:nvPr/>
            </p:nvSpPr>
            <p:spPr>
              <a:xfrm>
                <a:off x="542914" y="0"/>
                <a:ext cx="795356" cy="6147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>
                    <a:latin typeface="Noto Sans KR"/>
                    <a:ea typeface="Noto Sans KR"/>
                    <a:cs typeface="Noto Sans KR"/>
                    <a:sym typeface="Noto Sans KR"/>
                  </a:defRPr>
                </a:lvl1pPr>
              </a:lstStyle>
              <a:p>
                <a:r>
                  <a:t>1.00</a:t>
                </a:r>
              </a:p>
            </p:txBody>
          </p:sp>
          <p:sp>
            <p:nvSpPr>
              <p:cNvPr id="660" name="0.75"/>
              <p:cNvSpPr txBox="1"/>
              <p:nvPr/>
            </p:nvSpPr>
            <p:spPr>
              <a:xfrm>
                <a:off x="504485" y="1063371"/>
                <a:ext cx="872215" cy="6147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>
                    <a:latin typeface="Noto Sans KR"/>
                    <a:ea typeface="Noto Sans KR"/>
                    <a:cs typeface="Noto Sans KR"/>
                    <a:sym typeface="Noto Sans KR"/>
                  </a:defRPr>
                </a:lvl1pPr>
              </a:lstStyle>
              <a:p>
                <a:r>
                  <a:t> 0.75</a:t>
                </a:r>
              </a:p>
            </p:txBody>
          </p:sp>
          <p:sp>
            <p:nvSpPr>
              <p:cNvPr id="661" name="0.5"/>
              <p:cNvSpPr txBox="1"/>
              <p:nvPr/>
            </p:nvSpPr>
            <p:spPr>
              <a:xfrm>
                <a:off x="638130" y="2238894"/>
                <a:ext cx="604924" cy="6147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>
                    <a:latin typeface="Noto Sans KR"/>
                    <a:ea typeface="Noto Sans KR"/>
                    <a:cs typeface="Noto Sans KR"/>
                    <a:sym typeface="Noto Sans KR"/>
                  </a:defRPr>
                </a:lvl1pPr>
              </a:lstStyle>
              <a:p>
                <a:r>
                  <a:t>0.5</a:t>
                </a:r>
              </a:p>
            </p:txBody>
          </p:sp>
          <p:sp>
            <p:nvSpPr>
              <p:cNvPr id="662" name="0.25"/>
              <p:cNvSpPr txBox="1"/>
              <p:nvPr/>
            </p:nvSpPr>
            <p:spPr>
              <a:xfrm>
                <a:off x="542914" y="3414419"/>
                <a:ext cx="795356" cy="6147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>
                    <a:latin typeface="Noto Sans KR"/>
                    <a:ea typeface="Noto Sans KR"/>
                    <a:cs typeface="Noto Sans KR"/>
                    <a:sym typeface="Noto Sans KR"/>
                  </a:defRPr>
                </a:lvl1pPr>
              </a:lstStyle>
              <a:p>
                <a:r>
                  <a:t>0.25</a:t>
                </a:r>
              </a:p>
            </p:txBody>
          </p:sp>
          <p:sp>
            <p:nvSpPr>
              <p:cNvPr id="663" name="0"/>
              <p:cNvSpPr txBox="1"/>
              <p:nvPr/>
            </p:nvSpPr>
            <p:spPr>
              <a:xfrm>
                <a:off x="781040" y="4702095"/>
                <a:ext cx="319104" cy="6147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>
                    <a:latin typeface="Noto Sans KR"/>
                    <a:ea typeface="Noto Sans KR"/>
                    <a:cs typeface="Noto Sans KR"/>
                    <a:sym typeface="Noto Sans KR"/>
                  </a:defRPr>
                </a:lvl1pPr>
              </a:lstStyle>
              <a:p>
                <a:r>
                  <a:t>0</a:t>
                </a:r>
              </a:p>
            </p:txBody>
          </p:sp>
          <p:sp>
            <p:nvSpPr>
              <p:cNvPr id="664" name="-0.25"/>
              <p:cNvSpPr txBox="1"/>
              <p:nvPr/>
            </p:nvSpPr>
            <p:spPr>
              <a:xfrm>
                <a:off x="483383" y="5919250"/>
                <a:ext cx="914419" cy="6147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>
                    <a:latin typeface="Noto Sans KR"/>
                    <a:ea typeface="Noto Sans KR"/>
                    <a:cs typeface="Noto Sans KR"/>
                    <a:sym typeface="Noto Sans KR"/>
                  </a:defRPr>
                </a:lvl1pPr>
              </a:lstStyle>
              <a:p>
                <a:r>
                  <a:t>-0.25</a:t>
                </a:r>
              </a:p>
            </p:txBody>
          </p:sp>
          <p:sp>
            <p:nvSpPr>
              <p:cNvPr id="665" name="-0.5"/>
              <p:cNvSpPr txBox="1"/>
              <p:nvPr/>
            </p:nvSpPr>
            <p:spPr>
              <a:xfrm>
                <a:off x="578599" y="7277448"/>
                <a:ext cx="723987" cy="6147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>
                    <a:latin typeface="Noto Sans KR"/>
                    <a:ea typeface="Noto Sans KR"/>
                    <a:cs typeface="Noto Sans KR"/>
                    <a:sym typeface="Noto Sans KR"/>
                  </a:defRPr>
                </a:lvl1pPr>
              </a:lstStyle>
              <a:p>
                <a:r>
                  <a:t>-0.5</a:t>
                </a:r>
              </a:p>
            </p:txBody>
          </p:sp>
          <p:sp>
            <p:nvSpPr>
              <p:cNvPr id="666" name="-0.75"/>
              <p:cNvSpPr txBox="1"/>
              <p:nvPr/>
            </p:nvSpPr>
            <p:spPr>
              <a:xfrm>
                <a:off x="483383" y="8772814"/>
                <a:ext cx="914419" cy="6147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>
                    <a:latin typeface="Noto Sans KR"/>
                    <a:ea typeface="Noto Sans KR"/>
                    <a:cs typeface="Noto Sans KR"/>
                    <a:sym typeface="Noto Sans KR"/>
                  </a:defRPr>
                </a:lvl1pPr>
              </a:lstStyle>
              <a:p>
                <a:r>
                  <a:t>-0.75</a:t>
                </a:r>
              </a:p>
            </p:txBody>
          </p:sp>
          <p:sp>
            <p:nvSpPr>
              <p:cNvPr id="667" name="-1.00"/>
              <p:cNvSpPr txBox="1"/>
              <p:nvPr/>
            </p:nvSpPr>
            <p:spPr>
              <a:xfrm>
                <a:off x="483383" y="9969107"/>
                <a:ext cx="914419" cy="6147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>
                    <a:latin typeface="Noto Sans KR"/>
                    <a:ea typeface="Noto Sans KR"/>
                    <a:cs typeface="Noto Sans KR"/>
                    <a:sym typeface="Noto Sans KR"/>
                  </a:defRPr>
                </a:lvl1pPr>
              </a:lstStyle>
              <a:p>
                <a:r>
                  <a:t>-1.00</a:t>
                </a:r>
              </a:p>
            </p:txBody>
          </p:sp>
        </p:grpSp>
        <p:pic>
          <p:nvPicPr>
            <p:cNvPr id="669" name="이미지" descr="이미지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34851" y="314314"/>
              <a:ext cx="1368083" cy="102358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70" name="계약일"/>
            <p:cNvSpPr txBox="1"/>
            <p:nvPr/>
          </p:nvSpPr>
          <p:spPr>
            <a:xfrm>
              <a:off x="1539145" y="592617"/>
              <a:ext cx="1072227" cy="612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계약일</a:t>
              </a:r>
            </a:p>
          </p:txBody>
        </p:sp>
        <p:sp>
          <p:nvSpPr>
            <p:cNvPr id="671" name="자치구명"/>
            <p:cNvSpPr txBox="1"/>
            <p:nvPr/>
          </p:nvSpPr>
          <p:spPr>
            <a:xfrm>
              <a:off x="1249935" y="1652567"/>
              <a:ext cx="1386883" cy="612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자치구명</a:t>
              </a:r>
            </a:p>
          </p:txBody>
        </p:sp>
        <p:sp>
          <p:nvSpPr>
            <p:cNvPr id="672" name="법정동명"/>
            <p:cNvSpPr txBox="1"/>
            <p:nvPr/>
          </p:nvSpPr>
          <p:spPr>
            <a:xfrm>
              <a:off x="1249935" y="2894742"/>
              <a:ext cx="1386883" cy="612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법정동명</a:t>
              </a:r>
            </a:p>
          </p:txBody>
        </p:sp>
        <p:sp>
          <p:nvSpPr>
            <p:cNvPr id="673" name="건물면적"/>
            <p:cNvSpPr txBox="1"/>
            <p:nvPr/>
          </p:nvSpPr>
          <p:spPr>
            <a:xfrm>
              <a:off x="1249935" y="4023776"/>
              <a:ext cx="1386883" cy="612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건물면적</a:t>
              </a:r>
            </a:p>
          </p:txBody>
        </p:sp>
        <p:sp>
          <p:nvSpPr>
            <p:cNvPr id="674" name="한강공원최소거리"/>
            <p:cNvSpPr txBox="1"/>
            <p:nvPr/>
          </p:nvSpPr>
          <p:spPr>
            <a:xfrm>
              <a:off x="0" y="5125867"/>
              <a:ext cx="2645506" cy="612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한강공원최소거리</a:t>
              </a:r>
            </a:p>
          </p:txBody>
        </p:sp>
        <p:sp>
          <p:nvSpPr>
            <p:cNvPr id="675" name="물가지수"/>
            <p:cNvSpPr txBox="1"/>
            <p:nvPr/>
          </p:nvSpPr>
          <p:spPr>
            <a:xfrm>
              <a:off x="1249935" y="6227958"/>
              <a:ext cx="1386883" cy="612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물가지수</a:t>
              </a:r>
            </a:p>
          </p:txBody>
        </p:sp>
        <p:sp>
          <p:nvSpPr>
            <p:cNvPr id="676" name="매매지수"/>
            <p:cNvSpPr txBox="1"/>
            <p:nvPr/>
          </p:nvSpPr>
          <p:spPr>
            <a:xfrm>
              <a:off x="1249935" y="7454934"/>
              <a:ext cx="1386883" cy="612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매매지수</a:t>
              </a:r>
            </a:p>
          </p:txBody>
        </p:sp>
        <p:sp>
          <p:nvSpPr>
            <p:cNvPr id="677" name="금리"/>
            <p:cNvSpPr txBox="1"/>
            <p:nvPr/>
          </p:nvSpPr>
          <p:spPr>
            <a:xfrm>
              <a:off x="1696473" y="8681911"/>
              <a:ext cx="757570" cy="612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금리</a:t>
              </a:r>
            </a:p>
          </p:txBody>
        </p:sp>
        <p:sp>
          <p:nvSpPr>
            <p:cNvPr id="678" name="물건금액(만원)"/>
            <p:cNvSpPr txBox="1"/>
            <p:nvPr/>
          </p:nvSpPr>
          <p:spPr>
            <a:xfrm>
              <a:off x="411888" y="9757061"/>
              <a:ext cx="2247398" cy="612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물건금액(만원)</a:t>
              </a:r>
            </a:p>
          </p:txBody>
        </p:sp>
      </p:grpSp>
      <p:sp>
        <p:nvSpPr>
          <p:cNvPr id="680" name="선"/>
          <p:cNvSpPr/>
          <p:nvPr/>
        </p:nvSpPr>
        <p:spPr>
          <a:xfrm>
            <a:off x="9818076" y="6926945"/>
            <a:ext cx="5887874" cy="1"/>
          </a:xfrm>
          <a:prstGeom prst="line">
            <a:avLst/>
          </a:prstGeom>
          <a:ln w="1397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681" name="1.변수 설정"/>
          <p:cNvSpPr txBox="1"/>
          <p:nvPr/>
        </p:nvSpPr>
        <p:spPr>
          <a:xfrm>
            <a:off x="11776035" y="5010217"/>
            <a:ext cx="1828648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just" defTabSz="1828800">
              <a:lnSpc>
                <a:spcPct val="150000"/>
              </a:lnSpc>
              <a:spcBef>
                <a:spcPts val="1600"/>
              </a:spcBef>
              <a:defRPr sz="2800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dirty="0"/>
              <a:t>1.변수 </a:t>
            </a:r>
            <a:r>
              <a:rPr dirty="0" err="1"/>
              <a:t>설정</a:t>
            </a:r>
            <a:endParaRPr dirty="0"/>
          </a:p>
        </p:txBody>
      </p:sp>
      <p:sp>
        <p:nvSpPr>
          <p:cNvPr id="683" name="(모든 독립변수에 대한 상관계수 Heatmap 출력)"/>
          <p:cNvSpPr txBox="1"/>
          <p:nvPr/>
        </p:nvSpPr>
        <p:spPr>
          <a:xfrm>
            <a:off x="9749649" y="5830434"/>
            <a:ext cx="5881418" cy="640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just" defTabSz="1828800">
              <a:lnSpc>
                <a:spcPct val="150000"/>
              </a:lnSpc>
              <a:spcBef>
                <a:spcPts val="1600"/>
              </a:spcBef>
              <a:defRPr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dirty="0"/>
              <a:t>(</a:t>
            </a:r>
            <a:r>
              <a:rPr dirty="0" err="1">
                <a:solidFill>
                  <a:srgbClr val="FF0000"/>
                </a:solidFill>
              </a:rPr>
              <a:t>모든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변수</a:t>
            </a:r>
            <a:r>
              <a:rPr dirty="0" err="1"/>
              <a:t>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상관계수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sz="2600" dirty="0">
                <a:solidFill>
                  <a:srgbClr val="FF0000"/>
                </a:solidFill>
              </a:rPr>
              <a:t>Heatmap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/>
              <a:t>출력</a:t>
            </a:r>
            <a:r>
              <a:rPr dirty="0"/>
              <a:t>)</a:t>
            </a:r>
          </a:p>
        </p:txBody>
      </p:sp>
      <p:grpSp>
        <p:nvGrpSpPr>
          <p:cNvPr id="688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686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687" name="II.데이터수집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II.데이터수집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ko-KR" altLang="en-US" sz="2800" dirty="0"/>
                <a:t>독립변수와 종속변수 간의 상관관계 확인</a:t>
              </a:r>
              <a:r>
                <a:rPr sz="2800" dirty="0"/>
                <a:t> </a:t>
              </a: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72506366-7B15-749C-316E-3F014CFEBF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7" r="400" b="-777"/>
          <a:stretch/>
        </p:blipFill>
        <p:spPr>
          <a:xfrm>
            <a:off x="968899" y="4014084"/>
            <a:ext cx="8211329" cy="6175624"/>
          </a:xfrm>
          <a:prstGeom prst="rect">
            <a:avLst/>
          </a:prstGeom>
        </p:spPr>
      </p:pic>
      <p:sp>
        <p:nvSpPr>
          <p:cNvPr id="4" name="(모든 독립변수에 대한 상관계수 Heatmap 출력)">
            <a:extLst>
              <a:ext uri="{FF2B5EF4-FFF2-40B4-BE49-F238E27FC236}">
                <a16:creationId xmlns:a16="http://schemas.microsoft.com/office/drawing/2014/main" id="{E8E3DC3C-BA3C-A662-231E-51AE9C573F71}"/>
              </a:ext>
            </a:extLst>
          </p:cNvPr>
          <p:cNvSpPr txBox="1"/>
          <p:nvPr/>
        </p:nvSpPr>
        <p:spPr>
          <a:xfrm>
            <a:off x="3687165" y="2934784"/>
            <a:ext cx="2774799" cy="591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just" defTabSz="1828800">
              <a:lnSpc>
                <a:spcPct val="150000"/>
              </a:lnSpc>
              <a:spcBef>
                <a:spcPts val="1600"/>
              </a:spcBef>
              <a:defRPr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lang="en-US" dirty="0"/>
              <a:t>Correlation </a:t>
            </a:r>
            <a:r>
              <a:rPr lang="en-US" dirty="0" err="1"/>
              <a:t>Matirx</a:t>
            </a:r>
            <a:endParaRPr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50256D1-54BC-BF44-6015-61FF011C0F86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EF6767A6-8F38-18D9-2CE5-10BE3EFB635C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005CCB9D-CEDA-DB7B-D532-D779ED422D6A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23EC27FD-C773-7013-447F-11358AFAD709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58D2AA2-873E-E940-3571-EAAFAA01B485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9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697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698" name="II.데이터수집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II.데이터수집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ko-KR" altLang="en-US" sz="2800" dirty="0"/>
                <a:t>실시간 매물 </a:t>
              </a:r>
              <a:r>
                <a:rPr lang="ko-KR" altLang="en-US" sz="2800" dirty="0" err="1"/>
                <a:t>크롤링</a:t>
              </a:r>
              <a:r>
                <a:rPr lang="ko-KR" altLang="en-US" sz="2800" dirty="0"/>
                <a:t> 과정</a:t>
              </a:r>
              <a:r>
                <a:rPr sz="2800" dirty="0"/>
                <a:t> </a:t>
              </a:r>
            </a:p>
          </p:txBody>
        </p:sp>
      </p:grpSp>
      <p:pic>
        <p:nvPicPr>
          <p:cNvPr id="707" name="그림 4" descr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381" y="5674589"/>
            <a:ext cx="17749097" cy="2691490"/>
          </a:xfrm>
          <a:prstGeom prst="rect">
            <a:avLst/>
          </a:prstGeom>
          <a:ln w="38100">
            <a:solidFill>
              <a:schemeClr val="accent1"/>
            </a:solidFill>
            <a:miter lim="400000"/>
          </a:ln>
        </p:spPr>
      </p:pic>
      <p:pic>
        <p:nvPicPr>
          <p:cNvPr id="708" name="그림 7" descr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081" y="2179691"/>
            <a:ext cx="17723697" cy="3323702"/>
          </a:xfrm>
          <a:prstGeom prst="rect">
            <a:avLst/>
          </a:prstGeom>
          <a:ln w="63500">
            <a:solidFill>
              <a:schemeClr val="accent1"/>
            </a:solidFill>
            <a:miter lim="400000"/>
          </a:ln>
        </p:spPr>
      </p:pic>
      <p:pic>
        <p:nvPicPr>
          <p:cNvPr id="709" name="그림 9" descr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29" y="8635098"/>
            <a:ext cx="17754601" cy="931570"/>
          </a:xfrm>
          <a:prstGeom prst="rect">
            <a:avLst/>
          </a:prstGeom>
          <a:ln w="50800">
            <a:solidFill>
              <a:schemeClr val="accent1"/>
            </a:solidFill>
            <a:miter lim="400000"/>
          </a:ln>
        </p:spPr>
      </p:pic>
      <p:pic>
        <p:nvPicPr>
          <p:cNvPr id="710" name="그림 11" descr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279" y="9835688"/>
            <a:ext cx="17767301" cy="2723588"/>
          </a:xfrm>
          <a:prstGeom prst="rect">
            <a:avLst/>
          </a:prstGeom>
          <a:ln w="38100">
            <a:solidFill>
              <a:schemeClr val="accent1"/>
            </a:solidFill>
            <a:miter lim="400000"/>
          </a:ln>
        </p:spPr>
      </p:pic>
      <p:sp>
        <p:nvSpPr>
          <p:cNvPr id="711" name="TextBox 12"/>
          <p:cNvSpPr txBox="1"/>
          <p:nvPr/>
        </p:nvSpPr>
        <p:spPr>
          <a:xfrm>
            <a:off x="18955111" y="2744130"/>
            <a:ext cx="4197269" cy="1046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l" defTabSz="914400">
              <a:defRPr sz="31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endParaRPr dirty="0"/>
          </a:p>
          <a:p>
            <a:pPr algn="l" defTabSz="914400">
              <a:defRPr sz="31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dirty="0"/>
              <a:t>25개구 </a:t>
            </a:r>
            <a:r>
              <a:rPr b="1" dirty="0" err="1"/>
              <a:t>위도</a:t>
            </a:r>
            <a:r>
              <a:rPr lang="en-US" altLang="ko-KR" b="1" dirty="0"/>
              <a:t>,</a:t>
            </a:r>
            <a:r>
              <a:rPr lang="ko-KR" altLang="en-US" b="1" dirty="0"/>
              <a:t> 경도</a:t>
            </a:r>
            <a:r>
              <a:rPr lang="en-US" altLang="ko-KR" b="1" dirty="0"/>
              <a:t> </a:t>
            </a:r>
            <a:r>
              <a:rPr dirty="0" err="1"/>
              <a:t>파악</a:t>
            </a:r>
            <a:endParaRPr dirty="0"/>
          </a:p>
        </p:txBody>
      </p:sp>
      <p:sp>
        <p:nvSpPr>
          <p:cNvPr id="712" name="TextBox 13"/>
          <p:cNvSpPr txBox="1"/>
          <p:nvPr/>
        </p:nvSpPr>
        <p:spPr>
          <a:xfrm>
            <a:off x="19038376" y="5892876"/>
            <a:ext cx="6116955" cy="15234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l" defTabSz="914400">
              <a:defRPr sz="31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dirty="0" err="1"/>
              <a:t>경도,위도</a:t>
            </a:r>
            <a:r>
              <a:rPr dirty="0"/>
              <a:t> </a:t>
            </a:r>
            <a:r>
              <a:rPr dirty="0" err="1"/>
              <a:t>파악한</a:t>
            </a:r>
            <a:r>
              <a:rPr dirty="0"/>
              <a:t> </a:t>
            </a:r>
            <a:r>
              <a:rPr dirty="0" err="1"/>
              <a:t>데이터로</a:t>
            </a:r>
            <a:r>
              <a:rPr dirty="0"/>
              <a:t> </a:t>
            </a:r>
            <a:endParaRPr lang="en-US" altLang="ko-KR" dirty="0"/>
          </a:p>
          <a:p>
            <a:pPr algn="l" defTabSz="914400">
              <a:defRPr sz="31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dirty="0" err="1"/>
              <a:t>매물</a:t>
            </a:r>
            <a:r>
              <a:rPr dirty="0"/>
              <a:t> </a:t>
            </a:r>
            <a:r>
              <a:rPr dirty="0" err="1"/>
              <a:t>데이터에</a:t>
            </a:r>
            <a:r>
              <a:rPr dirty="0"/>
              <a:t> </a:t>
            </a:r>
            <a:r>
              <a:rPr dirty="0" err="1"/>
              <a:t>접근하여</a:t>
            </a:r>
            <a:r>
              <a:rPr dirty="0"/>
              <a:t> </a:t>
            </a:r>
            <a:endParaRPr lang="en-US" altLang="ko-KR" dirty="0"/>
          </a:p>
          <a:p>
            <a:pPr algn="l" defTabSz="914400">
              <a:defRPr sz="31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b="1" dirty="0"/>
              <a:t>JSON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추출</a:t>
            </a:r>
            <a:endParaRPr dirty="0"/>
          </a:p>
        </p:txBody>
      </p:sp>
      <p:sp>
        <p:nvSpPr>
          <p:cNvPr id="713" name="TextBox 14"/>
          <p:cNvSpPr txBox="1"/>
          <p:nvPr/>
        </p:nvSpPr>
        <p:spPr>
          <a:xfrm>
            <a:off x="19088326" y="10866011"/>
            <a:ext cx="5295673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l" defTabSz="914400">
              <a:defRPr sz="31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rPr dirty="0" err="1"/>
              <a:t>필요</a:t>
            </a:r>
            <a:r>
              <a:rPr dirty="0"/>
              <a:t> </a:t>
            </a:r>
            <a:r>
              <a:rPr dirty="0" err="1"/>
              <a:t>변수만</a:t>
            </a:r>
            <a:r>
              <a:rPr dirty="0"/>
              <a:t> </a:t>
            </a:r>
            <a:r>
              <a:rPr dirty="0" err="1"/>
              <a:t>지정하여</a:t>
            </a:r>
            <a:r>
              <a:rPr dirty="0"/>
              <a:t> </a:t>
            </a:r>
            <a:r>
              <a:rPr dirty="0" err="1"/>
              <a:t>추출</a:t>
            </a:r>
            <a:endParaRPr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0CFC772-5B0D-77A4-0E03-5009FA0FB7F9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57AA04FA-9C70-5E5C-AC08-82D5CD388EB2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1DE3296-596A-0D66-3FB4-AE2CA61F3B71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79C8D259-3D59-B3F2-19EF-66ABA17CEF94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03F69A0-491C-591B-94FD-944312DDCDF6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" name="사각형: 둥근 모서리 10"/>
          <p:cNvGrpSpPr/>
          <p:nvPr/>
        </p:nvGrpSpPr>
        <p:grpSpPr>
          <a:xfrm>
            <a:off x="348407" y="300055"/>
            <a:ext cx="22803973" cy="887505"/>
            <a:chOff x="0" y="0"/>
            <a:chExt cx="22803972" cy="887503"/>
          </a:xfrm>
        </p:grpSpPr>
        <p:sp>
          <p:nvSpPr>
            <p:cNvPr id="716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717" name="II.데이터수집"/>
            <p:cNvSpPr txBox="1"/>
            <p:nvPr/>
          </p:nvSpPr>
          <p:spPr>
            <a:xfrm>
              <a:off x="221410" y="3061"/>
              <a:ext cx="22361152" cy="881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II.데이터수집 </a:t>
              </a:r>
            </a:p>
          </p:txBody>
        </p:sp>
      </p:grpSp>
      <p:sp>
        <p:nvSpPr>
          <p:cNvPr id="726" name="직사각형 1"/>
          <p:cNvSpPr/>
          <p:nvPr/>
        </p:nvSpPr>
        <p:spPr>
          <a:xfrm>
            <a:off x="3340573" y="2139734"/>
            <a:ext cx="8272807" cy="3709158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27" name="직사각형 2"/>
          <p:cNvSpPr/>
          <p:nvPr/>
        </p:nvSpPr>
        <p:spPr>
          <a:xfrm>
            <a:off x="12794391" y="2152434"/>
            <a:ext cx="8272807" cy="3709158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28" name="직사각형 3"/>
          <p:cNvSpPr/>
          <p:nvPr/>
        </p:nvSpPr>
        <p:spPr>
          <a:xfrm>
            <a:off x="3316802" y="7867108"/>
            <a:ext cx="8272807" cy="3709158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29" name="직사각형 4"/>
          <p:cNvSpPr/>
          <p:nvPr/>
        </p:nvSpPr>
        <p:spPr>
          <a:xfrm>
            <a:off x="12794391" y="7867108"/>
            <a:ext cx="8272807" cy="3709158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30" name="직사각형 5"/>
          <p:cNvSpPr/>
          <p:nvPr/>
        </p:nvSpPr>
        <p:spPr>
          <a:xfrm>
            <a:off x="10124933" y="5500055"/>
            <a:ext cx="4226655" cy="2615756"/>
          </a:xfrm>
          <a:prstGeom prst="rect">
            <a:avLst/>
          </a:prstGeom>
          <a:solidFill>
            <a:srgbClr val="000000">
              <a:alpha val="5835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31" name="TextBox 17"/>
          <p:cNvSpPr txBox="1"/>
          <p:nvPr/>
        </p:nvSpPr>
        <p:spPr>
          <a:xfrm>
            <a:off x="5172626" y="2293467"/>
            <a:ext cx="6019464" cy="63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 algn="just" defTabSz="914400">
              <a:defRPr sz="3000" b="1">
                <a:solidFill>
                  <a:srgbClr val="40404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rPr dirty="0"/>
              <a:t>Classifier 와 Regressor</a:t>
            </a:r>
          </a:p>
        </p:txBody>
      </p:sp>
      <p:sp>
        <p:nvSpPr>
          <p:cNvPr id="732" name="TextBox 18"/>
          <p:cNvSpPr txBox="1"/>
          <p:nvPr/>
        </p:nvSpPr>
        <p:spPr>
          <a:xfrm>
            <a:off x="15950186" y="2183813"/>
            <a:ext cx="1961218" cy="743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 algn="just" defTabSz="914400">
              <a:defRPr sz="3000" b="1">
                <a:solidFill>
                  <a:srgbClr val="40404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t>XGBoost </a:t>
            </a:r>
          </a:p>
        </p:txBody>
      </p:sp>
      <p:sp>
        <p:nvSpPr>
          <p:cNvPr id="733" name="TextBox 19"/>
          <p:cNvSpPr txBox="1"/>
          <p:nvPr/>
        </p:nvSpPr>
        <p:spPr>
          <a:xfrm>
            <a:off x="5778937" y="8021329"/>
            <a:ext cx="3348544" cy="670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 algn="just" defTabSz="914400">
              <a:defRPr sz="3000" b="1">
                <a:solidFill>
                  <a:srgbClr val="40404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t>RandomForest</a:t>
            </a:r>
          </a:p>
        </p:txBody>
      </p:sp>
      <p:sp>
        <p:nvSpPr>
          <p:cNvPr id="734" name="TextBox 20"/>
          <p:cNvSpPr txBox="1"/>
          <p:nvPr/>
        </p:nvSpPr>
        <p:spPr>
          <a:xfrm>
            <a:off x="15472573" y="7985165"/>
            <a:ext cx="2916443" cy="742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 algn="just" defTabSz="914400">
              <a:defRPr sz="3000" b="1">
                <a:solidFill>
                  <a:srgbClr val="40404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t>Deep Learning</a:t>
            </a:r>
          </a:p>
        </p:txBody>
      </p:sp>
      <p:sp>
        <p:nvSpPr>
          <p:cNvPr id="735" name="선"/>
          <p:cNvSpPr/>
          <p:nvPr/>
        </p:nvSpPr>
        <p:spPr>
          <a:xfrm>
            <a:off x="3372456" y="3026958"/>
            <a:ext cx="8189556" cy="1"/>
          </a:xfrm>
          <a:prstGeom prst="line">
            <a:avLst/>
          </a:prstGeom>
          <a:ln w="25400">
            <a:solidFill>
              <a:srgbClr val="07AED5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736" name="선"/>
          <p:cNvSpPr/>
          <p:nvPr/>
        </p:nvSpPr>
        <p:spPr>
          <a:xfrm>
            <a:off x="12853871" y="3026958"/>
            <a:ext cx="8189556" cy="1"/>
          </a:xfrm>
          <a:prstGeom prst="line">
            <a:avLst/>
          </a:prstGeom>
          <a:ln w="25400">
            <a:solidFill>
              <a:srgbClr val="07AED5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737" name="선"/>
          <p:cNvSpPr/>
          <p:nvPr/>
        </p:nvSpPr>
        <p:spPr>
          <a:xfrm>
            <a:off x="3372456" y="8853177"/>
            <a:ext cx="8189556" cy="1"/>
          </a:xfrm>
          <a:prstGeom prst="line">
            <a:avLst/>
          </a:prstGeom>
          <a:ln w="25400">
            <a:solidFill>
              <a:srgbClr val="07AED5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738" name="선"/>
          <p:cNvSpPr/>
          <p:nvPr/>
        </p:nvSpPr>
        <p:spPr>
          <a:xfrm>
            <a:off x="12853871" y="8853177"/>
            <a:ext cx="8189556" cy="1"/>
          </a:xfrm>
          <a:prstGeom prst="line">
            <a:avLst/>
          </a:prstGeom>
          <a:ln w="25400">
            <a:solidFill>
              <a:srgbClr val="07AED5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739" name="사용 모델"/>
          <p:cNvSpPr txBox="1"/>
          <p:nvPr/>
        </p:nvSpPr>
        <p:spPr>
          <a:xfrm>
            <a:off x="11192090" y="6296382"/>
            <a:ext cx="1999820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t>사용 모델</a:t>
            </a:r>
          </a:p>
        </p:txBody>
      </p:sp>
      <p:sp>
        <p:nvSpPr>
          <p:cNvPr id="740" name="Classifier: 분류 모델로 클래스 또는 카테고리를 예측…"/>
          <p:cNvSpPr txBox="1"/>
          <p:nvPr/>
        </p:nvSpPr>
        <p:spPr>
          <a:xfrm>
            <a:off x="4275133" y="3823286"/>
            <a:ext cx="6916957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914400">
              <a:defRPr sz="2500">
                <a:solidFill>
                  <a:srgbClr val="000000"/>
                </a:solidFill>
                <a:latin typeface="Noto Sans KR Light"/>
                <a:ea typeface="Noto Sans KR Light"/>
                <a:cs typeface="Noto Sans KR Light"/>
                <a:sym typeface="Noto Sans KR Light"/>
              </a:defRPr>
            </a:pPr>
            <a:r>
              <a:rPr dirty="0"/>
              <a:t>Classifier: </a:t>
            </a:r>
            <a:r>
              <a:rPr dirty="0" err="1"/>
              <a:t>분류</a:t>
            </a:r>
            <a:r>
              <a:rPr dirty="0"/>
              <a:t> </a:t>
            </a:r>
            <a:r>
              <a:rPr dirty="0" err="1"/>
              <a:t>모델로</a:t>
            </a:r>
            <a:r>
              <a:rPr dirty="0"/>
              <a:t> </a:t>
            </a:r>
            <a:r>
              <a:rPr dirty="0" err="1"/>
              <a:t>클래스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카테고리를</a:t>
            </a:r>
            <a:r>
              <a:rPr dirty="0"/>
              <a:t> </a:t>
            </a:r>
            <a:r>
              <a:rPr dirty="0" err="1"/>
              <a:t>예측</a:t>
            </a:r>
            <a:endParaRPr dirty="0"/>
          </a:p>
          <a:p>
            <a:pPr algn="l" defTabSz="914400">
              <a:defRPr sz="2500">
                <a:solidFill>
                  <a:srgbClr val="000000"/>
                </a:solidFill>
                <a:latin typeface="Noto Sans KR Light"/>
                <a:ea typeface="Noto Sans KR Light"/>
                <a:cs typeface="Noto Sans KR Light"/>
                <a:sym typeface="Noto Sans KR Light"/>
              </a:defRPr>
            </a:pPr>
            <a:r>
              <a:rPr dirty="0"/>
              <a:t>Regressor : </a:t>
            </a:r>
            <a:r>
              <a:rPr dirty="0" err="1"/>
              <a:t>회귀</a:t>
            </a:r>
            <a:r>
              <a:rPr dirty="0"/>
              <a:t> </a:t>
            </a:r>
            <a:r>
              <a:rPr dirty="0" err="1"/>
              <a:t>모델로</a:t>
            </a:r>
            <a:r>
              <a:rPr dirty="0"/>
              <a:t> </a:t>
            </a:r>
            <a:r>
              <a:rPr dirty="0" err="1"/>
              <a:t>연속된</a:t>
            </a:r>
            <a:r>
              <a:rPr dirty="0"/>
              <a:t> </a:t>
            </a:r>
            <a:r>
              <a:rPr dirty="0" err="1"/>
              <a:t>값을</a:t>
            </a:r>
            <a:r>
              <a:rPr dirty="0"/>
              <a:t> </a:t>
            </a:r>
            <a:r>
              <a:rPr dirty="0" err="1"/>
              <a:t>예측</a:t>
            </a:r>
            <a:endParaRPr dirty="0"/>
          </a:p>
        </p:txBody>
      </p:sp>
      <p:sp>
        <p:nvSpPr>
          <p:cNvPr id="741" name="XGBoostRegressor"/>
          <p:cNvSpPr txBox="1"/>
          <p:nvPr/>
        </p:nvSpPr>
        <p:spPr>
          <a:xfrm>
            <a:off x="15493209" y="3968533"/>
            <a:ext cx="272446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914400">
              <a:defRPr sz="2500">
                <a:solidFill>
                  <a:srgbClr val="000000"/>
                </a:solidFill>
                <a:latin typeface="Noto Sans KR Light"/>
                <a:ea typeface="Noto Sans KR Light"/>
                <a:cs typeface="Noto Sans KR Light"/>
                <a:sym typeface="Noto Sans KR Light"/>
              </a:defRPr>
            </a:lvl1pPr>
          </a:lstStyle>
          <a:p>
            <a:r>
              <a:rPr dirty="0" err="1"/>
              <a:t>XGBoostRegressor</a:t>
            </a:r>
            <a:endParaRPr dirty="0"/>
          </a:p>
        </p:txBody>
      </p:sp>
      <p:sp>
        <p:nvSpPr>
          <p:cNvPr id="742" name="RandomForestRegressor"/>
          <p:cNvSpPr txBox="1"/>
          <p:nvPr/>
        </p:nvSpPr>
        <p:spPr>
          <a:xfrm>
            <a:off x="5172626" y="9655920"/>
            <a:ext cx="3620136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914400">
              <a:defRPr sz="2500">
                <a:solidFill>
                  <a:srgbClr val="000000"/>
                </a:solidFill>
                <a:latin typeface="Noto Sans KR Light"/>
                <a:ea typeface="Noto Sans KR Light"/>
                <a:cs typeface="Noto Sans KR Light"/>
                <a:sym typeface="Noto Sans KR Light"/>
              </a:defRPr>
            </a:lvl1pPr>
          </a:lstStyle>
          <a:p>
            <a:r>
              <a:rPr dirty="0" err="1"/>
              <a:t>RandomForestRegressor</a:t>
            </a:r>
            <a:endParaRPr dirty="0"/>
          </a:p>
        </p:txBody>
      </p:sp>
      <p:sp>
        <p:nvSpPr>
          <p:cNvPr id="743" name="LSTM"/>
          <p:cNvSpPr txBox="1"/>
          <p:nvPr/>
        </p:nvSpPr>
        <p:spPr>
          <a:xfrm>
            <a:off x="15950186" y="9498223"/>
            <a:ext cx="905257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914400">
              <a:defRPr sz="2500">
                <a:solidFill>
                  <a:srgbClr val="000000"/>
                </a:solidFill>
                <a:latin typeface="Noto Sans KR Light"/>
                <a:ea typeface="Noto Sans KR Light"/>
                <a:cs typeface="Noto Sans KR Light"/>
                <a:sym typeface="Noto Sans KR Light"/>
              </a:defRPr>
            </a:lvl1pPr>
          </a:lstStyle>
          <a:p>
            <a:r>
              <a:rPr dirty="0"/>
              <a:t>LSTM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AB73CF6-0A17-371F-1B29-1E4061C5464A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F35797F7-3541-E1E0-C3E8-4A252CE38234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72D8A159-DADD-1E20-5471-1F1330A58385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1C2AD0BC-805D-36AF-9705-9411561428E2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9D7D5BAB-FFB6-7DE1-649A-6EE6C7B68EBD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BFE9C80-6C1A-35A7-DA27-B0A4A9205964}"/>
              </a:ext>
            </a:extLst>
          </p:cNvPr>
          <p:cNvSpPr/>
          <p:nvPr/>
        </p:nvSpPr>
        <p:spPr>
          <a:xfrm>
            <a:off x="2886174" y="2387261"/>
            <a:ext cx="9305826" cy="1203033"/>
          </a:xfrm>
          <a:prstGeom prst="round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747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745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746" name="III.데이터 분석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III.데이터</a:t>
              </a:r>
              <a:r>
                <a:rPr dirty="0"/>
                <a:t> </a:t>
              </a:r>
              <a:r>
                <a:rPr dirty="0" err="1"/>
                <a:t>분석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ko-KR" altLang="en-US" sz="2800" dirty="0" err="1"/>
                <a:t>모델별</a:t>
              </a:r>
              <a:r>
                <a:rPr lang="ko-KR" altLang="en-US" sz="2800" dirty="0"/>
                <a:t> 학습 시도 및 성능 비교</a:t>
              </a:r>
              <a:endParaRPr sz="2800" dirty="0"/>
            </a:p>
          </p:txBody>
        </p:sp>
      </p:grpSp>
      <p:grpSp>
        <p:nvGrpSpPr>
          <p:cNvPr id="759" name="그룹화"/>
          <p:cNvGrpSpPr/>
          <p:nvPr/>
        </p:nvGrpSpPr>
        <p:grpSpPr>
          <a:xfrm>
            <a:off x="2886175" y="3873829"/>
            <a:ext cx="17728437" cy="5650672"/>
            <a:chOff x="0" y="0"/>
            <a:chExt cx="17728435" cy="5650670"/>
          </a:xfrm>
        </p:grpSpPr>
        <p:pic>
          <p:nvPicPr>
            <p:cNvPr id="756" name="그림 10" descr="그림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7728436" cy="565067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57" name="모서리가 둥근 직사각형"/>
            <p:cNvSpPr/>
            <p:nvPr/>
          </p:nvSpPr>
          <p:spPr>
            <a:xfrm>
              <a:off x="77133" y="3308588"/>
              <a:ext cx="17574171" cy="1012809"/>
            </a:xfrm>
            <a:prstGeom prst="roundRect">
              <a:avLst>
                <a:gd name="adj" fmla="val 17749"/>
              </a:avLst>
            </a:prstGeom>
            <a:solidFill>
              <a:srgbClr val="FFFFFF">
                <a:alpha val="2403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758" name="모서리가 둥근 직사각형"/>
            <p:cNvSpPr/>
            <p:nvPr/>
          </p:nvSpPr>
          <p:spPr>
            <a:xfrm>
              <a:off x="34548" y="35521"/>
              <a:ext cx="3558688" cy="877100"/>
            </a:xfrm>
            <a:prstGeom prst="roundRect">
              <a:avLst>
                <a:gd name="adj" fmla="val 20495"/>
              </a:avLst>
            </a:prstGeom>
            <a:solidFill>
              <a:srgbClr val="FFFFFF">
                <a:alpha val="375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761" name="기존 파라미터의…"/>
          <p:cNvSpPr txBox="1"/>
          <p:nvPr/>
        </p:nvSpPr>
        <p:spPr>
          <a:xfrm>
            <a:off x="6149857" y="10830265"/>
            <a:ext cx="2561540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b="1"/>
              <a:t>기존 파라미터</a:t>
            </a:r>
            <a:r>
              <a:t>의</a:t>
            </a:r>
          </a:p>
          <a:p>
            <a:pPr>
              <a:defRPr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 학습 오차율 : 12 %</a:t>
            </a:r>
          </a:p>
        </p:txBody>
      </p:sp>
      <p:sp>
        <p:nvSpPr>
          <p:cNvPr id="762" name="GridSearchCV를 이용한…"/>
          <p:cNvSpPr txBox="1"/>
          <p:nvPr/>
        </p:nvSpPr>
        <p:spPr>
          <a:xfrm>
            <a:off x="13740304" y="10830265"/>
            <a:ext cx="3794456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 </a:t>
            </a:r>
            <a:r>
              <a:rPr b="1"/>
              <a:t>GridSearchCV</a:t>
            </a:r>
            <a:r>
              <a:t>를 이용한</a:t>
            </a:r>
          </a:p>
          <a:p>
            <a:pPr>
              <a:defRPr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파라미터의 학습 오차율 : 6 %</a:t>
            </a:r>
          </a:p>
        </p:txBody>
      </p:sp>
      <p:sp>
        <p:nvSpPr>
          <p:cNvPr id="763" name="선"/>
          <p:cNvSpPr/>
          <p:nvPr/>
        </p:nvSpPr>
        <p:spPr>
          <a:xfrm>
            <a:off x="11389098" y="10922583"/>
            <a:ext cx="773780" cy="53047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764" name="선"/>
          <p:cNvSpPr/>
          <p:nvPr/>
        </p:nvSpPr>
        <p:spPr>
          <a:xfrm flipV="1">
            <a:off x="11385598" y="11446152"/>
            <a:ext cx="780780" cy="70299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2BC8502-D891-0CC6-31B9-3DA6823E795B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867BBEA-DDE7-B4B2-F12F-508555FFBE0F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765C1F81-C885-88B0-B1BC-906F70754BD2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3756874A-CD50-76BF-0563-199F6D84BBC8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7DC8FD3C-2F7F-CFF0-93DD-59BECE1FF392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37224F2-BFA9-4D1A-1EFF-2785C8E60ED1}"/>
              </a:ext>
            </a:extLst>
          </p:cNvPr>
          <p:cNvSpPr txBox="1"/>
          <p:nvPr/>
        </p:nvSpPr>
        <p:spPr>
          <a:xfrm>
            <a:off x="2963308" y="2517014"/>
            <a:ext cx="9573306" cy="902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2600" dirty="0">
                <a:solidFill>
                  <a:schemeClr val="bg2">
                    <a:lumMod val="10000"/>
                  </a:schemeClr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최적의 파라미터 </a:t>
            </a:r>
            <a:r>
              <a:rPr lang="en-US" altLang="ko-KR" sz="2600" dirty="0">
                <a:solidFill>
                  <a:schemeClr val="bg2">
                    <a:lumMod val="10000"/>
                  </a:schemeClr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:			 {‘learning_rate’:0.1,’max_depth’:10,’n_estimators’:1000}</a:t>
            </a:r>
            <a:endParaRPr kumimoji="0" lang="ko-KR" altLang="en-US" sz="26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Noto Sans KR Medium" panose="020B0600000000000000" pitchFamily="34" charset="-127"/>
              <a:ea typeface="Noto Sans KR Medium" panose="020B0600000000000000" pitchFamily="34" charset="-127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8" name="그림 7"/>
          <p:cNvGrpSpPr/>
          <p:nvPr/>
        </p:nvGrpSpPr>
        <p:grpSpPr>
          <a:xfrm>
            <a:off x="828603" y="3526419"/>
            <a:ext cx="9593682" cy="6853985"/>
            <a:chOff x="0" y="0"/>
            <a:chExt cx="9593681" cy="6853984"/>
          </a:xfrm>
        </p:grpSpPr>
        <p:pic>
          <p:nvPicPr>
            <p:cNvPr id="767" name="그림 7" descr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000" y="88900"/>
              <a:ext cx="9339682" cy="6523785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766" name="그림 7" descr="그림 7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9593682" cy="6853985"/>
            </a:xfrm>
            <a:prstGeom prst="rect">
              <a:avLst/>
            </a:prstGeom>
            <a:effectLst/>
          </p:spPr>
        </p:pic>
      </p:grpSp>
      <p:grpSp>
        <p:nvGrpSpPr>
          <p:cNvPr id="773" name="그룹화"/>
          <p:cNvGrpSpPr/>
          <p:nvPr/>
        </p:nvGrpSpPr>
        <p:grpSpPr>
          <a:xfrm>
            <a:off x="13856078" y="3585677"/>
            <a:ext cx="9649801" cy="6887870"/>
            <a:chOff x="-127000" y="-88900"/>
            <a:chExt cx="9649800" cy="6887869"/>
          </a:xfrm>
        </p:grpSpPr>
        <p:grpSp>
          <p:nvGrpSpPr>
            <p:cNvPr id="771" name="그림 8"/>
            <p:cNvGrpSpPr/>
            <p:nvPr/>
          </p:nvGrpSpPr>
          <p:grpSpPr>
            <a:xfrm>
              <a:off x="-127000" y="-88900"/>
              <a:ext cx="9649801" cy="6887870"/>
              <a:chOff x="0" y="0"/>
              <a:chExt cx="9649800" cy="6887869"/>
            </a:xfrm>
          </p:grpSpPr>
          <p:pic>
            <p:nvPicPr>
              <p:cNvPr id="770" name="그림 8" descr="그림 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000" y="88900"/>
                <a:ext cx="9395801" cy="6557670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769" name="그림 8" descr="그림 8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9649801" cy="6887870"/>
              </a:xfrm>
              <a:prstGeom prst="rect">
                <a:avLst/>
              </a:prstGeom>
              <a:effectLst/>
            </p:spPr>
          </p:pic>
        </p:grpSp>
        <p:sp>
          <p:nvSpPr>
            <p:cNvPr id="772" name="모서리가 둥근 직사각형"/>
            <p:cNvSpPr/>
            <p:nvPr/>
          </p:nvSpPr>
          <p:spPr>
            <a:xfrm>
              <a:off x="253988" y="4850789"/>
              <a:ext cx="6984800" cy="1415339"/>
            </a:xfrm>
            <a:prstGeom prst="roundRect">
              <a:avLst>
                <a:gd name="adj" fmla="val 21646"/>
              </a:avLst>
            </a:prstGeom>
            <a:solidFill>
              <a:srgbClr val="000000">
                <a:alpha val="28276"/>
              </a:srgbClr>
            </a:solidFill>
            <a:ln w="50800" cap="flat">
              <a:solidFill>
                <a:schemeClr val="accent5">
                  <a:lumOff val="-29866"/>
                  <a:alpha val="2827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774" name="VS"/>
          <p:cNvSpPr txBox="1"/>
          <p:nvPr/>
        </p:nvSpPr>
        <p:spPr>
          <a:xfrm>
            <a:off x="11451065" y="6349999"/>
            <a:ext cx="895351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t>VS</a:t>
            </a:r>
          </a:p>
        </p:txBody>
      </p:sp>
      <p:sp>
        <p:nvSpPr>
          <p:cNvPr id="775" name="오차율 차이는 0.01%"/>
          <p:cNvSpPr txBox="1"/>
          <p:nvPr/>
        </p:nvSpPr>
        <p:spPr>
          <a:xfrm>
            <a:off x="9560417" y="10587916"/>
            <a:ext cx="4676649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000"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dirty="0" err="1">
                <a:solidFill>
                  <a:srgbClr val="000000"/>
                </a:solidFill>
              </a:rPr>
              <a:t>오차율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차이는</a:t>
            </a:r>
            <a:r>
              <a:rPr dirty="0"/>
              <a:t> </a:t>
            </a:r>
            <a:r>
              <a:rPr b="1" dirty="0">
                <a:solidFill>
                  <a:schemeClr val="accent5">
                    <a:lumOff val="-29866"/>
                  </a:schemeClr>
                </a:solidFill>
              </a:rPr>
              <a:t>0.01</a:t>
            </a:r>
            <a:r>
              <a:rPr dirty="0">
                <a:solidFill>
                  <a:srgbClr val="000000"/>
                </a:solidFill>
              </a:rPr>
              <a:t>%</a:t>
            </a:r>
          </a:p>
        </p:txBody>
      </p:sp>
      <p:sp>
        <p:nvSpPr>
          <p:cNvPr id="776" name="GridSearchCV"/>
          <p:cNvSpPr txBox="1"/>
          <p:nvPr/>
        </p:nvSpPr>
        <p:spPr>
          <a:xfrm>
            <a:off x="17339727" y="2552636"/>
            <a:ext cx="2465121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rPr dirty="0" err="1"/>
              <a:t>GridSearchCV</a:t>
            </a:r>
            <a:endParaRPr dirty="0"/>
          </a:p>
        </p:txBody>
      </p:sp>
      <p:sp>
        <p:nvSpPr>
          <p:cNvPr id="777" name="n_estimators=100"/>
          <p:cNvSpPr txBox="1"/>
          <p:nvPr/>
        </p:nvSpPr>
        <p:spPr>
          <a:xfrm>
            <a:off x="4223058" y="2524988"/>
            <a:ext cx="3185447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rPr dirty="0" err="1"/>
              <a:t>n_estimators</a:t>
            </a:r>
            <a:r>
              <a:rPr dirty="0"/>
              <a:t>=100</a:t>
            </a:r>
          </a:p>
        </p:txBody>
      </p:sp>
      <p:sp>
        <p:nvSpPr>
          <p:cNvPr id="778" name="모서리가 둥근 직사각형"/>
          <p:cNvSpPr/>
          <p:nvPr/>
        </p:nvSpPr>
        <p:spPr>
          <a:xfrm>
            <a:off x="19496670" y="4935550"/>
            <a:ext cx="2753970" cy="434564"/>
          </a:xfrm>
          <a:prstGeom prst="roundRect">
            <a:avLst>
              <a:gd name="adj" fmla="val 27767"/>
            </a:avLst>
          </a:prstGeom>
          <a:solidFill>
            <a:srgbClr val="000000">
              <a:alpha val="28276"/>
            </a:srgbClr>
          </a:solidFill>
          <a:ln w="50800">
            <a:solidFill>
              <a:schemeClr val="accent4">
                <a:alpha val="28276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79" name="모서리가 둥근 직사각형"/>
          <p:cNvSpPr/>
          <p:nvPr/>
        </p:nvSpPr>
        <p:spPr>
          <a:xfrm>
            <a:off x="6369806" y="4897450"/>
            <a:ext cx="2592356" cy="434564"/>
          </a:xfrm>
          <a:prstGeom prst="roundRect">
            <a:avLst>
              <a:gd name="adj" fmla="val 27767"/>
            </a:avLst>
          </a:prstGeom>
          <a:solidFill>
            <a:srgbClr val="000000">
              <a:alpha val="28276"/>
            </a:srgbClr>
          </a:solidFill>
          <a:ln w="50800">
            <a:solidFill>
              <a:schemeClr val="accent4">
                <a:alpha val="28276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783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781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782" name="III.데이터 분석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III.데이터</a:t>
              </a:r>
              <a:r>
                <a:rPr dirty="0"/>
                <a:t> </a:t>
              </a:r>
              <a:r>
                <a:rPr dirty="0" err="1"/>
                <a:t>분석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en-US" altLang="ko-KR" sz="2800" dirty="0" err="1"/>
                <a:t>RandomForestRegressor</a:t>
              </a:r>
              <a:r>
                <a:rPr lang="en-US" altLang="ko-KR" sz="2800" dirty="0"/>
                <a:t> (</a:t>
              </a:r>
              <a:r>
                <a:rPr lang="ko-KR" altLang="en-US" sz="2800" dirty="0"/>
                <a:t>전통적 모델</a:t>
              </a:r>
              <a:r>
                <a:rPr lang="en-US" altLang="ko-KR" sz="2800" dirty="0"/>
                <a:t>)</a:t>
              </a:r>
              <a:r>
                <a:rPr lang="en-US" sz="2800" dirty="0"/>
                <a:t> </a:t>
              </a:r>
              <a:endParaRPr sz="2800" dirty="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8C68C2-7D40-B2FB-1E4A-2871B1C1C35F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679996A4-57C5-6DDD-38A9-8AEE30E75E9C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DA287300-F51D-5E10-160C-1B57ABA20E92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547B705-EDF9-BF99-84DD-A4823B1C0025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40E2EAF-CC62-C870-0EA5-1939A6805173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4" name="오차율 차이는 0.01%">
            <a:extLst>
              <a:ext uri="{FF2B5EF4-FFF2-40B4-BE49-F238E27FC236}">
                <a16:creationId xmlns:a16="http://schemas.microsoft.com/office/drawing/2014/main" id="{0DE8E792-414D-4CF9-8F9A-EEA82EC44D85}"/>
              </a:ext>
            </a:extLst>
          </p:cNvPr>
          <p:cNvSpPr txBox="1"/>
          <p:nvPr/>
        </p:nvSpPr>
        <p:spPr>
          <a:xfrm>
            <a:off x="3667343" y="11241711"/>
            <a:ext cx="3600000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000"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dirty="0" err="1">
                <a:solidFill>
                  <a:srgbClr val="000000"/>
                </a:solidFill>
              </a:rPr>
              <a:t>오차율</a:t>
            </a:r>
            <a:r>
              <a:rPr lang="ko-KR" altLang="en-US" dirty="0">
                <a:solidFill>
                  <a:srgbClr val="000000"/>
                </a:solidFill>
              </a:rPr>
              <a:t> ：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b="1" dirty="0">
                <a:solidFill>
                  <a:schemeClr val="tx1"/>
                </a:solidFill>
              </a:rPr>
              <a:t>６</a:t>
            </a:r>
            <a:r>
              <a:rPr lang="en-US" altLang="ko-KR" b="1" dirty="0">
                <a:solidFill>
                  <a:schemeClr val="tx1"/>
                </a:solidFill>
              </a:rPr>
              <a:t>.</a:t>
            </a:r>
            <a:r>
              <a:rPr lang="ko-KR" altLang="en-US" b="1" dirty="0">
                <a:solidFill>
                  <a:schemeClr val="tx1"/>
                </a:solidFill>
              </a:rPr>
              <a:t>３５</a:t>
            </a:r>
            <a:r>
              <a:rPr lang="en-US" altLang="ko-KR" dirty="0">
                <a:solidFill>
                  <a:srgbClr val="000000"/>
                </a:solidFill>
              </a:rPr>
              <a:t>%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25" name="오차율 차이는 0.01%">
            <a:extLst>
              <a:ext uri="{FF2B5EF4-FFF2-40B4-BE49-F238E27FC236}">
                <a16:creationId xmlns:a16="http://schemas.microsoft.com/office/drawing/2014/main" id="{89CEA704-1AD5-4B19-BB9F-ACF5D472D9AF}"/>
              </a:ext>
            </a:extLst>
          </p:cNvPr>
          <p:cNvSpPr txBox="1"/>
          <p:nvPr/>
        </p:nvSpPr>
        <p:spPr>
          <a:xfrm>
            <a:off x="16664565" y="11375449"/>
            <a:ext cx="3600000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000"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dirty="0" err="1">
                <a:solidFill>
                  <a:srgbClr val="000000"/>
                </a:solidFill>
              </a:rPr>
              <a:t>오차율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：</a:t>
            </a:r>
            <a:r>
              <a:rPr dirty="0"/>
              <a:t> </a:t>
            </a:r>
            <a:r>
              <a:rPr lang="ko-KR" altLang="en-US" b="1" dirty="0">
                <a:solidFill>
                  <a:schemeClr val="tx1"/>
                </a:solidFill>
              </a:rPr>
              <a:t>６</a:t>
            </a:r>
            <a:r>
              <a:rPr lang="en-US" altLang="ko-KR" b="1" dirty="0">
                <a:solidFill>
                  <a:schemeClr val="tx1"/>
                </a:solidFill>
              </a:rPr>
              <a:t>.</a:t>
            </a:r>
            <a:r>
              <a:rPr lang="ko-KR" altLang="en-US" b="1" dirty="0">
                <a:solidFill>
                  <a:schemeClr val="tx1"/>
                </a:solidFill>
              </a:rPr>
              <a:t>３４</a:t>
            </a:r>
            <a:r>
              <a:rPr dirty="0">
                <a:solidFill>
                  <a:srgbClr val="000000"/>
                </a:solidFill>
              </a:rPr>
              <a:t>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그림 1"/>
          <p:cNvGrpSpPr/>
          <p:nvPr/>
        </p:nvGrpSpPr>
        <p:grpSpPr>
          <a:xfrm>
            <a:off x="978752" y="2590247"/>
            <a:ext cx="10400865" cy="7940349"/>
            <a:chOff x="0" y="0"/>
            <a:chExt cx="10400864" cy="7940347"/>
          </a:xfrm>
        </p:grpSpPr>
        <p:pic>
          <p:nvPicPr>
            <p:cNvPr id="793" name="그림 1" descr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000" y="88900"/>
              <a:ext cx="10146865" cy="7610148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792" name="그림 1" descr="그림 1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0400865" cy="7940348"/>
            </a:xfrm>
            <a:prstGeom prst="rect">
              <a:avLst/>
            </a:prstGeom>
            <a:effectLst/>
          </p:spPr>
        </p:pic>
      </p:grpSp>
      <p:grpSp>
        <p:nvGrpSpPr>
          <p:cNvPr id="797" name="그림 14"/>
          <p:cNvGrpSpPr/>
          <p:nvPr/>
        </p:nvGrpSpPr>
        <p:grpSpPr>
          <a:xfrm>
            <a:off x="12664765" y="2590084"/>
            <a:ext cx="10401301" cy="7940676"/>
            <a:chOff x="0" y="0"/>
            <a:chExt cx="10401300" cy="7940675"/>
          </a:xfrm>
        </p:grpSpPr>
        <p:pic>
          <p:nvPicPr>
            <p:cNvPr id="796" name="그림 14" descr="그림 14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27000" y="88900"/>
              <a:ext cx="10147300" cy="7610475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795" name="그림 14" descr="그림 14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" y="-1"/>
              <a:ext cx="10401301" cy="7940676"/>
            </a:xfrm>
            <a:prstGeom prst="rect">
              <a:avLst/>
            </a:prstGeom>
            <a:effectLst/>
          </p:spPr>
        </p:pic>
      </p:grpSp>
      <p:sp>
        <p:nvSpPr>
          <p:cNvPr id="798" name="TextBox 2"/>
          <p:cNvSpPr txBox="1"/>
          <p:nvPr/>
        </p:nvSpPr>
        <p:spPr>
          <a:xfrm>
            <a:off x="3298104" y="11059300"/>
            <a:ext cx="9633975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l" defTabSz="914400">
              <a:defRPr sz="3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rPr dirty="0" err="1"/>
              <a:t>극단값을</a:t>
            </a:r>
            <a:r>
              <a:rPr dirty="0"/>
              <a:t> </a:t>
            </a:r>
            <a:r>
              <a:rPr dirty="0" err="1"/>
              <a:t>제외한</a:t>
            </a:r>
            <a:r>
              <a:rPr dirty="0"/>
              <a:t>, 값 </a:t>
            </a:r>
            <a:r>
              <a:rPr dirty="0" err="1"/>
              <a:t>예측이</a:t>
            </a:r>
            <a:r>
              <a:rPr dirty="0"/>
              <a:t> </a:t>
            </a:r>
            <a:r>
              <a:rPr dirty="0" err="1"/>
              <a:t>비교적</a:t>
            </a:r>
            <a:r>
              <a:rPr dirty="0"/>
              <a:t> </a:t>
            </a:r>
            <a:r>
              <a:rPr dirty="0" err="1"/>
              <a:t>정확</a:t>
            </a:r>
            <a:endParaRPr dirty="0"/>
          </a:p>
        </p:txBody>
      </p:sp>
      <p:sp>
        <p:nvSpPr>
          <p:cNvPr id="799" name="TextBox 13"/>
          <p:cNvSpPr txBox="1"/>
          <p:nvPr/>
        </p:nvSpPr>
        <p:spPr>
          <a:xfrm>
            <a:off x="14511511" y="11059300"/>
            <a:ext cx="7501311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l" defTabSz="914400">
              <a:defRPr sz="3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rPr dirty="0" err="1"/>
              <a:t>예측값과</a:t>
            </a:r>
            <a:r>
              <a:rPr dirty="0"/>
              <a:t> </a:t>
            </a:r>
            <a:r>
              <a:rPr dirty="0" err="1"/>
              <a:t>실제값의</a:t>
            </a:r>
            <a:r>
              <a:rPr dirty="0"/>
              <a:t>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크게</a:t>
            </a:r>
            <a:r>
              <a:rPr dirty="0"/>
              <a:t> </a:t>
            </a:r>
            <a:r>
              <a:rPr dirty="0" err="1"/>
              <a:t>나지</a:t>
            </a:r>
            <a:r>
              <a:rPr dirty="0"/>
              <a:t> </a:t>
            </a:r>
            <a:r>
              <a:rPr dirty="0" err="1"/>
              <a:t>않음</a:t>
            </a:r>
            <a:endParaRPr dirty="0"/>
          </a:p>
        </p:txBody>
      </p:sp>
      <p:grpSp>
        <p:nvGrpSpPr>
          <p:cNvPr id="803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801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802" name="III.데이터 분석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III.데이터</a:t>
              </a:r>
              <a:r>
                <a:rPr dirty="0"/>
                <a:t> </a:t>
              </a:r>
              <a:r>
                <a:rPr dirty="0" err="1"/>
                <a:t>분석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ko-KR" altLang="en-US" sz="2800" dirty="0" err="1"/>
                <a:t>실제값과</a:t>
              </a:r>
              <a:r>
                <a:rPr lang="ko-KR" altLang="en-US" sz="2800" dirty="0"/>
                <a:t> </a:t>
              </a:r>
              <a:r>
                <a:rPr lang="ko-KR" altLang="en-US" sz="2800" dirty="0" err="1"/>
                <a:t>예측값</a:t>
              </a:r>
              <a:r>
                <a:rPr lang="ko-KR" altLang="en-US" sz="2800" dirty="0"/>
                <a:t> 비교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BF4831E-97F2-3C9F-A04F-927277BE0A00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F23C0A3F-B823-A7B0-A2EB-3CA24398C958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6950EC6B-343D-71DE-CD62-CF1158E2FAEB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4F0785A-9F97-0EAA-D042-045DAEB6F4BC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DCD3F000-B335-C783-89B6-F38291660388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3DB364C-EB97-1CC6-957E-F4AF4B3842B4}"/>
              </a:ext>
            </a:extLst>
          </p:cNvPr>
          <p:cNvSpPr/>
          <p:nvPr/>
        </p:nvSpPr>
        <p:spPr>
          <a:xfrm>
            <a:off x="1540407" y="2866708"/>
            <a:ext cx="10102953" cy="471924"/>
          </a:xfrm>
          <a:prstGeom prst="roundRect">
            <a:avLst/>
          </a:prstGeom>
          <a:solidFill>
            <a:schemeClr val="accent4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14" name="TextBox 10"/>
          <p:cNvSpPr txBox="1"/>
          <p:nvPr/>
        </p:nvSpPr>
        <p:spPr>
          <a:xfrm>
            <a:off x="1380869" y="2065138"/>
            <a:ext cx="5355211" cy="677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 algn="l" defTabSz="1828800">
              <a:defRPr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sz="3200"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 datetime </a:t>
            </a:r>
            <a:r>
              <a:rPr sz="3200"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타입으로</a:t>
            </a:r>
            <a:r>
              <a:rPr sz="3200"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</a:t>
            </a:r>
            <a:r>
              <a:rPr sz="3200"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형변환</a:t>
            </a:r>
            <a:endParaRPr sz="3200" dirty="0">
              <a:latin typeface="Noto Sans KR Medium" panose="020B0600000000000000" pitchFamily="34" charset="-127"/>
              <a:ea typeface="Noto Sans KR Medium" panose="020B0600000000000000" pitchFamily="34" charset="-127"/>
            </a:endParaRPr>
          </a:p>
        </p:txBody>
      </p:sp>
      <p:pic>
        <p:nvPicPr>
          <p:cNvPr id="815" name="그림 12" descr="그림 12"/>
          <p:cNvPicPr>
            <a:picLocks noChangeAspect="1"/>
          </p:cNvPicPr>
          <p:nvPr/>
        </p:nvPicPr>
        <p:blipFill>
          <a:blip r:embed="rId2"/>
          <a:srcRect r="602"/>
          <a:stretch>
            <a:fillRect/>
          </a:stretch>
        </p:blipFill>
        <p:spPr>
          <a:xfrm>
            <a:off x="1540407" y="3570098"/>
            <a:ext cx="15240337" cy="5136327"/>
          </a:xfrm>
          <a:prstGeom prst="rect">
            <a:avLst/>
          </a:prstGeom>
          <a:ln w="508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</p:pic>
      <p:pic>
        <p:nvPicPr>
          <p:cNvPr id="816" name="그림 9" descr="그림 9"/>
          <p:cNvPicPr>
            <a:picLocks noChangeAspect="1"/>
          </p:cNvPicPr>
          <p:nvPr/>
        </p:nvPicPr>
        <p:blipFill>
          <a:blip r:embed="rId3"/>
          <a:srcRect r="973"/>
          <a:stretch>
            <a:fillRect/>
          </a:stretch>
        </p:blipFill>
        <p:spPr>
          <a:xfrm>
            <a:off x="14850783" y="6557833"/>
            <a:ext cx="9271001" cy="7021595"/>
          </a:xfrm>
          <a:prstGeom prst="rect">
            <a:avLst/>
          </a:prstGeom>
          <a:ln w="508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  <a:effectLst>
            <a:outerShdw blurRad="50800" dist="25400" dir="3600000" rotWithShape="0">
              <a:srgbClr val="000000">
                <a:alpha val="70000"/>
              </a:srgbClr>
            </a:outerShdw>
          </a:effectLst>
        </p:spPr>
      </p:pic>
      <p:grpSp>
        <p:nvGrpSpPr>
          <p:cNvPr id="819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817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818" name="III.데이터 분석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III.데이터</a:t>
              </a:r>
              <a:r>
                <a:rPr dirty="0"/>
                <a:t> </a:t>
              </a:r>
              <a:r>
                <a:rPr dirty="0" err="1"/>
                <a:t>분석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en-US" altLang="ko-KR" sz="2800" dirty="0"/>
                <a:t>LSTM(Deep Learning)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EA3A4ED5-2F8E-7CC2-A115-3A2C5B03FC91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BC2BBE64-C811-5CBD-699D-8C732767A8AF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9631FE4C-4F82-60FF-B2A0-AD0C4D68E2C5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5E7CB500-3D6D-7DE3-A22F-F6C1332FAC55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ACCF59C-FDB9-2D49-4C89-A0275E6EAF05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5513E87-FAA9-B43B-0348-33A20CAF56F8}"/>
              </a:ext>
            </a:extLst>
          </p:cNvPr>
          <p:cNvSpPr txBox="1"/>
          <p:nvPr/>
        </p:nvSpPr>
        <p:spPr>
          <a:xfrm>
            <a:off x="-913233" y="2866708"/>
            <a:ext cx="1494927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spc="0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Noto Sans KR Medium" panose="020B0600000000000000" pitchFamily="34" charset="-127"/>
                <a:ea typeface="Noto Sans KR Medium" panose="020B0600000000000000" pitchFamily="34" charset="-127"/>
                <a:sym typeface="Helvetica Neue"/>
              </a:rPr>
              <a:t>x_data</a:t>
            </a:r>
            <a:r>
              <a:rPr kumimoji="0" lang="en-US" altLang="ko-KR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Noto Sans KR Medium" panose="020B0600000000000000" pitchFamily="34" charset="-127"/>
                <a:ea typeface="Noto Sans KR Medium" panose="020B0600000000000000" pitchFamily="34" charset="-127"/>
                <a:sym typeface="Helvetica Neue"/>
              </a:rPr>
              <a:t>[‘</a:t>
            </a:r>
            <a:r>
              <a:rPr kumimoji="0" lang="ko-KR" alt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Noto Sans KR Medium" panose="020B0600000000000000" pitchFamily="34" charset="-127"/>
                <a:ea typeface="Noto Sans KR Medium" panose="020B0600000000000000" pitchFamily="34" charset="-127"/>
                <a:sym typeface="Helvetica Neue"/>
              </a:rPr>
              <a:t>계약일</a:t>
            </a:r>
            <a:r>
              <a:rPr kumimoji="0" lang="en-US" altLang="ko-KR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Noto Sans KR Medium" panose="020B0600000000000000" pitchFamily="34" charset="-127"/>
                <a:ea typeface="Noto Sans KR Medium" panose="020B0600000000000000" pitchFamily="34" charset="-127"/>
                <a:sym typeface="Helvetica Neue"/>
              </a:rPr>
              <a:t>’] = </a:t>
            </a:r>
            <a:r>
              <a:rPr kumimoji="0" lang="en-US" altLang="ko-KR" sz="2400" b="0" i="0" u="none" strike="noStrike" cap="none" spc="0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Noto Sans KR Medium" panose="020B0600000000000000" pitchFamily="34" charset="-127"/>
                <a:ea typeface="Noto Sans KR Medium" panose="020B0600000000000000" pitchFamily="34" charset="-127"/>
                <a:sym typeface="Helvetica Neue"/>
              </a:rPr>
              <a:t>pd.to_datetime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(data[‘</a:t>
            </a:r>
            <a:r>
              <a:rPr lang="ko-KR" altLang="en-US" dirty="0">
                <a:solidFill>
                  <a:schemeClr val="bg2">
                    <a:lumMod val="10000"/>
                  </a:schemeClr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계약일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’], format=‘%</a:t>
            </a:r>
            <a:r>
              <a:rPr lang="en-US" altLang="ko-KR" dirty="0" err="1">
                <a:solidFill>
                  <a:schemeClr val="bg2">
                    <a:lumMod val="10000"/>
                  </a:schemeClr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y%m%d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’)</a:t>
            </a:r>
            <a:endParaRPr kumimoji="0" lang="ko-KR" altLang="en-US" sz="24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Noto Sans KR Medium" panose="020B0600000000000000" pitchFamily="34" charset="-127"/>
              <a:ea typeface="Noto Sans KR Medium" panose="020B0600000000000000" pitchFamily="34" charset="-127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그림 2" descr="그림 2"/>
          <p:cNvPicPr>
            <a:picLocks noChangeAspect="1"/>
          </p:cNvPicPr>
          <p:nvPr/>
        </p:nvPicPr>
        <p:blipFill>
          <a:blip r:embed="rId2"/>
          <a:srcRect r="8506" b="28512"/>
          <a:stretch>
            <a:fillRect/>
          </a:stretch>
        </p:blipFill>
        <p:spPr>
          <a:xfrm>
            <a:off x="1575064" y="2065139"/>
            <a:ext cx="14004067" cy="6970769"/>
          </a:xfrm>
          <a:prstGeom prst="rect">
            <a:avLst/>
          </a:prstGeom>
          <a:ln w="50800">
            <a:solidFill>
              <a:schemeClr val="accent1">
                <a:lumOff val="-13575"/>
              </a:schemeClr>
            </a:solidFill>
            <a:miter lim="400000"/>
          </a:ln>
        </p:spPr>
      </p:pic>
      <p:pic>
        <p:nvPicPr>
          <p:cNvPr id="830" name="그림 3" descr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3793" y="6628551"/>
            <a:ext cx="9271001" cy="6953251"/>
          </a:xfrm>
          <a:prstGeom prst="rect">
            <a:avLst/>
          </a:prstGeom>
          <a:ln w="25400">
            <a:solidFill>
              <a:schemeClr val="accent1"/>
            </a:solidFill>
            <a:miter lim="400000"/>
          </a:ln>
          <a:effectLst>
            <a:outerShdw blurRad="50800" dist="25400" dir="3600000" rotWithShape="0">
              <a:srgbClr val="000000">
                <a:alpha val="70000"/>
              </a:srgbClr>
            </a:outerShdw>
          </a:effectLst>
        </p:spPr>
      </p:pic>
      <p:grpSp>
        <p:nvGrpSpPr>
          <p:cNvPr id="833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831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832" name="III.데이터 분석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III.데이터</a:t>
              </a:r>
              <a:r>
                <a:rPr dirty="0"/>
                <a:t> </a:t>
              </a:r>
              <a:r>
                <a:rPr dirty="0" err="1"/>
                <a:t>분석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en-US" altLang="ko-KR" sz="2800" dirty="0"/>
                <a:t>LSTM(Deep Learning)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7DE37E5-4905-BAF6-86F2-CFE288488D0F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46B93475-AB2F-1062-5AF0-20A1A9810667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E87671E-7AE7-B892-DF97-9467FE480FAA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1C700144-DF2B-7F7E-4753-5EF6632AD898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393F8BF-E388-F361-BFDB-86C73A7981B9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5" name="그림 10"/>
          <p:cNvGrpSpPr/>
          <p:nvPr/>
        </p:nvGrpSpPr>
        <p:grpSpPr>
          <a:xfrm>
            <a:off x="12454595" y="9729762"/>
            <a:ext cx="10364950" cy="1892301"/>
            <a:chOff x="0" y="0"/>
            <a:chExt cx="10364948" cy="1892300"/>
          </a:xfrm>
        </p:grpSpPr>
        <p:pic>
          <p:nvPicPr>
            <p:cNvPr id="844" name="그림 10" descr="그림 10"/>
            <p:cNvPicPr>
              <a:picLocks noChangeAspect="1"/>
            </p:cNvPicPr>
            <p:nvPr/>
          </p:nvPicPr>
          <p:blipFill>
            <a:blip r:embed="rId2"/>
            <a:srcRect r="4399"/>
            <a:stretch>
              <a:fillRect/>
            </a:stretch>
          </p:blipFill>
          <p:spPr>
            <a:xfrm>
              <a:off x="127000" y="88900"/>
              <a:ext cx="10110949" cy="15621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43" name="그림 10" descr="그림 10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1"/>
              <a:ext cx="10364949" cy="1892301"/>
            </a:xfrm>
            <a:prstGeom prst="rect">
              <a:avLst/>
            </a:prstGeom>
            <a:effectLst/>
          </p:spPr>
        </p:pic>
      </p:grpSp>
      <p:sp>
        <p:nvSpPr>
          <p:cNvPr id="846" name="TextBox 7"/>
          <p:cNvSpPr txBox="1"/>
          <p:nvPr/>
        </p:nvSpPr>
        <p:spPr>
          <a:xfrm>
            <a:off x="5354225" y="2727037"/>
            <a:ext cx="1219029" cy="1198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algn="l" defTabSz="1828800">
              <a:defRPr sz="2800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rPr dirty="0"/>
              <a:t>LSTM</a:t>
            </a:r>
          </a:p>
        </p:txBody>
      </p:sp>
      <p:sp>
        <p:nvSpPr>
          <p:cNvPr id="847" name="TextBox 8"/>
          <p:cNvSpPr txBox="1"/>
          <p:nvPr/>
        </p:nvSpPr>
        <p:spPr>
          <a:xfrm>
            <a:off x="15272180" y="2532557"/>
            <a:ext cx="4729779" cy="1198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algn="l" defTabSz="1828800">
              <a:defRPr sz="2800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rPr dirty="0" err="1"/>
              <a:t>RandomForestRegressor</a:t>
            </a:r>
            <a:endParaRPr dirty="0"/>
          </a:p>
        </p:txBody>
      </p:sp>
      <p:sp>
        <p:nvSpPr>
          <p:cNvPr id="848" name="TextBox 9"/>
          <p:cNvSpPr txBox="1"/>
          <p:nvPr/>
        </p:nvSpPr>
        <p:spPr>
          <a:xfrm>
            <a:off x="7529905" y="1613900"/>
            <a:ext cx="8440978" cy="1973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/>
          <a:p>
            <a:pPr algn="l" defTabSz="1828800">
              <a:defRPr sz="3700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dirty="0" err="1">
                <a:solidFill>
                  <a:schemeClr val="accent1"/>
                </a:solidFill>
              </a:rPr>
              <a:t>RandomForestRegressor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이유</a:t>
            </a:r>
            <a:endParaRPr dirty="0"/>
          </a:p>
          <a:p>
            <a:pPr algn="l" defTabSz="1828800">
              <a:defRPr b="1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endParaRPr dirty="0"/>
          </a:p>
          <a:p>
            <a:pPr algn="l" defTabSz="1828800">
              <a:defRPr b="1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endParaRPr dirty="0"/>
          </a:p>
        </p:txBody>
      </p:sp>
      <p:sp>
        <p:nvSpPr>
          <p:cNvPr id="849" name="LOSS 값…"/>
          <p:cNvSpPr txBox="1"/>
          <p:nvPr/>
        </p:nvSpPr>
        <p:spPr>
          <a:xfrm>
            <a:off x="2565308" y="11775135"/>
            <a:ext cx="6796863" cy="146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dirty="0">
                <a:latin typeface="Noto Sans KR Medium"/>
                <a:ea typeface="Noto Sans KR Medium"/>
                <a:cs typeface="Noto Sans KR Medium"/>
                <a:sym typeface="Noto Sans KR Medium"/>
              </a:rPr>
              <a:t>LOSS 값</a:t>
            </a:r>
            <a:r>
              <a:rPr dirty="0"/>
              <a:t> </a:t>
            </a:r>
          </a:p>
          <a:p>
            <a:pPr>
              <a:defRPr sz="3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sz="2600" dirty="0"/>
              <a:t>LSTM</a:t>
            </a:r>
            <a:r>
              <a:rPr dirty="0"/>
              <a:t> vs </a:t>
            </a:r>
            <a:r>
              <a:rPr sz="3400" b="1" dirty="0" err="1">
                <a:solidFill>
                  <a:schemeClr val="accent1"/>
                </a:solidFill>
              </a:rPr>
              <a:t>RandomForestRegressor</a:t>
            </a:r>
            <a:r>
              <a:rPr sz="2600" dirty="0"/>
              <a:t> </a:t>
            </a:r>
          </a:p>
        </p:txBody>
      </p:sp>
      <p:sp>
        <p:nvSpPr>
          <p:cNvPr id="850" name="실제 예측 결과…"/>
          <p:cNvSpPr txBox="1"/>
          <p:nvPr/>
        </p:nvSpPr>
        <p:spPr>
          <a:xfrm>
            <a:off x="13968948" y="11869314"/>
            <a:ext cx="6941003" cy="1272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000"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</a:t>
            </a:r>
            <a:r>
              <a:rPr dirty="0" err="1"/>
              <a:t>결과</a:t>
            </a:r>
            <a:endParaRPr dirty="0"/>
          </a:p>
          <a:p>
            <a:pPr>
              <a:defRPr sz="3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lang="en-US" sz="2600" dirty="0"/>
              <a:t>LSTM</a:t>
            </a:r>
            <a:r>
              <a:rPr dirty="0"/>
              <a:t> vs </a:t>
            </a:r>
            <a:r>
              <a:rPr sz="3400" b="1" dirty="0" err="1">
                <a:solidFill>
                  <a:schemeClr val="accent1"/>
                </a:solidFill>
              </a:rPr>
              <a:t>RandomForestRegressor</a:t>
            </a:r>
            <a:r>
              <a:rPr sz="3600" dirty="0"/>
              <a:t> </a:t>
            </a:r>
          </a:p>
        </p:txBody>
      </p:sp>
      <p:grpSp>
        <p:nvGrpSpPr>
          <p:cNvPr id="853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851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852" name="III.데이터 분석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lang="en-US" dirty="0"/>
                <a:t>III.</a:t>
              </a:r>
              <a:r>
                <a:rPr lang="ko-KR" altLang="en-US" dirty="0"/>
                <a:t>데이터 분석 </a:t>
              </a:r>
              <a:r>
                <a:rPr lang="en-US" altLang="ko-KR" sz="2800" dirty="0"/>
                <a:t>: RMSE &amp; R - squared </a:t>
              </a:r>
              <a:endParaRPr lang="ko-KR" altLang="en-US" sz="2800" dirty="0"/>
            </a:p>
          </p:txBody>
        </p:sp>
      </p:grpSp>
      <p:grpSp>
        <p:nvGrpSpPr>
          <p:cNvPr id="862" name="KakaoTalk_Photo_2023-06-22-20-16-39.png"/>
          <p:cNvGrpSpPr/>
          <p:nvPr/>
        </p:nvGrpSpPr>
        <p:grpSpPr>
          <a:xfrm>
            <a:off x="890855" y="9787138"/>
            <a:ext cx="10742312" cy="1897749"/>
            <a:chOff x="0" y="0"/>
            <a:chExt cx="10742310" cy="1897747"/>
          </a:xfrm>
        </p:grpSpPr>
        <p:pic>
          <p:nvPicPr>
            <p:cNvPr id="861" name="KakaoTalk_Photo_2023-06-22-20-16-39.png" descr="KakaoTalk_Photo_2023-06-22-20-16-39.png"/>
            <p:cNvPicPr>
              <a:picLocks noChangeAspect="1"/>
            </p:cNvPicPr>
            <p:nvPr/>
          </p:nvPicPr>
          <p:blipFill>
            <a:blip r:embed="rId4"/>
            <a:srcRect t="6493" r="4238"/>
            <a:stretch>
              <a:fillRect/>
            </a:stretch>
          </p:blipFill>
          <p:spPr>
            <a:xfrm>
              <a:off x="127000" y="88899"/>
              <a:ext cx="10488311" cy="1567549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60" name="KakaoTalk_Photo_2023-06-22-20-16-39.png" descr="KakaoTalk_Photo_2023-06-22-20-16-39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10742311" cy="1897748"/>
            </a:xfrm>
            <a:prstGeom prst="rect">
              <a:avLst/>
            </a:prstGeom>
            <a:effectLst/>
          </p:spPr>
        </p:pic>
      </p:grpSp>
      <p:pic>
        <p:nvPicPr>
          <p:cNvPr id="863" name="그림 3" descr="그림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9561" y="3592009"/>
            <a:ext cx="7704901" cy="5778677"/>
          </a:xfrm>
          <a:prstGeom prst="rect">
            <a:avLst/>
          </a:prstGeom>
          <a:ln w="25400">
            <a:solidFill>
              <a:schemeClr val="accent1"/>
            </a:solidFill>
            <a:miter lim="400000"/>
          </a:ln>
          <a:effectLst>
            <a:outerShdw blurRad="50800" dist="25400" dir="3600000" rotWithShape="0">
              <a:srgbClr val="000000">
                <a:alpha val="70000"/>
              </a:srgbClr>
            </a:outerShdw>
          </a:effectLst>
        </p:spPr>
      </p:pic>
      <p:pic>
        <p:nvPicPr>
          <p:cNvPr id="864" name="그림 14" descr="그림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91947" y="3515897"/>
            <a:ext cx="7704668" cy="5778501"/>
          </a:xfrm>
          <a:prstGeom prst="rect">
            <a:avLst/>
          </a:prstGeom>
          <a:ln w="38100">
            <a:solidFill>
              <a:schemeClr val="accent1"/>
            </a:solidFill>
            <a:miter lim="400000"/>
          </a:ln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5745858C-4721-1598-65CE-1D862391C993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A560EDEB-FC65-62A7-18A5-22CF263B1736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24D1B0DC-0230-59DD-BA44-FC49C1EB1CBC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71F517D2-55FB-9C3E-B05F-0D400B513647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FDCAFEC6-C10D-4EB3-F395-1B0190DD3E5A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" name="그림 10"/>
          <p:cNvGrpSpPr/>
          <p:nvPr/>
        </p:nvGrpSpPr>
        <p:grpSpPr>
          <a:xfrm>
            <a:off x="4627503" y="15882903"/>
            <a:ext cx="12864498" cy="2278471"/>
            <a:chOff x="0" y="0"/>
            <a:chExt cx="12864496" cy="2278469"/>
          </a:xfrm>
        </p:grpSpPr>
        <p:pic>
          <p:nvPicPr>
            <p:cNvPr id="869" name="그림 10" descr="그림 10"/>
            <p:cNvPicPr>
              <a:picLocks noChangeAspect="1"/>
            </p:cNvPicPr>
            <p:nvPr/>
          </p:nvPicPr>
          <p:blipFill>
            <a:blip r:embed="rId2"/>
            <a:srcRect r="4399"/>
            <a:stretch>
              <a:fillRect/>
            </a:stretch>
          </p:blipFill>
          <p:spPr>
            <a:xfrm>
              <a:off x="127000" y="88900"/>
              <a:ext cx="12610497" cy="194827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68" name="그림 10" descr="그림 10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0"/>
              <a:ext cx="12864497" cy="2278470"/>
            </a:xfrm>
            <a:prstGeom prst="rect">
              <a:avLst/>
            </a:prstGeom>
            <a:effectLst/>
          </p:spPr>
        </p:pic>
      </p:grpSp>
      <p:grpSp>
        <p:nvGrpSpPr>
          <p:cNvPr id="873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871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872" name="III.데이터 분석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lang="en-US" dirty="0"/>
                <a:t>III.</a:t>
              </a:r>
              <a:r>
                <a:rPr lang="ko-KR" altLang="en-US" dirty="0"/>
                <a:t>데이터 분석 </a:t>
              </a:r>
              <a:r>
                <a:rPr lang="en-US" altLang="ko-KR" sz="2800" dirty="0"/>
                <a:t>: RMSE &amp; R - squared</a:t>
              </a:r>
              <a:endParaRPr lang="ko-KR" altLang="en-US" sz="2800" dirty="0"/>
            </a:p>
          </p:txBody>
        </p:sp>
      </p:grpSp>
      <p:sp>
        <p:nvSpPr>
          <p:cNvPr id="880" name="TextBox 9"/>
          <p:cNvSpPr txBox="1"/>
          <p:nvPr/>
        </p:nvSpPr>
        <p:spPr>
          <a:xfrm>
            <a:off x="7529905" y="1613900"/>
            <a:ext cx="8440978" cy="1973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/>
          <a:p>
            <a:pPr algn="l" defTabSz="1828800">
              <a:defRPr sz="3700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dirty="0" err="1">
                <a:solidFill>
                  <a:schemeClr val="accent1"/>
                </a:solidFill>
              </a:rPr>
              <a:t>RandomForestRegressor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이유</a:t>
            </a:r>
            <a:endParaRPr dirty="0"/>
          </a:p>
          <a:p>
            <a:pPr algn="l" defTabSz="1828800">
              <a:defRPr b="1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endParaRPr dirty="0"/>
          </a:p>
          <a:p>
            <a:pPr algn="l" defTabSz="1828800">
              <a:defRPr b="1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endParaRPr dirty="0"/>
          </a:p>
        </p:txBody>
      </p:sp>
      <p:grpSp>
        <p:nvGrpSpPr>
          <p:cNvPr id="884" name="그림 14"/>
          <p:cNvGrpSpPr/>
          <p:nvPr/>
        </p:nvGrpSpPr>
        <p:grpSpPr>
          <a:xfrm>
            <a:off x="6874689" y="-11227920"/>
            <a:ext cx="9751407" cy="7453255"/>
            <a:chOff x="0" y="0"/>
            <a:chExt cx="9751405" cy="7453253"/>
          </a:xfrm>
        </p:grpSpPr>
        <p:pic>
          <p:nvPicPr>
            <p:cNvPr id="883" name="그림 14" descr="그림 14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27000" y="88900"/>
              <a:ext cx="9497406" cy="712305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82" name="그림 14" descr="그림 14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9751406" cy="7453254"/>
            </a:xfrm>
            <a:prstGeom prst="rect">
              <a:avLst/>
            </a:prstGeom>
            <a:effectLst/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48E20F5-A933-55D6-E7EE-3A0943399BE9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FFEFE4A-D8E1-975D-2C96-57362E7128E9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FBAF9AE0-A746-0795-5D66-194BB9C97198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08248D53-A2F5-FA5E-6EBC-DBE7E53B66E5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72E3B94-8C0A-E74B-57DB-45006F407A49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" name="그림 10"/>
          <p:cNvGrpSpPr/>
          <p:nvPr/>
        </p:nvGrpSpPr>
        <p:grpSpPr>
          <a:xfrm>
            <a:off x="5962196" y="2830967"/>
            <a:ext cx="11576393" cy="1973582"/>
            <a:chOff x="0" y="0"/>
            <a:chExt cx="12864496" cy="2278469"/>
          </a:xfrm>
        </p:grpSpPr>
        <p:pic>
          <p:nvPicPr>
            <p:cNvPr id="869" name="그림 10" descr="그림 10"/>
            <p:cNvPicPr>
              <a:picLocks noChangeAspect="1"/>
            </p:cNvPicPr>
            <p:nvPr/>
          </p:nvPicPr>
          <p:blipFill>
            <a:blip r:embed="rId2"/>
            <a:srcRect r="4399"/>
            <a:stretch>
              <a:fillRect/>
            </a:stretch>
          </p:blipFill>
          <p:spPr>
            <a:xfrm>
              <a:off x="127000" y="88900"/>
              <a:ext cx="12610497" cy="194827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68" name="그림 10" descr="그림 10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0"/>
              <a:ext cx="12864497" cy="2278470"/>
            </a:xfrm>
            <a:prstGeom prst="rect">
              <a:avLst/>
            </a:prstGeom>
            <a:effectLst/>
          </p:spPr>
        </p:pic>
      </p:grpSp>
      <p:grpSp>
        <p:nvGrpSpPr>
          <p:cNvPr id="873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871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872" name="III.데이터 분석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III.데이터</a:t>
              </a:r>
              <a:r>
                <a:rPr dirty="0"/>
                <a:t> </a:t>
              </a:r>
              <a:r>
                <a:rPr dirty="0" err="1"/>
                <a:t>분석</a:t>
              </a:r>
              <a:r>
                <a:rPr lang="en-US" dirty="0"/>
                <a:t> </a:t>
              </a:r>
              <a:r>
                <a:rPr lang="en-US" sz="2800" dirty="0"/>
                <a:t>:</a:t>
              </a:r>
              <a:r>
                <a:rPr lang="en-US" altLang="ko-KR" sz="2800" dirty="0"/>
                <a:t> RMSE &amp; R - squared</a:t>
              </a:r>
              <a:endParaRPr sz="2800" dirty="0"/>
            </a:p>
          </p:txBody>
        </p:sp>
      </p:grpSp>
      <p:sp>
        <p:nvSpPr>
          <p:cNvPr id="880" name="TextBox 9"/>
          <p:cNvSpPr txBox="1"/>
          <p:nvPr/>
        </p:nvSpPr>
        <p:spPr>
          <a:xfrm>
            <a:off x="7529905" y="1613900"/>
            <a:ext cx="8440978" cy="1973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/>
          <a:p>
            <a:pPr algn="l" defTabSz="1828800">
              <a:defRPr sz="3700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dirty="0" err="1">
                <a:solidFill>
                  <a:schemeClr val="accent1"/>
                </a:solidFill>
              </a:rPr>
              <a:t>RandomForestRegressor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이유</a:t>
            </a:r>
            <a:endParaRPr dirty="0"/>
          </a:p>
          <a:p>
            <a:pPr algn="l" defTabSz="1828800">
              <a:defRPr b="1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endParaRPr dirty="0"/>
          </a:p>
          <a:p>
            <a:pPr algn="l" defTabSz="1828800">
              <a:defRPr b="1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endParaRPr dirty="0"/>
          </a:p>
        </p:txBody>
      </p:sp>
      <p:grpSp>
        <p:nvGrpSpPr>
          <p:cNvPr id="884" name="그림 14"/>
          <p:cNvGrpSpPr/>
          <p:nvPr/>
        </p:nvGrpSpPr>
        <p:grpSpPr>
          <a:xfrm>
            <a:off x="6862872" y="5230887"/>
            <a:ext cx="9751407" cy="7453255"/>
            <a:chOff x="0" y="0"/>
            <a:chExt cx="9751405" cy="7453253"/>
          </a:xfrm>
        </p:grpSpPr>
        <p:pic>
          <p:nvPicPr>
            <p:cNvPr id="883" name="그림 14" descr="그림 14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27000" y="88900"/>
              <a:ext cx="9497406" cy="712305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82" name="그림 14" descr="그림 14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9751406" cy="7453254"/>
            </a:xfrm>
            <a:prstGeom prst="rect">
              <a:avLst/>
            </a:prstGeom>
            <a:effectLst/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EC32D157-0BC7-006B-0E36-84C1A27CF60D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A446AC03-1DEB-BFED-5601-6734928994E5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824927C0-2C05-F036-A269-18DD7CAB1790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265785A8-6B3A-AE20-4853-EF29FBA85FD7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F96775BB-F3B6-55E7-1EFF-240CF401618D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8" name="DEEP LEARNING">
            <a:extLst>
              <a:ext uri="{FF2B5EF4-FFF2-40B4-BE49-F238E27FC236}">
                <a16:creationId xmlns:a16="http://schemas.microsoft.com/office/drawing/2014/main" id="{E2BE5E75-2D01-589F-38E3-3C2534FA7D11}"/>
              </a:ext>
            </a:extLst>
          </p:cNvPr>
          <p:cNvSpPr txBox="1"/>
          <p:nvPr/>
        </p:nvSpPr>
        <p:spPr>
          <a:xfrm>
            <a:off x="2187419" y="7772014"/>
            <a:ext cx="4047745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 strike="sngStrike"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rPr dirty="0"/>
              <a:t>DEEP LEARNING </a:t>
            </a:r>
          </a:p>
        </p:txBody>
      </p:sp>
      <p:sp>
        <p:nvSpPr>
          <p:cNvPr id="9" name="MACHINE LEARNING">
            <a:extLst>
              <a:ext uri="{FF2B5EF4-FFF2-40B4-BE49-F238E27FC236}">
                <a16:creationId xmlns:a16="http://schemas.microsoft.com/office/drawing/2014/main" id="{B847F174-593D-48E4-E632-7D8E4524A0BD}"/>
              </a:ext>
            </a:extLst>
          </p:cNvPr>
          <p:cNvSpPr txBox="1"/>
          <p:nvPr/>
        </p:nvSpPr>
        <p:spPr>
          <a:xfrm>
            <a:off x="17521129" y="6908713"/>
            <a:ext cx="6288833" cy="2564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8000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r>
              <a:rPr dirty="0"/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571764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KakaoTalk_Photo_2023-06-22-17-17-34.png" descr="KakaoTalk_Photo_2023-06-22-17-17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019300"/>
            <a:ext cx="19202400" cy="9677400"/>
          </a:xfrm>
          <a:prstGeom prst="rect">
            <a:avLst/>
          </a:prstGeom>
          <a:ln w="50800">
            <a:solidFill>
              <a:schemeClr val="accent1">
                <a:lumOff val="-13575"/>
              </a:schemeClr>
            </a:solidFill>
            <a:miter lim="400000"/>
          </a:ln>
          <a:effectLst>
            <a:outerShdw blurRad="50800" dist="25400" dir="3600000" rotWithShape="0">
              <a:srgbClr val="000000">
                <a:alpha val="70000"/>
              </a:srgbClr>
            </a:outerShdw>
          </a:effectLst>
        </p:spPr>
      </p:pic>
      <p:grpSp>
        <p:nvGrpSpPr>
          <p:cNvPr id="904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902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903" name="IV.결론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 err="1"/>
                <a:t>IV.결론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ko-KR" altLang="en-US" sz="2800" dirty="0"/>
                <a:t>웹 화면</a:t>
              </a:r>
              <a:endParaRPr sz="2800" dirty="0"/>
            </a:p>
          </p:txBody>
        </p:sp>
      </p:grpSp>
      <p:sp>
        <p:nvSpPr>
          <p:cNvPr id="905" name="웹 화면"/>
          <p:cNvSpPr txBox="1"/>
          <p:nvPr/>
        </p:nvSpPr>
        <p:spPr>
          <a:xfrm>
            <a:off x="10995874" y="11940264"/>
            <a:ext cx="1560323" cy="843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3600"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lvl1pPr>
          </a:lstStyle>
          <a:p>
            <a:r>
              <a:rPr dirty="0"/>
              <a:t>웹 </a:t>
            </a:r>
            <a:r>
              <a:rPr dirty="0" err="1"/>
              <a:t>화면</a:t>
            </a:r>
            <a:endParaRPr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CF63744-7B8F-D360-AED2-AEA79E653303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FA7D2C5A-D872-1CD4-E41D-06244BE26AE6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38E4ADA8-3EE7-C511-3ACF-3A27563BA638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B7DDBB54-E66B-FED3-1B1A-1B96186CC93D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4941709F-A7D2-1662-EE6F-C6F6243525BA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6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914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915" name="IV.결론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/>
            <a:p>
              <a: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pPr>
              <a:r>
                <a:rPr dirty="0" err="1"/>
                <a:t>IV.결론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ko-KR" altLang="en-US" sz="2800" dirty="0"/>
                <a:t>주요 코드</a:t>
              </a:r>
              <a:endParaRPr sz="2800" dirty="0"/>
            </a:p>
          </p:txBody>
        </p:sp>
      </p:grpSp>
      <p:sp>
        <p:nvSpPr>
          <p:cNvPr id="919" name="원하는 아파트 매매 조건 선택 후 예상가격 조회 클릭"/>
          <p:cNvSpPr txBox="1">
            <a:spLocks noGrp="1"/>
          </p:cNvSpPr>
          <p:nvPr>
            <p:ph type="body" sz="quarter" idx="1"/>
          </p:nvPr>
        </p:nvSpPr>
        <p:spPr>
          <a:xfrm>
            <a:off x="13328473" y="3083522"/>
            <a:ext cx="7766203" cy="699974"/>
          </a:xfrm>
          <a:prstGeom prst="rect">
            <a:avLst/>
          </a:prstGeom>
        </p:spPr>
        <p:txBody>
          <a:bodyPr lIns="45719" tIns="45719" rIns="45719" bIns="45719">
            <a:normAutofit/>
          </a:bodyPr>
          <a:lstStyle>
            <a:lvl1pPr marL="0" indent="0" algn="ctr" defTabSz="914400">
              <a:spcBef>
                <a:spcPts val="1000"/>
              </a:spcBef>
              <a:buSzTx/>
              <a:buFontTx/>
              <a:buNone/>
              <a:defRPr sz="2800">
                <a:latin typeface="Noto Sans KR Light"/>
                <a:ea typeface="Noto Sans KR Light"/>
                <a:cs typeface="Noto Sans KR Light"/>
                <a:sym typeface="Noto Sans KR Light"/>
              </a:defRPr>
            </a:lvl1pPr>
          </a:lstStyle>
          <a:p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원하는</a:t>
            </a: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아파트</a:t>
            </a: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매매</a:t>
            </a: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조건</a:t>
            </a: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선택</a:t>
            </a: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후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예상가격</a:t>
            </a: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조회</a:t>
            </a: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클릭</a:t>
            </a:r>
            <a:endParaRPr dirty="0">
              <a:latin typeface="Noto Sans KR Medium" panose="020B0600000000000000" pitchFamily="34" charset="-127"/>
              <a:ea typeface="Noto Sans KR Medium" panose="020B0600000000000000" pitchFamily="34" charset="-127"/>
            </a:endParaRPr>
          </a:p>
        </p:txBody>
      </p:sp>
      <p:pic>
        <p:nvPicPr>
          <p:cNvPr id="920" name="그림 3" descr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7950" y="5154888"/>
            <a:ext cx="12288483" cy="7572362"/>
          </a:xfrm>
          <a:prstGeom prst="rect">
            <a:avLst/>
          </a:prstGeom>
          <a:ln w="50800">
            <a:solidFill>
              <a:schemeClr val="accent1"/>
            </a:solidFill>
            <a:miter lim="400000"/>
          </a:ln>
          <a:effectLst>
            <a:outerShdw blurRad="50800" dist="25400" dir="3600000" rotWithShape="0">
              <a:srgbClr val="000000">
                <a:alpha val="70000"/>
              </a:srgbClr>
            </a:outerShdw>
          </a:effectLst>
        </p:spPr>
      </p:pic>
      <p:sp>
        <p:nvSpPr>
          <p:cNvPr id="921" name="선"/>
          <p:cNvSpPr/>
          <p:nvPr/>
        </p:nvSpPr>
        <p:spPr>
          <a:xfrm flipH="1">
            <a:off x="11437950" y="3329844"/>
            <a:ext cx="1890523" cy="1"/>
          </a:xfrm>
          <a:prstGeom prst="line">
            <a:avLst/>
          </a:prstGeom>
          <a:ln w="76200">
            <a:solidFill>
              <a:schemeClr val="accent5">
                <a:lumOff val="-29866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A9629AC-2E88-13BE-F8A6-59D105CE60EC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4CF0396F-5372-FC90-A6B9-09B72B2DF41B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1F9E4051-19F8-CD18-6AAA-C481D9E4E4CF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13616693-C15C-7D61-3117-77B4E718996E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2A740FD-66E4-21E7-C87F-8611E8CF2EF9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pic>
        <p:nvPicPr>
          <p:cNvPr id="918" name="그림 4" descr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562" y="1740245"/>
            <a:ext cx="9877985" cy="2791192"/>
          </a:xfrm>
          <a:prstGeom prst="rect">
            <a:avLst/>
          </a:prstGeom>
          <a:ln w="38100">
            <a:solidFill>
              <a:schemeClr val="accent1"/>
            </a:solidFill>
            <a:miter lim="400000"/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F2542D6-6133-4CA5-9DFB-108F8C7FE6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562" y="8694414"/>
            <a:ext cx="9877985" cy="4467362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915199D-64E6-493D-B113-070A73A30D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562" y="4796109"/>
            <a:ext cx="9877985" cy="3633633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2" name="사각형: 둥근 모서리 10"/>
          <p:cNvGrpSpPr/>
          <p:nvPr/>
        </p:nvGrpSpPr>
        <p:grpSpPr>
          <a:xfrm>
            <a:off x="348407" y="300055"/>
            <a:ext cx="22803974" cy="887506"/>
            <a:chOff x="0" y="0"/>
            <a:chExt cx="22803973" cy="887504"/>
          </a:xfrm>
        </p:grpSpPr>
        <p:sp>
          <p:nvSpPr>
            <p:cNvPr id="930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931" name="IV.결론"/>
            <p:cNvSpPr txBox="1"/>
            <p:nvPr/>
          </p:nvSpPr>
          <p:spPr>
            <a:xfrm>
              <a:off x="221410" y="59033"/>
              <a:ext cx="22361152" cy="769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/>
            <a:p>
              <a: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pPr>
              <a:r>
                <a:rPr dirty="0" err="1"/>
                <a:t>IV.결론</a:t>
              </a:r>
              <a:r>
                <a:rPr lang="en-US" dirty="0"/>
                <a:t> </a:t>
              </a:r>
              <a:r>
                <a:rPr lang="en-US" sz="2800" dirty="0"/>
                <a:t>: </a:t>
              </a:r>
              <a:r>
                <a:rPr lang="ko-KR" altLang="en-US" sz="2800" dirty="0"/>
                <a:t>주요 코드</a:t>
              </a:r>
              <a:endParaRPr sz="2800" dirty="0"/>
            </a:p>
          </p:txBody>
        </p:sp>
      </p:grpSp>
      <p:pic>
        <p:nvPicPr>
          <p:cNvPr id="934" name="내용 개체 틀 5" descr="내용 개체 틀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29" y="2463753"/>
            <a:ext cx="11393242" cy="7985755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  <a:effectLst>
            <a:outerShdw blurRad="50800" dist="25400" dir="3600000" rotWithShape="0">
              <a:srgbClr val="000000">
                <a:alpha val="70000"/>
              </a:srgbClr>
            </a:outerShdw>
          </a:effectLst>
        </p:spPr>
      </p:pic>
      <p:sp>
        <p:nvSpPr>
          <p:cNvPr id="935" name="TextBox 7"/>
          <p:cNvSpPr txBox="1"/>
          <p:nvPr/>
        </p:nvSpPr>
        <p:spPr>
          <a:xfrm>
            <a:off x="3368625" y="11732051"/>
            <a:ext cx="6550320" cy="58477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매물</a:t>
            </a: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리스트</a:t>
            </a: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클릭</a:t>
            </a: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시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실행되는</a:t>
            </a:r>
            <a:r>
              <a:rPr dirty="0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</a:t>
            </a:r>
            <a:r>
              <a:rPr dirty="0" err="1"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함수</a:t>
            </a:r>
            <a:endParaRPr dirty="0">
              <a:latin typeface="Noto Sans KR Medium" panose="020B0600000000000000" pitchFamily="34" charset="-127"/>
              <a:ea typeface="Noto Sans KR Medium" panose="020B0600000000000000" pitchFamily="34" charset="-127"/>
            </a:endParaRPr>
          </a:p>
        </p:txBody>
      </p:sp>
      <p:pic>
        <p:nvPicPr>
          <p:cNvPr id="936" name="그림 8" descr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7544" y="2463753"/>
            <a:ext cx="11233001" cy="7985755"/>
          </a:xfrm>
          <a:prstGeom prst="rect">
            <a:avLst/>
          </a:prstGeom>
          <a:ln w="50800">
            <a:solidFill>
              <a:schemeClr val="accent1">
                <a:lumOff val="-13575"/>
              </a:schemeClr>
            </a:solidFill>
            <a:miter lim="400000"/>
          </a:ln>
          <a:effectLst>
            <a:outerShdw blurRad="50800" dist="25400" dir="3600000" rotWithShape="0">
              <a:srgbClr val="000000">
                <a:alpha val="70000"/>
              </a:srgbClr>
            </a:outerShdw>
          </a:effectLst>
        </p:spPr>
      </p:pic>
      <p:sp>
        <p:nvSpPr>
          <p:cNvPr id="937" name="TextBox 7"/>
          <p:cNvSpPr txBox="1"/>
          <p:nvPr/>
        </p:nvSpPr>
        <p:spPr>
          <a:xfrm>
            <a:off x="14465055" y="11698575"/>
            <a:ext cx="8465915" cy="58477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defRPr sz="3200">
                <a:solidFill>
                  <a:srgbClr val="FFFFFF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dirty="0" err="1"/>
              <a:t>생성된</a:t>
            </a:r>
            <a:r>
              <a:rPr dirty="0"/>
              <a:t> </a:t>
            </a:r>
            <a:r>
              <a:rPr dirty="0" err="1"/>
              <a:t>마커</a:t>
            </a:r>
            <a:r>
              <a:rPr dirty="0"/>
              <a:t> </a:t>
            </a:r>
            <a:r>
              <a:rPr dirty="0" err="1"/>
              <a:t>클릭</a:t>
            </a:r>
            <a:r>
              <a:rPr dirty="0"/>
              <a:t> 시 </a:t>
            </a:r>
            <a:r>
              <a:rPr dirty="0" err="1"/>
              <a:t>보여지는</a:t>
            </a:r>
            <a:r>
              <a:rPr dirty="0"/>
              <a:t>  </a:t>
            </a:r>
            <a:r>
              <a:rPr dirty="0" err="1"/>
              <a:t>오버레이</a:t>
            </a:r>
            <a:r>
              <a:rPr dirty="0"/>
              <a:t> </a:t>
            </a:r>
            <a:r>
              <a:rPr dirty="0" err="1"/>
              <a:t>함수</a:t>
            </a:r>
            <a:endParaRPr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F767600-2A56-4D2F-0497-0422CECC77C9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C7B7CC4-0B7B-6AAD-7F49-F1C42635508F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6C3384B5-1A52-ED22-14F3-948270946A89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2AF29F3C-1C27-101C-0DB7-B27FF0FA191E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BC7BCE5F-76F5-5197-8F11-C42CC3C63C63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7" name="사각형: 둥근 모서리 10"/>
          <p:cNvGrpSpPr/>
          <p:nvPr/>
        </p:nvGrpSpPr>
        <p:grpSpPr>
          <a:xfrm>
            <a:off x="348407" y="300055"/>
            <a:ext cx="22803973" cy="887505"/>
            <a:chOff x="0" y="0"/>
            <a:chExt cx="22803972" cy="887503"/>
          </a:xfrm>
        </p:grpSpPr>
        <p:sp>
          <p:nvSpPr>
            <p:cNvPr id="965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966" name="참고문헌"/>
            <p:cNvSpPr txBox="1"/>
            <p:nvPr/>
          </p:nvSpPr>
          <p:spPr>
            <a:xfrm>
              <a:off x="221410" y="3061"/>
              <a:ext cx="22361152" cy="881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t>참고문헌</a:t>
              </a:r>
            </a:p>
          </p:txBody>
        </p:sp>
      </p:grpSp>
      <p:sp>
        <p:nvSpPr>
          <p:cNvPr id="972" name="이고은,최열, “도시공원 유형 및 입지적 특성이 공동주택가격에 미치는 영향”, 929page…"/>
          <p:cNvSpPr txBox="1"/>
          <p:nvPr/>
        </p:nvSpPr>
        <p:spPr>
          <a:xfrm>
            <a:off x="759863" y="2704889"/>
            <a:ext cx="12187241" cy="5987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/>
          <a:p>
            <a:pPr lvl="2" algn="just" defTabSz="1828800">
              <a:lnSpc>
                <a:spcPct val="150000"/>
              </a:lnSpc>
              <a:spcBef>
                <a:spcPts val="1600"/>
              </a:spcBef>
              <a:defRPr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dirty="0" err="1"/>
              <a:t>이고은,최열</a:t>
            </a:r>
            <a:r>
              <a:rPr dirty="0"/>
              <a:t>, “</a:t>
            </a:r>
            <a:r>
              <a:rPr dirty="0" err="1"/>
              <a:t>도시공원</a:t>
            </a:r>
            <a:r>
              <a:rPr dirty="0"/>
              <a:t> </a:t>
            </a:r>
            <a:r>
              <a:rPr dirty="0" err="1"/>
              <a:t>유형</a:t>
            </a:r>
            <a:r>
              <a:rPr dirty="0"/>
              <a:t> 및 </a:t>
            </a:r>
            <a:r>
              <a:rPr dirty="0" err="1"/>
              <a:t>입지적</a:t>
            </a:r>
            <a:r>
              <a:rPr dirty="0"/>
              <a:t> </a:t>
            </a:r>
            <a:r>
              <a:rPr dirty="0" err="1"/>
              <a:t>특성이</a:t>
            </a:r>
            <a:r>
              <a:rPr dirty="0"/>
              <a:t> </a:t>
            </a:r>
            <a:r>
              <a:rPr dirty="0" err="1"/>
              <a:t>공동주택가격에</a:t>
            </a:r>
            <a:r>
              <a:rPr dirty="0"/>
              <a:t> </a:t>
            </a:r>
            <a:r>
              <a:rPr dirty="0" err="1"/>
              <a:t>미치는</a:t>
            </a:r>
            <a:r>
              <a:rPr dirty="0"/>
              <a:t> </a:t>
            </a:r>
            <a:r>
              <a:rPr dirty="0" err="1"/>
              <a:t>영향</a:t>
            </a:r>
            <a:r>
              <a:rPr dirty="0"/>
              <a:t>”, 92page </a:t>
            </a:r>
          </a:p>
          <a:p>
            <a:pPr lvl="2" algn="just" defTabSz="1828800">
              <a:lnSpc>
                <a:spcPct val="150000"/>
              </a:lnSpc>
              <a:spcBef>
                <a:spcPts val="1600"/>
              </a:spcBef>
              <a:defRPr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dirty="0" err="1"/>
              <a:t>서울시</a:t>
            </a:r>
            <a:r>
              <a:rPr dirty="0"/>
              <a:t> </a:t>
            </a:r>
            <a:r>
              <a:rPr dirty="0" err="1"/>
              <a:t>부동산</a:t>
            </a:r>
            <a:r>
              <a:rPr dirty="0"/>
              <a:t> </a:t>
            </a:r>
            <a:r>
              <a:rPr dirty="0" err="1"/>
              <a:t>실거래가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(</a:t>
            </a:r>
            <a:r>
              <a:rPr dirty="0" err="1"/>
              <a:t>서울</a:t>
            </a:r>
            <a:r>
              <a:rPr dirty="0"/>
              <a:t> </a:t>
            </a:r>
            <a:r>
              <a:rPr dirty="0" err="1"/>
              <a:t>열린데이터</a:t>
            </a:r>
            <a:r>
              <a:rPr dirty="0"/>
              <a:t> </a:t>
            </a:r>
            <a:r>
              <a:rPr dirty="0" err="1"/>
              <a:t>광장</a:t>
            </a:r>
            <a:r>
              <a:rPr dirty="0"/>
              <a:t>) “</a:t>
            </a:r>
            <a:r>
              <a:rPr u="sng" dirty="0">
                <a:hlinkClick r:id="rId2"/>
              </a:rPr>
              <a:t>https://data.seoul.go.kr/</a:t>
            </a:r>
            <a:r>
              <a:rPr dirty="0"/>
              <a:t>"</a:t>
            </a:r>
          </a:p>
          <a:p>
            <a:pPr lvl="2" algn="just" defTabSz="1828800">
              <a:lnSpc>
                <a:spcPct val="150000"/>
              </a:lnSpc>
              <a:spcBef>
                <a:spcPts val="1600"/>
              </a:spcBef>
              <a:defRPr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dirty="0"/>
              <a:t>  -2018 ~2022 년 </a:t>
            </a:r>
            <a:r>
              <a:rPr dirty="0" err="1"/>
              <a:t>서울시</a:t>
            </a:r>
            <a:r>
              <a:rPr dirty="0"/>
              <a:t> </a:t>
            </a:r>
            <a:r>
              <a:rPr dirty="0" err="1"/>
              <a:t>아파트</a:t>
            </a:r>
            <a:r>
              <a:rPr dirty="0"/>
              <a:t> </a:t>
            </a:r>
            <a:r>
              <a:rPr dirty="0" err="1"/>
              <a:t>매매가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</a:p>
          <a:p>
            <a:pPr lvl="2" algn="just" defTabSz="1828800">
              <a:lnSpc>
                <a:spcPct val="150000"/>
              </a:lnSpc>
              <a:spcBef>
                <a:spcPts val="1600"/>
              </a:spcBef>
              <a:defRPr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dirty="0"/>
              <a:t> </a:t>
            </a:r>
            <a:r>
              <a:rPr dirty="0" err="1"/>
              <a:t>한강공원</a:t>
            </a:r>
            <a:r>
              <a:rPr dirty="0"/>
              <a:t> </a:t>
            </a:r>
            <a:r>
              <a:rPr dirty="0" err="1"/>
              <a:t>주차장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(</a:t>
            </a:r>
            <a:r>
              <a:rPr dirty="0" err="1"/>
              <a:t>서울</a:t>
            </a:r>
            <a:r>
              <a:rPr dirty="0"/>
              <a:t> </a:t>
            </a:r>
            <a:r>
              <a:rPr dirty="0" err="1"/>
              <a:t>열린데이터</a:t>
            </a:r>
            <a:r>
              <a:rPr dirty="0"/>
              <a:t> </a:t>
            </a:r>
            <a:r>
              <a:rPr dirty="0" err="1"/>
              <a:t>광장</a:t>
            </a:r>
            <a:r>
              <a:rPr dirty="0"/>
              <a:t>) “</a:t>
            </a:r>
            <a:r>
              <a:rPr u="sng" dirty="0">
                <a:hlinkClick r:id="rId2"/>
              </a:rPr>
              <a:t>https://data.seoul.go.kr/</a:t>
            </a:r>
            <a:r>
              <a:rPr dirty="0"/>
              <a:t>"</a:t>
            </a:r>
          </a:p>
          <a:p>
            <a:pPr lvl="2" algn="just" defTabSz="1828800">
              <a:lnSpc>
                <a:spcPct val="150000"/>
              </a:lnSpc>
              <a:spcBef>
                <a:spcPts val="1600"/>
              </a:spcBef>
              <a:defRPr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dirty="0"/>
              <a:t> - </a:t>
            </a:r>
            <a:r>
              <a:rPr dirty="0" err="1"/>
              <a:t>서울시</a:t>
            </a:r>
            <a:r>
              <a:rPr dirty="0"/>
              <a:t> </a:t>
            </a:r>
            <a:r>
              <a:rPr dirty="0" err="1"/>
              <a:t>한강</a:t>
            </a:r>
            <a:r>
              <a:rPr dirty="0"/>
              <a:t> </a:t>
            </a:r>
            <a:r>
              <a:rPr dirty="0" err="1"/>
              <a:t>공원</a:t>
            </a:r>
            <a:r>
              <a:rPr dirty="0"/>
              <a:t> </a:t>
            </a:r>
            <a:r>
              <a:rPr dirty="0" err="1"/>
              <a:t>위치를</a:t>
            </a:r>
            <a:r>
              <a:rPr dirty="0"/>
              <a:t> 파악5. </a:t>
            </a:r>
            <a:r>
              <a:rPr dirty="0" err="1"/>
              <a:t>소비자물가지수</a:t>
            </a:r>
            <a:r>
              <a:rPr dirty="0"/>
              <a:t>, </a:t>
            </a:r>
            <a:r>
              <a:rPr dirty="0" err="1"/>
              <a:t>주택매매가격지수</a:t>
            </a:r>
            <a:r>
              <a:rPr dirty="0"/>
              <a:t>, </a:t>
            </a:r>
            <a:r>
              <a:rPr dirty="0" err="1"/>
              <a:t>기준금리</a:t>
            </a:r>
            <a:r>
              <a:rPr dirty="0"/>
              <a:t> (KOSIS)</a:t>
            </a:r>
          </a:p>
          <a:p>
            <a:pPr lvl="2" algn="just" defTabSz="1828800">
              <a:lnSpc>
                <a:spcPct val="150000"/>
              </a:lnSpc>
              <a:spcBef>
                <a:spcPts val="1600"/>
              </a:spcBef>
              <a:defRPr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dirty="0"/>
              <a:t> </a:t>
            </a:r>
            <a:r>
              <a:rPr dirty="0" err="1"/>
              <a:t>매물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(</a:t>
            </a:r>
            <a:r>
              <a:rPr dirty="0" err="1"/>
              <a:t>네이버</a:t>
            </a:r>
            <a:r>
              <a:rPr dirty="0"/>
              <a:t> </a:t>
            </a:r>
            <a:r>
              <a:rPr dirty="0" err="1"/>
              <a:t>부동산</a:t>
            </a:r>
            <a:r>
              <a:rPr dirty="0"/>
              <a:t> </a:t>
            </a:r>
            <a:r>
              <a:rPr dirty="0" err="1"/>
              <a:t>크롤링</a:t>
            </a:r>
            <a:r>
              <a:rPr dirty="0"/>
              <a:t> 2023.06.14 </a:t>
            </a:r>
            <a:r>
              <a:rPr dirty="0" err="1"/>
              <a:t>기준</a:t>
            </a:r>
            <a:r>
              <a:rPr dirty="0"/>
              <a:t>) “</a:t>
            </a:r>
            <a:r>
              <a:rPr u="sng" dirty="0">
                <a:hlinkClick r:id="rId3"/>
              </a:rPr>
              <a:t>https://land.naver.com/</a:t>
            </a:r>
            <a:r>
              <a:rPr dirty="0"/>
              <a:t>"</a:t>
            </a:r>
          </a:p>
          <a:p>
            <a:pPr lvl="2" algn="just" defTabSz="1828800">
              <a:lnSpc>
                <a:spcPct val="150000"/>
              </a:lnSpc>
              <a:spcBef>
                <a:spcPts val="1600"/>
              </a:spcBef>
              <a:defRPr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dirty="0"/>
              <a:t> - </a:t>
            </a:r>
            <a:r>
              <a:rPr dirty="0" err="1"/>
              <a:t>예측</a:t>
            </a:r>
            <a:r>
              <a:rPr dirty="0"/>
              <a:t> </a:t>
            </a:r>
            <a:r>
              <a:rPr dirty="0" err="1"/>
              <a:t>결과에</a:t>
            </a:r>
            <a:r>
              <a:rPr dirty="0"/>
              <a:t> </a:t>
            </a:r>
            <a:r>
              <a:rPr dirty="0" err="1"/>
              <a:t>맞는</a:t>
            </a:r>
            <a:r>
              <a:rPr dirty="0"/>
              <a:t> </a:t>
            </a:r>
            <a:r>
              <a:rPr dirty="0" err="1"/>
              <a:t>아파트</a:t>
            </a:r>
            <a:r>
              <a:rPr dirty="0"/>
              <a:t> </a:t>
            </a:r>
            <a:r>
              <a:rPr dirty="0" err="1"/>
              <a:t>매물</a:t>
            </a:r>
            <a:r>
              <a:rPr dirty="0"/>
              <a:t> </a:t>
            </a:r>
            <a:r>
              <a:rPr dirty="0" err="1"/>
              <a:t>추천을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수집</a:t>
            </a:r>
            <a:endParaRPr dirty="0"/>
          </a:p>
          <a:p>
            <a:pPr lvl="2" algn="just" defTabSz="1828800">
              <a:lnSpc>
                <a:spcPct val="150000"/>
              </a:lnSpc>
              <a:spcBef>
                <a:spcPts val="1600"/>
              </a:spcBef>
              <a:defRPr>
                <a:solidFill>
                  <a:srgbClr val="000000"/>
                </a:solidFill>
                <a:latin typeface="Noto Sans KR Medium"/>
                <a:ea typeface="Noto Sans KR Medium"/>
                <a:cs typeface="Noto Sans KR Medium"/>
                <a:sym typeface="Noto Sans KR Medium"/>
              </a:defRPr>
            </a:pPr>
            <a:r>
              <a:rPr dirty="0"/>
              <a:t> KAKAOMAP API “</a:t>
            </a:r>
            <a:r>
              <a:rPr u="sng" dirty="0">
                <a:hlinkClick r:id="rId4"/>
              </a:rPr>
              <a:t>https://apis.map.kakao.com/</a:t>
            </a:r>
            <a:r>
              <a:rPr dirty="0"/>
              <a:t>"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D884B6A-70C9-B3BB-57C3-E8F6CED8BC85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5E87969F-0380-6437-4B60-78EBE28439E3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BFD6619B-89C6-C1CC-8C00-393FBCD18F5A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AD8E49EB-B8FD-1038-4F6A-1EAF2DFE1297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CCECE292-7F4F-A055-06B4-9FA686F5CA00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직사각형 52"/>
          <p:cNvSpPr txBox="1"/>
          <p:nvPr/>
        </p:nvSpPr>
        <p:spPr>
          <a:xfrm>
            <a:off x="10793755" y="6904841"/>
            <a:ext cx="5031676" cy="944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defTabSz="1828800">
              <a:lnSpc>
                <a:spcPct val="150000"/>
              </a:lnSpc>
              <a:defRPr sz="5000" b="1">
                <a:solidFill>
                  <a:srgbClr val="78808D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r>
              <a:t>A</a:t>
            </a:r>
          </a:p>
        </p:txBody>
      </p:sp>
      <p:grpSp>
        <p:nvGrpSpPr>
          <p:cNvPr id="982" name="그룹 4"/>
          <p:cNvGrpSpPr/>
          <p:nvPr/>
        </p:nvGrpSpPr>
        <p:grpSpPr>
          <a:xfrm>
            <a:off x="8424711" y="5353870"/>
            <a:ext cx="4024674" cy="4273847"/>
            <a:chOff x="0" y="0"/>
            <a:chExt cx="4024672" cy="4273845"/>
          </a:xfrm>
        </p:grpSpPr>
        <p:sp>
          <p:nvSpPr>
            <p:cNvPr id="979" name="자유형 115"/>
            <p:cNvSpPr/>
            <p:nvPr/>
          </p:nvSpPr>
          <p:spPr>
            <a:xfrm>
              <a:off x="-1" y="0"/>
              <a:ext cx="3728380" cy="4160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89" y="0"/>
                  </a:moveTo>
                  <a:lnTo>
                    <a:pt x="17529" y="0"/>
                  </a:lnTo>
                  <a:cubicBezTo>
                    <a:pt x="19265" y="0"/>
                    <a:pt x="20754" y="945"/>
                    <a:pt x="21390" y="2293"/>
                  </a:cubicBezTo>
                  <a:lnTo>
                    <a:pt x="21600" y="2900"/>
                  </a:lnTo>
                  <a:lnTo>
                    <a:pt x="21088" y="2900"/>
                  </a:lnTo>
                  <a:lnTo>
                    <a:pt x="20958" y="2525"/>
                  </a:lnTo>
                  <a:cubicBezTo>
                    <a:pt x="20382" y="1306"/>
                    <a:pt x="19035" y="450"/>
                    <a:pt x="17466" y="450"/>
                  </a:cubicBezTo>
                  <a:lnTo>
                    <a:pt x="4253" y="450"/>
                  </a:lnTo>
                  <a:cubicBezTo>
                    <a:pt x="2160" y="450"/>
                    <a:pt x="463" y="1971"/>
                    <a:pt x="463" y="3847"/>
                  </a:cubicBezTo>
                  <a:lnTo>
                    <a:pt x="463" y="17732"/>
                  </a:lnTo>
                  <a:cubicBezTo>
                    <a:pt x="463" y="19608"/>
                    <a:pt x="2160" y="21129"/>
                    <a:pt x="4253" y="21129"/>
                  </a:cubicBezTo>
                  <a:lnTo>
                    <a:pt x="15501" y="21129"/>
                  </a:lnTo>
                  <a:lnTo>
                    <a:pt x="15501" y="21600"/>
                  </a:lnTo>
                  <a:lnTo>
                    <a:pt x="4189" y="21600"/>
                  </a:lnTo>
                  <a:cubicBezTo>
                    <a:pt x="1876" y="21600"/>
                    <a:pt x="0" y="19919"/>
                    <a:pt x="0" y="17846"/>
                  </a:cubicBezTo>
                  <a:lnTo>
                    <a:pt x="0" y="3754"/>
                  </a:lnTo>
                  <a:cubicBezTo>
                    <a:pt x="0" y="1681"/>
                    <a:pt x="1876" y="0"/>
                    <a:pt x="4189" y="0"/>
                  </a:cubicBez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980" name="직선 연결선 6"/>
            <p:cNvSpPr/>
            <p:nvPr/>
          </p:nvSpPr>
          <p:spPr>
            <a:xfrm>
              <a:off x="3676960" y="520494"/>
              <a:ext cx="347712" cy="1465251"/>
            </a:xfrm>
            <a:prstGeom prst="line">
              <a:avLst/>
            </a:prstGeom>
            <a:solidFill>
              <a:srgbClr val="FF6600"/>
            </a:solidFill>
            <a:ln w="76200" cap="flat">
              <a:solidFill>
                <a:srgbClr val="FF6600"/>
              </a:solidFill>
              <a:prstDash val="solid"/>
              <a:miter lim="8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algn="l" defTabSz="1828800">
                <a:defRPr sz="360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981" name="타원 7"/>
            <p:cNvSpPr/>
            <p:nvPr/>
          </p:nvSpPr>
          <p:spPr>
            <a:xfrm>
              <a:off x="2675674" y="3996021"/>
              <a:ext cx="277825" cy="277825"/>
            </a:xfrm>
            <a:prstGeom prst="ellipse">
              <a:avLst/>
            </a:pr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</p:grpSp>
      <p:grpSp>
        <p:nvGrpSpPr>
          <p:cNvPr id="986" name="그룹 20"/>
          <p:cNvGrpSpPr/>
          <p:nvPr/>
        </p:nvGrpSpPr>
        <p:grpSpPr>
          <a:xfrm>
            <a:off x="12500418" y="5240358"/>
            <a:ext cx="4023085" cy="4273847"/>
            <a:chOff x="0" y="0"/>
            <a:chExt cx="4023084" cy="4273846"/>
          </a:xfrm>
        </p:grpSpPr>
        <p:sp>
          <p:nvSpPr>
            <p:cNvPr id="983" name="자유형 122"/>
            <p:cNvSpPr/>
            <p:nvPr/>
          </p:nvSpPr>
          <p:spPr>
            <a:xfrm rot="10800000">
              <a:off x="294705" y="113512"/>
              <a:ext cx="3728379" cy="4160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89" y="0"/>
                  </a:moveTo>
                  <a:lnTo>
                    <a:pt x="17529" y="0"/>
                  </a:lnTo>
                  <a:cubicBezTo>
                    <a:pt x="19265" y="0"/>
                    <a:pt x="20754" y="945"/>
                    <a:pt x="21390" y="2293"/>
                  </a:cubicBezTo>
                  <a:lnTo>
                    <a:pt x="21600" y="2900"/>
                  </a:lnTo>
                  <a:lnTo>
                    <a:pt x="21088" y="2900"/>
                  </a:lnTo>
                  <a:lnTo>
                    <a:pt x="20958" y="2525"/>
                  </a:lnTo>
                  <a:cubicBezTo>
                    <a:pt x="20382" y="1306"/>
                    <a:pt x="19035" y="450"/>
                    <a:pt x="17466" y="450"/>
                  </a:cubicBezTo>
                  <a:lnTo>
                    <a:pt x="4253" y="450"/>
                  </a:lnTo>
                  <a:cubicBezTo>
                    <a:pt x="2160" y="450"/>
                    <a:pt x="463" y="1971"/>
                    <a:pt x="463" y="3847"/>
                  </a:cubicBezTo>
                  <a:lnTo>
                    <a:pt x="463" y="17732"/>
                  </a:lnTo>
                  <a:cubicBezTo>
                    <a:pt x="463" y="19608"/>
                    <a:pt x="2160" y="21129"/>
                    <a:pt x="4253" y="21129"/>
                  </a:cubicBezTo>
                  <a:lnTo>
                    <a:pt x="15501" y="21129"/>
                  </a:lnTo>
                  <a:lnTo>
                    <a:pt x="15501" y="21600"/>
                  </a:lnTo>
                  <a:lnTo>
                    <a:pt x="4189" y="21600"/>
                  </a:lnTo>
                  <a:cubicBezTo>
                    <a:pt x="1876" y="21600"/>
                    <a:pt x="0" y="19919"/>
                    <a:pt x="0" y="17846"/>
                  </a:cubicBezTo>
                  <a:lnTo>
                    <a:pt x="0" y="3754"/>
                  </a:lnTo>
                  <a:cubicBezTo>
                    <a:pt x="0" y="1681"/>
                    <a:pt x="1876" y="0"/>
                    <a:pt x="4189" y="0"/>
                  </a:cubicBez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984" name="직선 연결선 22"/>
            <p:cNvSpPr/>
            <p:nvPr/>
          </p:nvSpPr>
          <p:spPr>
            <a:xfrm flipH="1" flipV="1">
              <a:off x="-1" y="2288102"/>
              <a:ext cx="347712" cy="1465251"/>
            </a:xfrm>
            <a:prstGeom prst="line">
              <a:avLst/>
            </a:prstGeom>
            <a:solidFill>
              <a:srgbClr val="404040"/>
            </a:solidFill>
            <a:ln w="76200" cap="flat">
              <a:solidFill>
                <a:srgbClr val="404040"/>
              </a:solidFill>
              <a:prstDash val="solid"/>
              <a:miter lim="8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algn="l" defTabSz="1828800">
                <a:defRPr sz="360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985" name="타원 23"/>
            <p:cNvSpPr/>
            <p:nvPr/>
          </p:nvSpPr>
          <p:spPr>
            <a:xfrm rot="10800000">
              <a:off x="1083871" y="-1"/>
              <a:ext cx="277825" cy="277826"/>
            </a:xfrm>
            <a:prstGeom prst="ellipse">
              <a:avLst/>
            </a:prstGeom>
            <a:solidFill>
              <a:srgbClr val="404040"/>
            </a:solidFill>
            <a:ln w="3810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</p:grpSp>
      <p:grpSp>
        <p:nvGrpSpPr>
          <p:cNvPr id="1002" name="그룹 24"/>
          <p:cNvGrpSpPr/>
          <p:nvPr/>
        </p:nvGrpSpPr>
        <p:grpSpPr>
          <a:xfrm>
            <a:off x="5861243" y="6854033"/>
            <a:ext cx="1233677" cy="1367419"/>
            <a:chOff x="0" y="0"/>
            <a:chExt cx="1233675" cy="1367417"/>
          </a:xfrm>
        </p:grpSpPr>
        <p:grpSp>
          <p:nvGrpSpPr>
            <p:cNvPr id="993" name="그룹 25"/>
            <p:cNvGrpSpPr/>
            <p:nvPr/>
          </p:nvGrpSpPr>
          <p:grpSpPr>
            <a:xfrm>
              <a:off x="110593" y="552110"/>
              <a:ext cx="902753" cy="374647"/>
              <a:chOff x="0" y="0"/>
              <a:chExt cx="902751" cy="374645"/>
            </a:xfrm>
          </p:grpSpPr>
          <p:sp>
            <p:nvSpPr>
              <p:cNvPr id="987" name="Rectangle 5"/>
              <p:cNvSpPr/>
              <p:nvPr/>
            </p:nvSpPr>
            <p:spPr>
              <a:xfrm>
                <a:off x="0" y="0"/>
                <a:ext cx="902752" cy="44581"/>
              </a:xfrm>
              <a:prstGeom prst="rect">
                <a:avLst/>
              </a:prstGeom>
              <a:solidFill>
                <a:srgbClr val="FF6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988" name="Rectangle 6"/>
              <p:cNvSpPr/>
              <p:nvPr/>
            </p:nvSpPr>
            <p:spPr>
              <a:xfrm>
                <a:off x="0" y="110593"/>
                <a:ext cx="902752" cy="43723"/>
              </a:xfrm>
              <a:prstGeom prst="rect">
                <a:avLst/>
              </a:prstGeom>
              <a:solidFill>
                <a:srgbClr val="FF6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989" name="Rectangle 7"/>
              <p:cNvSpPr/>
              <p:nvPr/>
            </p:nvSpPr>
            <p:spPr>
              <a:xfrm>
                <a:off x="0" y="220330"/>
                <a:ext cx="902752" cy="44581"/>
              </a:xfrm>
              <a:prstGeom prst="rect">
                <a:avLst/>
              </a:prstGeom>
              <a:solidFill>
                <a:srgbClr val="FF6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990" name="Rectangle 8"/>
              <p:cNvSpPr/>
              <p:nvPr/>
            </p:nvSpPr>
            <p:spPr>
              <a:xfrm>
                <a:off x="859029" y="330923"/>
                <a:ext cx="43723" cy="43723"/>
              </a:xfrm>
              <a:prstGeom prst="rect">
                <a:avLst/>
              </a:prstGeom>
              <a:solidFill>
                <a:srgbClr val="FF6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991" name="Rectangle 9"/>
              <p:cNvSpPr/>
              <p:nvPr/>
            </p:nvSpPr>
            <p:spPr>
              <a:xfrm>
                <a:off x="748436" y="330923"/>
                <a:ext cx="44581" cy="43723"/>
              </a:xfrm>
              <a:prstGeom prst="rect">
                <a:avLst/>
              </a:prstGeom>
              <a:solidFill>
                <a:srgbClr val="FF6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992" name="Rectangle 10"/>
              <p:cNvSpPr/>
              <p:nvPr/>
            </p:nvSpPr>
            <p:spPr>
              <a:xfrm>
                <a:off x="638699" y="330923"/>
                <a:ext cx="43723" cy="43723"/>
              </a:xfrm>
              <a:prstGeom prst="rect">
                <a:avLst/>
              </a:prstGeom>
              <a:solidFill>
                <a:srgbClr val="FF6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</p:grpSp>
        <p:grpSp>
          <p:nvGrpSpPr>
            <p:cNvPr id="1001" name="그룹 26"/>
            <p:cNvGrpSpPr/>
            <p:nvPr/>
          </p:nvGrpSpPr>
          <p:grpSpPr>
            <a:xfrm>
              <a:off x="0" y="0"/>
              <a:ext cx="1233676" cy="1367418"/>
              <a:chOff x="0" y="0"/>
              <a:chExt cx="1233675" cy="1367417"/>
            </a:xfrm>
          </p:grpSpPr>
          <p:sp>
            <p:nvSpPr>
              <p:cNvPr id="994" name="Freeform 11"/>
              <p:cNvSpPr/>
              <p:nvPr/>
            </p:nvSpPr>
            <p:spPr>
              <a:xfrm>
                <a:off x="0" y="0"/>
                <a:ext cx="1233676" cy="13674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827" y="20903"/>
                    </a:moveTo>
                    <a:lnTo>
                      <a:pt x="2699" y="20903"/>
                    </a:lnTo>
                    <a:lnTo>
                      <a:pt x="2699" y="19860"/>
                    </a:lnTo>
                    <a:lnTo>
                      <a:pt x="19671" y="19860"/>
                    </a:lnTo>
                    <a:lnTo>
                      <a:pt x="19671" y="4550"/>
                    </a:lnTo>
                    <a:lnTo>
                      <a:pt x="20827" y="4550"/>
                    </a:lnTo>
                    <a:lnTo>
                      <a:pt x="20827" y="20903"/>
                    </a:lnTo>
                    <a:close/>
                    <a:moveTo>
                      <a:pt x="773" y="2807"/>
                    </a:moveTo>
                    <a:lnTo>
                      <a:pt x="7902" y="2807"/>
                    </a:lnTo>
                    <a:lnTo>
                      <a:pt x="7732" y="3958"/>
                    </a:lnTo>
                    <a:lnTo>
                      <a:pt x="7722" y="4046"/>
                    </a:lnTo>
                    <a:lnTo>
                      <a:pt x="7714" y="4220"/>
                    </a:lnTo>
                    <a:lnTo>
                      <a:pt x="7727" y="4392"/>
                    </a:lnTo>
                    <a:lnTo>
                      <a:pt x="7754" y="4559"/>
                    </a:lnTo>
                    <a:lnTo>
                      <a:pt x="7805" y="4726"/>
                    </a:lnTo>
                    <a:lnTo>
                      <a:pt x="7875" y="4886"/>
                    </a:lnTo>
                    <a:lnTo>
                      <a:pt x="7957" y="5039"/>
                    </a:lnTo>
                    <a:lnTo>
                      <a:pt x="8060" y="5188"/>
                    </a:lnTo>
                    <a:lnTo>
                      <a:pt x="8120" y="5258"/>
                    </a:lnTo>
                    <a:lnTo>
                      <a:pt x="8180" y="5326"/>
                    </a:lnTo>
                    <a:lnTo>
                      <a:pt x="8310" y="5455"/>
                    </a:lnTo>
                    <a:lnTo>
                      <a:pt x="8455" y="5568"/>
                    </a:lnTo>
                    <a:lnTo>
                      <a:pt x="8612" y="5667"/>
                    </a:lnTo>
                    <a:lnTo>
                      <a:pt x="8773" y="5753"/>
                    </a:lnTo>
                    <a:lnTo>
                      <a:pt x="8948" y="5823"/>
                    </a:lnTo>
                    <a:lnTo>
                      <a:pt x="9130" y="5874"/>
                    </a:lnTo>
                    <a:lnTo>
                      <a:pt x="9318" y="5915"/>
                    </a:lnTo>
                    <a:lnTo>
                      <a:pt x="9415" y="5926"/>
                    </a:lnTo>
                    <a:lnTo>
                      <a:pt x="9536" y="5938"/>
                    </a:lnTo>
                    <a:lnTo>
                      <a:pt x="9656" y="5940"/>
                    </a:lnTo>
                    <a:lnTo>
                      <a:pt x="9746" y="5940"/>
                    </a:lnTo>
                    <a:lnTo>
                      <a:pt x="9923" y="5924"/>
                    </a:lnTo>
                    <a:lnTo>
                      <a:pt x="10093" y="5897"/>
                    </a:lnTo>
                    <a:lnTo>
                      <a:pt x="10261" y="5854"/>
                    </a:lnTo>
                    <a:lnTo>
                      <a:pt x="10424" y="5798"/>
                    </a:lnTo>
                    <a:lnTo>
                      <a:pt x="10576" y="5730"/>
                    </a:lnTo>
                    <a:lnTo>
                      <a:pt x="10724" y="5651"/>
                    </a:lnTo>
                    <a:lnTo>
                      <a:pt x="10861" y="5559"/>
                    </a:lnTo>
                    <a:lnTo>
                      <a:pt x="10991" y="5457"/>
                    </a:lnTo>
                    <a:lnTo>
                      <a:pt x="11111" y="5349"/>
                    </a:lnTo>
                    <a:lnTo>
                      <a:pt x="11219" y="5225"/>
                    </a:lnTo>
                    <a:lnTo>
                      <a:pt x="11317" y="5098"/>
                    </a:lnTo>
                    <a:lnTo>
                      <a:pt x="11402" y="4958"/>
                    </a:lnTo>
                    <a:lnTo>
                      <a:pt x="11469" y="4814"/>
                    </a:lnTo>
                    <a:lnTo>
                      <a:pt x="11524" y="4663"/>
                    </a:lnTo>
                    <a:lnTo>
                      <a:pt x="11564" y="4502"/>
                    </a:lnTo>
                    <a:lnTo>
                      <a:pt x="11579" y="4421"/>
                    </a:lnTo>
                    <a:lnTo>
                      <a:pt x="11582" y="4385"/>
                    </a:lnTo>
                    <a:lnTo>
                      <a:pt x="11577" y="4317"/>
                    </a:lnTo>
                    <a:lnTo>
                      <a:pt x="11557" y="4252"/>
                    </a:lnTo>
                    <a:lnTo>
                      <a:pt x="11524" y="4191"/>
                    </a:lnTo>
                    <a:lnTo>
                      <a:pt x="11479" y="4137"/>
                    </a:lnTo>
                    <a:lnTo>
                      <a:pt x="11424" y="4092"/>
                    </a:lnTo>
                    <a:lnTo>
                      <a:pt x="11359" y="4058"/>
                    </a:lnTo>
                    <a:lnTo>
                      <a:pt x="11287" y="4035"/>
                    </a:lnTo>
                    <a:lnTo>
                      <a:pt x="11206" y="4026"/>
                    </a:lnTo>
                    <a:lnTo>
                      <a:pt x="11131" y="4033"/>
                    </a:lnTo>
                    <a:lnTo>
                      <a:pt x="11059" y="4051"/>
                    </a:lnTo>
                    <a:lnTo>
                      <a:pt x="10991" y="4080"/>
                    </a:lnTo>
                    <a:lnTo>
                      <a:pt x="10931" y="4121"/>
                    </a:lnTo>
                    <a:lnTo>
                      <a:pt x="10884" y="4171"/>
                    </a:lnTo>
                    <a:lnTo>
                      <a:pt x="10846" y="4229"/>
                    </a:lnTo>
                    <a:lnTo>
                      <a:pt x="10821" y="4292"/>
                    </a:lnTo>
                    <a:lnTo>
                      <a:pt x="10814" y="4331"/>
                    </a:lnTo>
                    <a:lnTo>
                      <a:pt x="10796" y="4435"/>
                    </a:lnTo>
                    <a:lnTo>
                      <a:pt x="10719" y="4633"/>
                    </a:lnTo>
                    <a:lnTo>
                      <a:pt x="10601" y="4807"/>
                    </a:lnTo>
                    <a:lnTo>
                      <a:pt x="10454" y="4958"/>
                    </a:lnTo>
                    <a:lnTo>
                      <a:pt x="10278" y="5085"/>
                    </a:lnTo>
                    <a:lnTo>
                      <a:pt x="10078" y="5175"/>
                    </a:lnTo>
                    <a:lnTo>
                      <a:pt x="9858" y="5231"/>
                    </a:lnTo>
                    <a:lnTo>
                      <a:pt x="9631" y="5247"/>
                    </a:lnTo>
                    <a:lnTo>
                      <a:pt x="9511" y="5236"/>
                    </a:lnTo>
                    <a:lnTo>
                      <a:pt x="9395" y="5220"/>
                    </a:lnTo>
                    <a:lnTo>
                      <a:pt x="9175" y="5155"/>
                    </a:lnTo>
                    <a:lnTo>
                      <a:pt x="8980" y="5053"/>
                    </a:lnTo>
                    <a:lnTo>
                      <a:pt x="8805" y="4915"/>
                    </a:lnTo>
                    <a:lnTo>
                      <a:pt x="8730" y="4834"/>
                    </a:lnTo>
                    <a:lnTo>
                      <a:pt x="8660" y="4748"/>
                    </a:lnTo>
                    <a:lnTo>
                      <a:pt x="8560" y="4563"/>
                    </a:lnTo>
                    <a:lnTo>
                      <a:pt x="8500" y="4365"/>
                    </a:lnTo>
                    <a:lnTo>
                      <a:pt x="8485" y="4155"/>
                    </a:lnTo>
                    <a:lnTo>
                      <a:pt x="8495" y="4051"/>
                    </a:lnTo>
                    <a:lnTo>
                      <a:pt x="8680" y="2807"/>
                    </a:lnTo>
                    <a:lnTo>
                      <a:pt x="18898" y="2807"/>
                    </a:lnTo>
                    <a:lnTo>
                      <a:pt x="18898" y="19165"/>
                    </a:lnTo>
                    <a:lnTo>
                      <a:pt x="773" y="19165"/>
                    </a:lnTo>
                    <a:lnTo>
                      <a:pt x="773" y="2807"/>
                    </a:lnTo>
                    <a:close/>
                    <a:moveTo>
                      <a:pt x="8858" y="1614"/>
                    </a:moveTo>
                    <a:lnTo>
                      <a:pt x="8878" y="1505"/>
                    </a:lnTo>
                    <a:lnTo>
                      <a:pt x="8953" y="1307"/>
                    </a:lnTo>
                    <a:lnTo>
                      <a:pt x="9068" y="1133"/>
                    </a:lnTo>
                    <a:lnTo>
                      <a:pt x="9215" y="982"/>
                    </a:lnTo>
                    <a:lnTo>
                      <a:pt x="9393" y="858"/>
                    </a:lnTo>
                    <a:lnTo>
                      <a:pt x="9593" y="767"/>
                    </a:lnTo>
                    <a:lnTo>
                      <a:pt x="9813" y="711"/>
                    </a:lnTo>
                    <a:lnTo>
                      <a:pt x="10043" y="695"/>
                    </a:lnTo>
                    <a:lnTo>
                      <a:pt x="10163" y="704"/>
                    </a:lnTo>
                    <a:lnTo>
                      <a:pt x="10278" y="720"/>
                    </a:lnTo>
                    <a:lnTo>
                      <a:pt x="10496" y="785"/>
                    </a:lnTo>
                    <a:lnTo>
                      <a:pt x="10694" y="889"/>
                    </a:lnTo>
                    <a:lnTo>
                      <a:pt x="10869" y="1027"/>
                    </a:lnTo>
                    <a:lnTo>
                      <a:pt x="10941" y="1106"/>
                    </a:lnTo>
                    <a:lnTo>
                      <a:pt x="11009" y="1194"/>
                    </a:lnTo>
                    <a:lnTo>
                      <a:pt x="11111" y="1379"/>
                    </a:lnTo>
                    <a:lnTo>
                      <a:pt x="11171" y="1580"/>
                    </a:lnTo>
                    <a:lnTo>
                      <a:pt x="11186" y="1785"/>
                    </a:lnTo>
                    <a:lnTo>
                      <a:pt x="11174" y="1889"/>
                    </a:lnTo>
                    <a:lnTo>
                      <a:pt x="11144" y="2115"/>
                    </a:lnTo>
                    <a:lnTo>
                      <a:pt x="9973" y="2115"/>
                    </a:lnTo>
                    <a:lnTo>
                      <a:pt x="10023" y="1817"/>
                    </a:lnTo>
                    <a:lnTo>
                      <a:pt x="10028" y="1781"/>
                    </a:lnTo>
                    <a:lnTo>
                      <a:pt x="10023" y="1713"/>
                    </a:lnTo>
                    <a:lnTo>
                      <a:pt x="10006" y="1647"/>
                    </a:lnTo>
                    <a:lnTo>
                      <a:pt x="9973" y="1584"/>
                    </a:lnTo>
                    <a:lnTo>
                      <a:pt x="9931" y="1532"/>
                    </a:lnTo>
                    <a:lnTo>
                      <a:pt x="9876" y="1485"/>
                    </a:lnTo>
                    <a:lnTo>
                      <a:pt x="9813" y="1451"/>
                    </a:lnTo>
                    <a:lnTo>
                      <a:pt x="9741" y="1429"/>
                    </a:lnTo>
                    <a:lnTo>
                      <a:pt x="9701" y="1420"/>
                    </a:lnTo>
                    <a:lnTo>
                      <a:pt x="9663" y="1417"/>
                    </a:lnTo>
                    <a:lnTo>
                      <a:pt x="9583" y="1420"/>
                    </a:lnTo>
                    <a:lnTo>
                      <a:pt x="9511" y="1438"/>
                    </a:lnTo>
                    <a:lnTo>
                      <a:pt x="9445" y="1467"/>
                    </a:lnTo>
                    <a:lnTo>
                      <a:pt x="9383" y="1505"/>
                    </a:lnTo>
                    <a:lnTo>
                      <a:pt x="9335" y="1555"/>
                    </a:lnTo>
                    <a:lnTo>
                      <a:pt x="9295" y="1614"/>
                    </a:lnTo>
                    <a:lnTo>
                      <a:pt x="9268" y="1679"/>
                    </a:lnTo>
                    <a:lnTo>
                      <a:pt x="9260" y="1713"/>
                    </a:lnTo>
                    <a:lnTo>
                      <a:pt x="9193" y="2115"/>
                    </a:lnTo>
                    <a:lnTo>
                      <a:pt x="8783" y="2115"/>
                    </a:lnTo>
                    <a:lnTo>
                      <a:pt x="8858" y="1614"/>
                    </a:lnTo>
                    <a:close/>
                    <a:moveTo>
                      <a:pt x="19671" y="3852"/>
                    </a:moveTo>
                    <a:lnTo>
                      <a:pt x="19671" y="2115"/>
                    </a:lnTo>
                    <a:lnTo>
                      <a:pt x="11922" y="2115"/>
                    </a:lnTo>
                    <a:lnTo>
                      <a:pt x="11939" y="1984"/>
                    </a:lnTo>
                    <a:lnTo>
                      <a:pt x="11949" y="1896"/>
                    </a:lnTo>
                    <a:lnTo>
                      <a:pt x="11959" y="1720"/>
                    </a:lnTo>
                    <a:lnTo>
                      <a:pt x="11944" y="1548"/>
                    </a:lnTo>
                    <a:lnTo>
                      <a:pt x="11914" y="1381"/>
                    </a:lnTo>
                    <a:lnTo>
                      <a:pt x="11867" y="1214"/>
                    </a:lnTo>
                    <a:lnTo>
                      <a:pt x="11797" y="1054"/>
                    </a:lnTo>
                    <a:lnTo>
                      <a:pt x="11712" y="900"/>
                    </a:lnTo>
                    <a:lnTo>
                      <a:pt x="11612" y="752"/>
                    </a:lnTo>
                    <a:lnTo>
                      <a:pt x="11554" y="682"/>
                    </a:lnTo>
                    <a:lnTo>
                      <a:pt x="11494" y="614"/>
                    </a:lnTo>
                    <a:lnTo>
                      <a:pt x="11359" y="485"/>
                    </a:lnTo>
                    <a:lnTo>
                      <a:pt x="11216" y="372"/>
                    </a:lnTo>
                    <a:lnTo>
                      <a:pt x="11061" y="273"/>
                    </a:lnTo>
                    <a:lnTo>
                      <a:pt x="10896" y="187"/>
                    </a:lnTo>
                    <a:lnTo>
                      <a:pt x="10724" y="120"/>
                    </a:lnTo>
                    <a:lnTo>
                      <a:pt x="10541" y="65"/>
                    </a:lnTo>
                    <a:lnTo>
                      <a:pt x="10353" y="27"/>
                    </a:lnTo>
                    <a:lnTo>
                      <a:pt x="10258" y="14"/>
                    </a:lnTo>
                    <a:lnTo>
                      <a:pt x="10158" y="5"/>
                    </a:lnTo>
                    <a:lnTo>
                      <a:pt x="9963" y="0"/>
                    </a:lnTo>
                    <a:lnTo>
                      <a:pt x="9771" y="14"/>
                    </a:lnTo>
                    <a:lnTo>
                      <a:pt x="9586" y="45"/>
                    </a:lnTo>
                    <a:lnTo>
                      <a:pt x="9405" y="88"/>
                    </a:lnTo>
                    <a:lnTo>
                      <a:pt x="9230" y="151"/>
                    </a:lnTo>
                    <a:lnTo>
                      <a:pt x="9063" y="228"/>
                    </a:lnTo>
                    <a:lnTo>
                      <a:pt x="8908" y="316"/>
                    </a:lnTo>
                    <a:lnTo>
                      <a:pt x="8760" y="418"/>
                    </a:lnTo>
                    <a:lnTo>
                      <a:pt x="8622" y="533"/>
                    </a:lnTo>
                    <a:lnTo>
                      <a:pt x="8502" y="657"/>
                    </a:lnTo>
                    <a:lnTo>
                      <a:pt x="8392" y="797"/>
                    </a:lnTo>
                    <a:lnTo>
                      <a:pt x="8297" y="941"/>
                    </a:lnTo>
                    <a:lnTo>
                      <a:pt x="8215" y="1097"/>
                    </a:lnTo>
                    <a:lnTo>
                      <a:pt x="8152" y="1262"/>
                    </a:lnTo>
                    <a:lnTo>
                      <a:pt x="8110" y="1431"/>
                    </a:lnTo>
                    <a:lnTo>
                      <a:pt x="8095" y="1519"/>
                    </a:lnTo>
                    <a:lnTo>
                      <a:pt x="8005" y="2115"/>
                    </a:lnTo>
                    <a:lnTo>
                      <a:pt x="0" y="2115"/>
                    </a:lnTo>
                    <a:lnTo>
                      <a:pt x="0" y="19860"/>
                    </a:lnTo>
                    <a:lnTo>
                      <a:pt x="1929" y="19860"/>
                    </a:lnTo>
                    <a:lnTo>
                      <a:pt x="1929" y="21600"/>
                    </a:lnTo>
                    <a:lnTo>
                      <a:pt x="21600" y="21600"/>
                    </a:lnTo>
                    <a:lnTo>
                      <a:pt x="21600" y="3852"/>
                    </a:lnTo>
                    <a:lnTo>
                      <a:pt x="19671" y="3852"/>
                    </a:lnTo>
                    <a:close/>
                  </a:path>
                </a:pathLst>
              </a:custGeom>
              <a:solidFill>
                <a:srgbClr val="FF6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995" name="Rectangle 12"/>
              <p:cNvSpPr/>
              <p:nvPr/>
            </p:nvSpPr>
            <p:spPr>
              <a:xfrm>
                <a:off x="110593" y="508388"/>
                <a:ext cx="902753" cy="43723"/>
              </a:xfrm>
              <a:prstGeom prst="rect">
                <a:avLst/>
              </a:prstGeom>
              <a:solidFill>
                <a:srgbClr val="FF6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996" name="Rectangle 13"/>
              <p:cNvSpPr/>
              <p:nvPr/>
            </p:nvSpPr>
            <p:spPr>
              <a:xfrm>
                <a:off x="110593" y="618124"/>
                <a:ext cx="902753" cy="44581"/>
              </a:xfrm>
              <a:prstGeom prst="rect">
                <a:avLst/>
              </a:prstGeom>
              <a:solidFill>
                <a:srgbClr val="FF6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997" name="Rectangle 14"/>
              <p:cNvSpPr/>
              <p:nvPr/>
            </p:nvSpPr>
            <p:spPr>
              <a:xfrm>
                <a:off x="110593" y="728717"/>
                <a:ext cx="902753" cy="43723"/>
              </a:xfrm>
              <a:prstGeom prst="rect">
                <a:avLst/>
              </a:prstGeom>
              <a:solidFill>
                <a:srgbClr val="FF6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998" name="Rectangle 15"/>
              <p:cNvSpPr/>
              <p:nvPr/>
            </p:nvSpPr>
            <p:spPr>
              <a:xfrm>
                <a:off x="969622" y="838454"/>
                <a:ext cx="43723" cy="44581"/>
              </a:xfrm>
              <a:prstGeom prst="rect">
                <a:avLst/>
              </a:prstGeom>
              <a:solidFill>
                <a:srgbClr val="FF6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999" name="Rectangle 16"/>
              <p:cNvSpPr/>
              <p:nvPr/>
            </p:nvSpPr>
            <p:spPr>
              <a:xfrm>
                <a:off x="859029" y="838454"/>
                <a:ext cx="44581" cy="44581"/>
              </a:xfrm>
              <a:prstGeom prst="rect">
                <a:avLst/>
              </a:prstGeom>
              <a:solidFill>
                <a:srgbClr val="FF6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1000" name="Rectangle 17"/>
              <p:cNvSpPr/>
              <p:nvPr/>
            </p:nvSpPr>
            <p:spPr>
              <a:xfrm>
                <a:off x="749293" y="838454"/>
                <a:ext cx="43723" cy="44581"/>
              </a:xfrm>
              <a:prstGeom prst="rect">
                <a:avLst/>
              </a:prstGeom>
              <a:solidFill>
                <a:srgbClr val="FF6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</p:grpSp>
      </p:grpSp>
      <p:grpSp>
        <p:nvGrpSpPr>
          <p:cNvPr id="1013" name="그룹 40"/>
          <p:cNvGrpSpPr/>
          <p:nvPr/>
        </p:nvGrpSpPr>
        <p:grpSpPr>
          <a:xfrm>
            <a:off x="17654426" y="6863559"/>
            <a:ext cx="1225029" cy="1027445"/>
            <a:chOff x="0" y="0"/>
            <a:chExt cx="1225028" cy="1027443"/>
          </a:xfrm>
        </p:grpSpPr>
        <p:sp>
          <p:nvSpPr>
            <p:cNvPr id="1003" name="Freeform 47"/>
            <p:cNvSpPr/>
            <p:nvPr/>
          </p:nvSpPr>
          <p:spPr>
            <a:xfrm>
              <a:off x="98792" y="375412"/>
              <a:ext cx="395171" cy="4742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59" y="18901"/>
                  </a:moveTo>
                  <a:lnTo>
                    <a:pt x="3241" y="18901"/>
                  </a:lnTo>
                  <a:lnTo>
                    <a:pt x="3241" y="17677"/>
                  </a:lnTo>
                  <a:lnTo>
                    <a:pt x="3320" y="17045"/>
                  </a:lnTo>
                  <a:lnTo>
                    <a:pt x="3472" y="16431"/>
                  </a:lnTo>
                  <a:lnTo>
                    <a:pt x="3691" y="15836"/>
                  </a:lnTo>
                  <a:lnTo>
                    <a:pt x="3978" y="15269"/>
                  </a:lnTo>
                  <a:lnTo>
                    <a:pt x="4327" y="14734"/>
                  </a:lnTo>
                  <a:lnTo>
                    <a:pt x="4737" y="14228"/>
                  </a:lnTo>
                  <a:lnTo>
                    <a:pt x="5199" y="13764"/>
                  </a:lnTo>
                  <a:lnTo>
                    <a:pt x="5711" y="13338"/>
                  </a:lnTo>
                  <a:lnTo>
                    <a:pt x="6268" y="12953"/>
                  </a:lnTo>
                  <a:lnTo>
                    <a:pt x="6876" y="12611"/>
                  </a:lnTo>
                  <a:lnTo>
                    <a:pt x="7517" y="12321"/>
                  </a:lnTo>
                  <a:lnTo>
                    <a:pt x="8198" y="12082"/>
                  </a:lnTo>
                  <a:lnTo>
                    <a:pt x="8912" y="11899"/>
                  </a:lnTo>
                  <a:lnTo>
                    <a:pt x="9649" y="11772"/>
                  </a:lnTo>
                  <a:lnTo>
                    <a:pt x="10409" y="11707"/>
                  </a:lnTo>
                  <a:lnTo>
                    <a:pt x="10797" y="11707"/>
                  </a:lnTo>
                  <a:lnTo>
                    <a:pt x="10521" y="11697"/>
                  </a:lnTo>
                  <a:lnTo>
                    <a:pt x="9970" y="11651"/>
                  </a:lnTo>
                  <a:lnTo>
                    <a:pt x="9447" y="11562"/>
                  </a:lnTo>
                  <a:lnTo>
                    <a:pt x="8940" y="11430"/>
                  </a:lnTo>
                  <a:lnTo>
                    <a:pt x="8457" y="11262"/>
                  </a:lnTo>
                  <a:lnTo>
                    <a:pt x="7995" y="11051"/>
                  </a:lnTo>
                  <a:lnTo>
                    <a:pt x="7568" y="10807"/>
                  </a:lnTo>
                  <a:lnTo>
                    <a:pt x="7168" y="10535"/>
                  </a:lnTo>
                  <a:lnTo>
                    <a:pt x="6797" y="10226"/>
                  </a:lnTo>
                  <a:lnTo>
                    <a:pt x="6470" y="9898"/>
                  </a:lnTo>
                  <a:lnTo>
                    <a:pt x="6178" y="9537"/>
                  </a:lnTo>
                  <a:lnTo>
                    <a:pt x="5930" y="9153"/>
                  </a:lnTo>
                  <a:lnTo>
                    <a:pt x="5728" y="8750"/>
                  </a:lnTo>
                  <a:lnTo>
                    <a:pt x="5565" y="8333"/>
                  </a:lnTo>
                  <a:lnTo>
                    <a:pt x="5458" y="7892"/>
                  </a:lnTo>
                  <a:lnTo>
                    <a:pt x="5401" y="7433"/>
                  </a:lnTo>
                  <a:lnTo>
                    <a:pt x="5396" y="7203"/>
                  </a:lnTo>
                  <a:lnTo>
                    <a:pt x="5401" y="6973"/>
                  </a:lnTo>
                  <a:lnTo>
                    <a:pt x="5458" y="6514"/>
                  </a:lnTo>
                  <a:lnTo>
                    <a:pt x="5565" y="6074"/>
                  </a:lnTo>
                  <a:lnTo>
                    <a:pt x="5728" y="5657"/>
                  </a:lnTo>
                  <a:lnTo>
                    <a:pt x="5930" y="5254"/>
                  </a:lnTo>
                  <a:lnTo>
                    <a:pt x="6178" y="4869"/>
                  </a:lnTo>
                  <a:lnTo>
                    <a:pt x="6470" y="4508"/>
                  </a:lnTo>
                  <a:lnTo>
                    <a:pt x="6797" y="4180"/>
                  </a:lnTo>
                  <a:lnTo>
                    <a:pt x="7168" y="3871"/>
                  </a:lnTo>
                  <a:lnTo>
                    <a:pt x="7568" y="3599"/>
                  </a:lnTo>
                  <a:lnTo>
                    <a:pt x="7995" y="3356"/>
                  </a:lnTo>
                  <a:lnTo>
                    <a:pt x="8457" y="3145"/>
                  </a:lnTo>
                  <a:lnTo>
                    <a:pt x="8940" y="2976"/>
                  </a:lnTo>
                  <a:lnTo>
                    <a:pt x="9447" y="2845"/>
                  </a:lnTo>
                  <a:lnTo>
                    <a:pt x="9970" y="2756"/>
                  </a:lnTo>
                  <a:lnTo>
                    <a:pt x="10521" y="2709"/>
                  </a:lnTo>
                  <a:lnTo>
                    <a:pt x="10797" y="2699"/>
                  </a:lnTo>
                  <a:lnTo>
                    <a:pt x="11073" y="2709"/>
                  </a:lnTo>
                  <a:lnTo>
                    <a:pt x="11624" y="2756"/>
                  </a:lnTo>
                  <a:lnTo>
                    <a:pt x="12153" y="2845"/>
                  </a:lnTo>
                  <a:lnTo>
                    <a:pt x="12654" y="2976"/>
                  </a:lnTo>
                  <a:lnTo>
                    <a:pt x="13138" y="3145"/>
                  </a:lnTo>
                  <a:lnTo>
                    <a:pt x="13605" y="3356"/>
                  </a:lnTo>
                  <a:lnTo>
                    <a:pt x="14032" y="3599"/>
                  </a:lnTo>
                  <a:lnTo>
                    <a:pt x="14426" y="3871"/>
                  </a:lnTo>
                  <a:lnTo>
                    <a:pt x="14803" y="4180"/>
                  </a:lnTo>
                  <a:lnTo>
                    <a:pt x="15124" y="4508"/>
                  </a:lnTo>
                  <a:lnTo>
                    <a:pt x="15417" y="4869"/>
                  </a:lnTo>
                  <a:lnTo>
                    <a:pt x="15670" y="5254"/>
                  </a:lnTo>
                  <a:lnTo>
                    <a:pt x="15872" y="5657"/>
                  </a:lnTo>
                  <a:lnTo>
                    <a:pt x="16035" y="6074"/>
                  </a:lnTo>
                  <a:lnTo>
                    <a:pt x="16137" y="6514"/>
                  </a:lnTo>
                  <a:lnTo>
                    <a:pt x="16193" y="6973"/>
                  </a:lnTo>
                  <a:lnTo>
                    <a:pt x="16204" y="7203"/>
                  </a:lnTo>
                  <a:lnTo>
                    <a:pt x="16193" y="7433"/>
                  </a:lnTo>
                  <a:lnTo>
                    <a:pt x="16137" y="7892"/>
                  </a:lnTo>
                  <a:lnTo>
                    <a:pt x="16035" y="8333"/>
                  </a:lnTo>
                  <a:lnTo>
                    <a:pt x="15872" y="8750"/>
                  </a:lnTo>
                  <a:lnTo>
                    <a:pt x="15670" y="9153"/>
                  </a:lnTo>
                  <a:lnTo>
                    <a:pt x="15417" y="9537"/>
                  </a:lnTo>
                  <a:lnTo>
                    <a:pt x="15124" y="9898"/>
                  </a:lnTo>
                  <a:lnTo>
                    <a:pt x="14803" y="10226"/>
                  </a:lnTo>
                  <a:lnTo>
                    <a:pt x="14426" y="10535"/>
                  </a:lnTo>
                  <a:lnTo>
                    <a:pt x="14032" y="10807"/>
                  </a:lnTo>
                  <a:lnTo>
                    <a:pt x="13605" y="11051"/>
                  </a:lnTo>
                  <a:lnTo>
                    <a:pt x="13138" y="11262"/>
                  </a:lnTo>
                  <a:lnTo>
                    <a:pt x="12654" y="11430"/>
                  </a:lnTo>
                  <a:lnTo>
                    <a:pt x="12153" y="11562"/>
                  </a:lnTo>
                  <a:lnTo>
                    <a:pt x="11624" y="11651"/>
                  </a:lnTo>
                  <a:lnTo>
                    <a:pt x="11073" y="11697"/>
                  </a:lnTo>
                  <a:lnTo>
                    <a:pt x="10797" y="11707"/>
                  </a:lnTo>
                  <a:lnTo>
                    <a:pt x="11185" y="11707"/>
                  </a:lnTo>
                  <a:lnTo>
                    <a:pt x="11951" y="11772"/>
                  </a:lnTo>
                  <a:lnTo>
                    <a:pt x="12688" y="11899"/>
                  </a:lnTo>
                  <a:lnTo>
                    <a:pt x="13402" y="12082"/>
                  </a:lnTo>
                  <a:lnTo>
                    <a:pt x="14077" y="12321"/>
                  </a:lnTo>
                  <a:lnTo>
                    <a:pt x="14719" y="12611"/>
                  </a:lnTo>
                  <a:lnTo>
                    <a:pt x="15326" y="12953"/>
                  </a:lnTo>
                  <a:lnTo>
                    <a:pt x="15889" y="13338"/>
                  </a:lnTo>
                  <a:lnTo>
                    <a:pt x="16396" y="13764"/>
                  </a:lnTo>
                  <a:lnTo>
                    <a:pt x="16857" y="14228"/>
                  </a:lnTo>
                  <a:lnTo>
                    <a:pt x="17273" y="14734"/>
                  </a:lnTo>
                  <a:lnTo>
                    <a:pt x="17622" y="15269"/>
                  </a:lnTo>
                  <a:lnTo>
                    <a:pt x="17903" y="15836"/>
                  </a:lnTo>
                  <a:lnTo>
                    <a:pt x="18123" y="16431"/>
                  </a:lnTo>
                  <a:lnTo>
                    <a:pt x="18275" y="17045"/>
                  </a:lnTo>
                  <a:lnTo>
                    <a:pt x="18359" y="17677"/>
                  </a:lnTo>
                  <a:lnTo>
                    <a:pt x="18359" y="18901"/>
                  </a:lnTo>
                  <a:close/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algn="l" defTabSz="1828800">
                <a:defRPr sz="360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grpSp>
          <p:nvGrpSpPr>
            <p:cNvPr id="1012" name="그룹 42"/>
            <p:cNvGrpSpPr/>
            <p:nvPr/>
          </p:nvGrpSpPr>
          <p:grpSpPr>
            <a:xfrm>
              <a:off x="0" y="0"/>
              <a:ext cx="1225029" cy="1027444"/>
              <a:chOff x="0" y="0"/>
              <a:chExt cx="1225028" cy="1027443"/>
            </a:xfrm>
          </p:grpSpPr>
          <p:sp>
            <p:nvSpPr>
              <p:cNvPr id="1004" name="Freeform 48"/>
              <p:cNvSpPr/>
              <p:nvPr/>
            </p:nvSpPr>
            <p:spPr>
              <a:xfrm>
                <a:off x="0" y="197585"/>
                <a:ext cx="1225029" cy="8298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555" y="0"/>
                    </a:moveTo>
                    <a:lnTo>
                      <a:pt x="13588" y="0"/>
                    </a:lnTo>
                    <a:lnTo>
                      <a:pt x="13588" y="1028"/>
                    </a:lnTo>
                    <a:lnTo>
                      <a:pt x="20589" y="1028"/>
                    </a:lnTo>
                    <a:lnTo>
                      <a:pt x="20658" y="1053"/>
                    </a:lnTo>
                    <a:lnTo>
                      <a:pt x="20720" y="1090"/>
                    </a:lnTo>
                    <a:lnTo>
                      <a:pt x="20778" y="1146"/>
                    </a:lnTo>
                    <a:lnTo>
                      <a:pt x="20825" y="1216"/>
                    </a:lnTo>
                    <a:lnTo>
                      <a:pt x="20862" y="1299"/>
                    </a:lnTo>
                    <a:lnTo>
                      <a:pt x="20887" y="1393"/>
                    </a:lnTo>
                    <a:lnTo>
                      <a:pt x="20903" y="1492"/>
                    </a:lnTo>
                    <a:lnTo>
                      <a:pt x="20903" y="20111"/>
                    </a:lnTo>
                    <a:lnTo>
                      <a:pt x="20887" y="20213"/>
                    </a:lnTo>
                    <a:lnTo>
                      <a:pt x="20862" y="20306"/>
                    </a:lnTo>
                    <a:lnTo>
                      <a:pt x="20825" y="20387"/>
                    </a:lnTo>
                    <a:lnTo>
                      <a:pt x="20778" y="20456"/>
                    </a:lnTo>
                    <a:lnTo>
                      <a:pt x="20720" y="20513"/>
                    </a:lnTo>
                    <a:lnTo>
                      <a:pt x="20658" y="20553"/>
                    </a:lnTo>
                    <a:lnTo>
                      <a:pt x="20589" y="20572"/>
                    </a:lnTo>
                    <a:lnTo>
                      <a:pt x="20555" y="20574"/>
                    </a:lnTo>
                    <a:lnTo>
                      <a:pt x="1045" y="20574"/>
                    </a:lnTo>
                    <a:lnTo>
                      <a:pt x="1009" y="20572"/>
                    </a:lnTo>
                    <a:lnTo>
                      <a:pt x="940" y="20553"/>
                    </a:lnTo>
                    <a:lnTo>
                      <a:pt x="878" y="20513"/>
                    </a:lnTo>
                    <a:lnTo>
                      <a:pt x="824" y="20456"/>
                    </a:lnTo>
                    <a:lnTo>
                      <a:pt x="777" y="20387"/>
                    </a:lnTo>
                    <a:lnTo>
                      <a:pt x="740" y="20306"/>
                    </a:lnTo>
                    <a:lnTo>
                      <a:pt x="711" y="20213"/>
                    </a:lnTo>
                    <a:lnTo>
                      <a:pt x="699" y="20111"/>
                    </a:lnTo>
                    <a:lnTo>
                      <a:pt x="699" y="1492"/>
                    </a:lnTo>
                    <a:lnTo>
                      <a:pt x="711" y="1393"/>
                    </a:lnTo>
                    <a:lnTo>
                      <a:pt x="740" y="1299"/>
                    </a:lnTo>
                    <a:lnTo>
                      <a:pt x="777" y="1216"/>
                    </a:lnTo>
                    <a:lnTo>
                      <a:pt x="824" y="1146"/>
                    </a:lnTo>
                    <a:lnTo>
                      <a:pt x="878" y="1090"/>
                    </a:lnTo>
                    <a:lnTo>
                      <a:pt x="940" y="1053"/>
                    </a:lnTo>
                    <a:lnTo>
                      <a:pt x="1009" y="1028"/>
                    </a:lnTo>
                    <a:lnTo>
                      <a:pt x="8014" y="1028"/>
                    </a:lnTo>
                    <a:lnTo>
                      <a:pt x="8014" y="0"/>
                    </a:lnTo>
                    <a:lnTo>
                      <a:pt x="1045" y="0"/>
                    </a:lnTo>
                    <a:lnTo>
                      <a:pt x="938" y="8"/>
                    </a:lnTo>
                    <a:lnTo>
                      <a:pt x="735" y="70"/>
                    </a:lnTo>
                    <a:lnTo>
                      <a:pt x="546" y="185"/>
                    </a:lnTo>
                    <a:lnTo>
                      <a:pt x="379" y="351"/>
                    </a:lnTo>
                    <a:lnTo>
                      <a:pt x="238" y="562"/>
                    </a:lnTo>
                    <a:lnTo>
                      <a:pt x="125" y="809"/>
                    </a:lnTo>
                    <a:lnTo>
                      <a:pt x="44" y="1085"/>
                    </a:lnTo>
                    <a:lnTo>
                      <a:pt x="2" y="1385"/>
                    </a:lnTo>
                    <a:lnTo>
                      <a:pt x="0" y="1543"/>
                    </a:lnTo>
                    <a:lnTo>
                      <a:pt x="0" y="20057"/>
                    </a:lnTo>
                    <a:lnTo>
                      <a:pt x="2" y="20215"/>
                    </a:lnTo>
                    <a:lnTo>
                      <a:pt x="44" y="20518"/>
                    </a:lnTo>
                    <a:lnTo>
                      <a:pt x="125" y="20794"/>
                    </a:lnTo>
                    <a:lnTo>
                      <a:pt x="238" y="21043"/>
                    </a:lnTo>
                    <a:lnTo>
                      <a:pt x="379" y="21249"/>
                    </a:lnTo>
                    <a:lnTo>
                      <a:pt x="546" y="21421"/>
                    </a:lnTo>
                    <a:lnTo>
                      <a:pt x="735" y="21536"/>
                    </a:lnTo>
                    <a:lnTo>
                      <a:pt x="938" y="21597"/>
                    </a:lnTo>
                    <a:lnTo>
                      <a:pt x="1045" y="21600"/>
                    </a:lnTo>
                    <a:lnTo>
                      <a:pt x="20555" y="21600"/>
                    </a:lnTo>
                    <a:lnTo>
                      <a:pt x="20662" y="21597"/>
                    </a:lnTo>
                    <a:lnTo>
                      <a:pt x="20867" y="21536"/>
                    </a:lnTo>
                    <a:lnTo>
                      <a:pt x="21052" y="21421"/>
                    </a:lnTo>
                    <a:lnTo>
                      <a:pt x="21219" y="21249"/>
                    </a:lnTo>
                    <a:lnTo>
                      <a:pt x="21362" y="21043"/>
                    </a:lnTo>
                    <a:lnTo>
                      <a:pt x="21475" y="20794"/>
                    </a:lnTo>
                    <a:lnTo>
                      <a:pt x="21555" y="20518"/>
                    </a:lnTo>
                    <a:lnTo>
                      <a:pt x="21596" y="20215"/>
                    </a:lnTo>
                    <a:lnTo>
                      <a:pt x="21600" y="20057"/>
                    </a:lnTo>
                    <a:lnTo>
                      <a:pt x="21600" y="1543"/>
                    </a:lnTo>
                    <a:lnTo>
                      <a:pt x="21596" y="1385"/>
                    </a:lnTo>
                    <a:lnTo>
                      <a:pt x="21555" y="1085"/>
                    </a:lnTo>
                    <a:lnTo>
                      <a:pt x="21475" y="809"/>
                    </a:lnTo>
                    <a:lnTo>
                      <a:pt x="21362" y="562"/>
                    </a:lnTo>
                    <a:lnTo>
                      <a:pt x="21219" y="351"/>
                    </a:lnTo>
                    <a:lnTo>
                      <a:pt x="21052" y="185"/>
                    </a:lnTo>
                    <a:lnTo>
                      <a:pt x="20867" y="70"/>
                    </a:lnTo>
                    <a:lnTo>
                      <a:pt x="20662" y="8"/>
                    </a:lnTo>
                    <a:lnTo>
                      <a:pt x="20555" y="0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1005" name="Freeform 49"/>
              <p:cNvSpPr/>
              <p:nvPr/>
            </p:nvSpPr>
            <p:spPr>
              <a:xfrm>
                <a:off x="138309" y="414929"/>
                <a:ext cx="316137" cy="395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12957"/>
                    </a:moveTo>
                    <a:lnTo>
                      <a:pt x="11211" y="12968"/>
                    </a:lnTo>
                    <a:lnTo>
                      <a:pt x="12034" y="13030"/>
                    </a:lnTo>
                    <a:lnTo>
                      <a:pt x="12821" y="13159"/>
                    </a:lnTo>
                    <a:lnTo>
                      <a:pt x="13580" y="13345"/>
                    </a:lnTo>
                    <a:lnTo>
                      <a:pt x="14311" y="13598"/>
                    </a:lnTo>
                    <a:lnTo>
                      <a:pt x="15000" y="13896"/>
                    </a:lnTo>
                    <a:lnTo>
                      <a:pt x="15646" y="14244"/>
                    </a:lnTo>
                    <a:lnTo>
                      <a:pt x="16244" y="14644"/>
                    </a:lnTo>
                    <a:lnTo>
                      <a:pt x="16792" y="15082"/>
                    </a:lnTo>
                    <a:lnTo>
                      <a:pt x="17284" y="15560"/>
                    </a:lnTo>
                    <a:lnTo>
                      <a:pt x="17720" y="16078"/>
                    </a:lnTo>
                    <a:lnTo>
                      <a:pt x="18100" y="16629"/>
                    </a:lnTo>
                    <a:lnTo>
                      <a:pt x="18409" y="17208"/>
                    </a:lnTo>
                    <a:lnTo>
                      <a:pt x="18641" y="17815"/>
                    </a:lnTo>
                    <a:lnTo>
                      <a:pt x="18802" y="18451"/>
                    </a:lnTo>
                    <a:lnTo>
                      <a:pt x="18887" y="19103"/>
                    </a:lnTo>
                    <a:lnTo>
                      <a:pt x="18894" y="19435"/>
                    </a:lnTo>
                    <a:lnTo>
                      <a:pt x="2699" y="19435"/>
                    </a:lnTo>
                    <a:lnTo>
                      <a:pt x="2713" y="19103"/>
                    </a:lnTo>
                    <a:lnTo>
                      <a:pt x="2790" y="18451"/>
                    </a:lnTo>
                    <a:lnTo>
                      <a:pt x="2952" y="17815"/>
                    </a:lnTo>
                    <a:lnTo>
                      <a:pt x="3184" y="17208"/>
                    </a:lnTo>
                    <a:lnTo>
                      <a:pt x="3500" y="16629"/>
                    </a:lnTo>
                    <a:lnTo>
                      <a:pt x="3873" y="16078"/>
                    </a:lnTo>
                    <a:lnTo>
                      <a:pt x="4309" y="15560"/>
                    </a:lnTo>
                    <a:lnTo>
                      <a:pt x="4808" y="15082"/>
                    </a:lnTo>
                    <a:lnTo>
                      <a:pt x="5349" y="14644"/>
                    </a:lnTo>
                    <a:lnTo>
                      <a:pt x="5947" y="14244"/>
                    </a:lnTo>
                    <a:lnTo>
                      <a:pt x="6600" y="13896"/>
                    </a:lnTo>
                    <a:lnTo>
                      <a:pt x="7289" y="13598"/>
                    </a:lnTo>
                    <a:lnTo>
                      <a:pt x="8013" y="13345"/>
                    </a:lnTo>
                    <a:lnTo>
                      <a:pt x="8772" y="13159"/>
                    </a:lnTo>
                    <a:lnTo>
                      <a:pt x="9566" y="13030"/>
                    </a:lnTo>
                    <a:lnTo>
                      <a:pt x="10382" y="12968"/>
                    </a:lnTo>
                    <a:lnTo>
                      <a:pt x="10796" y="12957"/>
                    </a:lnTo>
                    <a:close/>
                    <a:moveTo>
                      <a:pt x="5405" y="6478"/>
                    </a:moveTo>
                    <a:lnTo>
                      <a:pt x="5405" y="6259"/>
                    </a:lnTo>
                    <a:lnTo>
                      <a:pt x="5462" y="5820"/>
                    </a:lnTo>
                    <a:lnTo>
                      <a:pt x="5567" y="5399"/>
                    </a:lnTo>
                    <a:lnTo>
                      <a:pt x="5729" y="4994"/>
                    </a:lnTo>
                    <a:lnTo>
                      <a:pt x="5932" y="4606"/>
                    </a:lnTo>
                    <a:lnTo>
                      <a:pt x="6185" y="4240"/>
                    </a:lnTo>
                    <a:lnTo>
                      <a:pt x="6474" y="3897"/>
                    </a:lnTo>
                    <a:lnTo>
                      <a:pt x="6797" y="3571"/>
                    </a:lnTo>
                    <a:lnTo>
                      <a:pt x="7163" y="3279"/>
                    </a:lnTo>
                    <a:lnTo>
                      <a:pt x="7570" y="3020"/>
                    </a:lnTo>
                    <a:lnTo>
                      <a:pt x="8006" y="2784"/>
                    </a:lnTo>
                    <a:lnTo>
                      <a:pt x="8463" y="2581"/>
                    </a:lnTo>
                    <a:lnTo>
                      <a:pt x="8948" y="2418"/>
                    </a:lnTo>
                    <a:lnTo>
                      <a:pt x="9454" y="2289"/>
                    </a:lnTo>
                    <a:lnTo>
                      <a:pt x="9981" y="2210"/>
                    </a:lnTo>
                    <a:lnTo>
                      <a:pt x="10522" y="2159"/>
                    </a:lnTo>
                    <a:lnTo>
                      <a:pt x="11071" y="2159"/>
                    </a:lnTo>
                    <a:lnTo>
                      <a:pt x="11619" y="2210"/>
                    </a:lnTo>
                    <a:lnTo>
                      <a:pt x="12146" y="2289"/>
                    </a:lnTo>
                    <a:lnTo>
                      <a:pt x="12652" y="2418"/>
                    </a:lnTo>
                    <a:lnTo>
                      <a:pt x="13137" y="2581"/>
                    </a:lnTo>
                    <a:lnTo>
                      <a:pt x="13594" y="2784"/>
                    </a:lnTo>
                    <a:lnTo>
                      <a:pt x="14030" y="3020"/>
                    </a:lnTo>
                    <a:lnTo>
                      <a:pt x="14430" y="3279"/>
                    </a:lnTo>
                    <a:lnTo>
                      <a:pt x="14796" y="3571"/>
                    </a:lnTo>
                    <a:lnTo>
                      <a:pt x="15119" y="3897"/>
                    </a:lnTo>
                    <a:lnTo>
                      <a:pt x="15415" y="4240"/>
                    </a:lnTo>
                    <a:lnTo>
                      <a:pt x="15668" y="4606"/>
                    </a:lnTo>
                    <a:lnTo>
                      <a:pt x="15871" y="4994"/>
                    </a:lnTo>
                    <a:lnTo>
                      <a:pt x="16033" y="5399"/>
                    </a:lnTo>
                    <a:lnTo>
                      <a:pt x="16131" y="5820"/>
                    </a:lnTo>
                    <a:lnTo>
                      <a:pt x="16195" y="6259"/>
                    </a:lnTo>
                    <a:lnTo>
                      <a:pt x="16195" y="6698"/>
                    </a:lnTo>
                    <a:lnTo>
                      <a:pt x="16131" y="7136"/>
                    </a:lnTo>
                    <a:lnTo>
                      <a:pt x="16033" y="7558"/>
                    </a:lnTo>
                    <a:lnTo>
                      <a:pt x="15871" y="7963"/>
                    </a:lnTo>
                    <a:lnTo>
                      <a:pt x="15668" y="8351"/>
                    </a:lnTo>
                    <a:lnTo>
                      <a:pt x="15415" y="8716"/>
                    </a:lnTo>
                    <a:lnTo>
                      <a:pt x="15119" y="9060"/>
                    </a:lnTo>
                    <a:lnTo>
                      <a:pt x="14796" y="9386"/>
                    </a:lnTo>
                    <a:lnTo>
                      <a:pt x="14430" y="9678"/>
                    </a:lnTo>
                    <a:lnTo>
                      <a:pt x="14030" y="9937"/>
                    </a:lnTo>
                    <a:lnTo>
                      <a:pt x="13594" y="10173"/>
                    </a:lnTo>
                    <a:lnTo>
                      <a:pt x="13137" y="10375"/>
                    </a:lnTo>
                    <a:lnTo>
                      <a:pt x="12652" y="10539"/>
                    </a:lnTo>
                    <a:lnTo>
                      <a:pt x="12146" y="10668"/>
                    </a:lnTo>
                    <a:lnTo>
                      <a:pt x="11619" y="10747"/>
                    </a:lnTo>
                    <a:lnTo>
                      <a:pt x="11071" y="10797"/>
                    </a:lnTo>
                    <a:lnTo>
                      <a:pt x="10522" y="10797"/>
                    </a:lnTo>
                    <a:lnTo>
                      <a:pt x="9981" y="10747"/>
                    </a:lnTo>
                    <a:lnTo>
                      <a:pt x="9454" y="10668"/>
                    </a:lnTo>
                    <a:lnTo>
                      <a:pt x="8948" y="10539"/>
                    </a:lnTo>
                    <a:lnTo>
                      <a:pt x="8463" y="10375"/>
                    </a:lnTo>
                    <a:lnTo>
                      <a:pt x="8006" y="10173"/>
                    </a:lnTo>
                    <a:lnTo>
                      <a:pt x="7570" y="9937"/>
                    </a:lnTo>
                    <a:lnTo>
                      <a:pt x="7163" y="9678"/>
                    </a:lnTo>
                    <a:lnTo>
                      <a:pt x="6797" y="9386"/>
                    </a:lnTo>
                    <a:lnTo>
                      <a:pt x="6474" y="9060"/>
                    </a:lnTo>
                    <a:lnTo>
                      <a:pt x="6185" y="8716"/>
                    </a:lnTo>
                    <a:lnTo>
                      <a:pt x="5932" y="8351"/>
                    </a:lnTo>
                    <a:lnTo>
                      <a:pt x="5729" y="7963"/>
                    </a:lnTo>
                    <a:lnTo>
                      <a:pt x="5567" y="7558"/>
                    </a:lnTo>
                    <a:lnTo>
                      <a:pt x="5462" y="7136"/>
                    </a:lnTo>
                    <a:lnTo>
                      <a:pt x="5405" y="6698"/>
                    </a:lnTo>
                    <a:lnTo>
                      <a:pt x="5405" y="6478"/>
                    </a:lnTo>
                    <a:close/>
                    <a:moveTo>
                      <a:pt x="0" y="19435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21600" y="19435"/>
                    </a:lnTo>
                    <a:lnTo>
                      <a:pt x="21586" y="19120"/>
                    </a:lnTo>
                    <a:lnTo>
                      <a:pt x="21537" y="18496"/>
                    </a:lnTo>
                    <a:lnTo>
                      <a:pt x="21424" y="17883"/>
                    </a:lnTo>
                    <a:lnTo>
                      <a:pt x="21256" y="17292"/>
                    </a:lnTo>
                    <a:lnTo>
                      <a:pt x="21045" y="16708"/>
                    </a:lnTo>
                    <a:lnTo>
                      <a:pt x="20778" y="16151"/>
                    </a:lnTo>
                    <a:lnTo>
                      <a:pt x="20468" y="15600"/>
                    </a:lnTo>
                    <a:lnTo>
                      <a:pt x="20110" y="15082"/>
                    </a:lnTo>
                    <a:lnTo>
                      <a:pt x="19716" y="14576"/>
                    </a:lnTo>
                    <a:lnTo>
                      <a:pt x="19280" y="14098"/>
                    </a:lnTo>
                    <a:lnTo>
                      <a:pt x="18802" y="13654"/>
                    </a:lnTo>
                    <a:lnTo>
                      <a:pt x="18289" y="13227"/>
                    </a:lnTo>
                    <a:lnTo>
                      <a:pt x="17741" y="12839"/>
                    </a:lnTo>
                    <a:lnTo>
                      <a:pt x="17158" y="12473"/>
                    </a:lnTo>
                    <a:lnTo>
                      <a:pt x="16546" y="12130"/>
                    </a:lnTo>
                    <a:lnTo>
                      <a:pt x="15900" y="11832"/>
                    </a:lnTo>
                    <a:lnTo>
                      <a:pt x="15576" y="11703"/>
                    </a:lnTo>
                    <a:lnTo>
                      <a:pt x="15942" y="11478"/>
                    </a:lnTo>
                    <a:lnTo>
                      <a:pt x="16631" y="10966"/>
                    </a:lnTo>
                    <a:lnTo>
                      <a:pt x="17235" y="10398"/>
                    </a:lnTo>
                    <a:lnTo>
                      <a:pt x="17762" y="9785"/>
                    </a:lnTo>
                    <a:lnTo>
                      <a:pt x="18198" y="9110"/>
                    </a:lnTo>
                    <a:lnTo>
                      <a:pt x="18528" y="8407"/>
                    </a:lnTo>
                    <a:lnTo>
                      <a:pt x="18767" y="7654"/>
                    </a:lnTo>
                    <a:lnTo>
                      <a:pt x="18887" y="6878"/>
                    </a:lnTo>
                    <a:lnTo>
                      <a:pt x="18894" y="6478"/>
                    </a:lnTo>
                    <a:lnTo>
                      <a:pt x="18887" y="6147"/>
                    </a:lnTo>
                    <a:lnTo>
                      <a:pt x="18802" y="5489"/>
                    </a:lnTo>
                    <a:lnTo>
                      <a:pt x="18641" y="4859"/>
                    </a:lnTo>
                    <a:lnTo>
                      <a:pt x="18409" y="4251"/>
                    </a:lnTo>
                    <a:lnTo>
                      <a:pt x="18100" y="3667"/>
                    </a:lnTo>
                    <a:lnTo>
                      <a:pt x="17720" y="3115"/>
                    </a:lnTo>
                    <a:lnTo>
                      <a:pt x="17284" y="2598"/>
                    </a:lnTo>
                    <a:lnTo>
                      <a:pt x="16792" y="2120"/>
                    </a:lnTo>
                    <a:lnTo>
                      <a:pt x="16244" y="1681"/>
                    </a:lnTo>
                    <a:lnTo>
                      <a:pt x="15646" y="1288"/>
                    </a:lnTo>
                    <a:lnTo>
                      <a:pt x="15000" y="939"/>
                    </a:lnTo>
                    <a:lnTo>
                      <a:pt x="14311" y="641"/>
                    </a:lnTo>
                    <a:lnTo>
                      <a:pt x="13580" y="388"/>
                    </a:lnTo>
                    <a:lnTo>
                      <a:pt x="12821" y="202"/>
                    </a:lnTo>
                    <a:lnTo>
                      <a:pt x="12034" y="73"/>
                    </a:lnTo>
                    <a:lnTo>
                      <a:pt x="11211" y="6"/>
                    </a:lnTo>
                    <a:lnTo>
                      <a:pt x="10796" y="0"/>
                    </a:lnTo>
                    <a:lnTo>
                      <a:pt x="10382" y="6"/>
                    </a:lnTo>
                    <a:lnTo>
                      <a:pt x="9566" y="73"/>
                    </a:lnTo>
                    <a:lnTo>
                      <a:pt x="8772" y="202"/>
                    </a:lnTo>
                    <a:lnTo>
                      <a:pt x="8013" y="388"/>
                    </a:lnTo>
                    <a:lnTo>
                      <a:pt x="7289" y="641"/>
                    </a:lnTo>
                    <a:lnTo>
                      <a:pt x="6600" y="939"/>
                    </a:lnTo>
                    <a:lnTo>
                      <a:pt x="5947" y="1288"/>
                    </a:lnTo>
                    <a:lnTo>
                      <a:pt x="5349" y="1681"/>
                    </a:lnTo>
                    <a:lnTo>
                      <a:pt x="4808" y="2120"/>
                    </a:lnTo>
                    <a:lnTo>
                      <a:pt x="4309" y="2598"/>
                    </a:lnTo>
                    <a:lnTo>
                      <a:pt x="3873" y="3115"/>
                    </a:lnTo>
                    <a:lnTo>
                      <a:pt x="3500" y="3667"/>
                    </a:lnTo>
                    <a:lnTo>
                      <a:pt x="3184" y="4251"/>
                    </a:lnTo>
                    <a:lnTo>
                      <a:pt x="2952" y="4859"/>
                    </a:lnTo>
                    <a:lnTo>
                      <a:pt x="2790" y="5489"/>
                    </a:lnTo>
                    <a:lnTo>
                      <a:pt x="2713" y="6147"/>
                    </a:lnTo>
                    <a:lnTo>
                      <a:pt x="2699" y="6478"/>
                    </a:lnTo>
                    <a:lnTo>
                      <a:pt x="2713" y="6878"/>
                    </a:lnTo>
                    <a:lnTo>
                      <a:pt x="2833" y="7654"/>
                    </a:lnTo>
                    <a:lnTo>
                      <a:pt x="3065" y="8407"/>
                    </a:lnTo>
                    <a:lnTo>
                      <a:pt x="3402" y="9110"/>
                    </a:lnTo>
                    <a:lnTo>
                      <a:pt x="3831" y="9785"/>
                    </a:lnTo>
                    <a:lnTo>
                      <a:pt x="4358" y="10398"/>
                    </a:lnTo>
                    <a:lnTo>
                      <a:pt x="4969" y="10966"/>
                    </a:lnTo>
                    <a:lnTo>
                      <a:pt x="5658" y="11478"/>
                    </a:lnTo>
                    <a:lnTo>
                      <a:pt x="6017" y="11703"/>
                    </a:lnTo>
                    <a:lnTo>
                      <a:pt x="5693" y="11832"/>
                    </a:lnTo>
                    <a:lnTo>
                      <a:pt x="5047" y="12130"/>
                    </a:lnTo>
                    <a:lnTo>
                      <a:pt x="4442" y="12473"/>
                    </a:lnTo>
                    <a:lnTo>
                      <a:pt x="3852" y="12839"/>
                    </a:lnTo>
                    <a:lnTo>
                      <a:pt x="3311" y="13227"/>
                    </a:lnTo>
                    <a:lnTo>
                      <a:pt x="2790" y="13654"/>
                    </a:lnTo>
                    <a:lnTo>
                      <a:pt x="2313" y="14098"/>
                    </a:lnTo>
                    <a:lnTo>
                      <a:pt x="1877" y="14576"/>
                    </a:lnTo>
                    <a:lnTo>
                      <a:pt x="1483" y="15082"/>
                    </a:lnTo>
                    <a:lnTo>
                      <a:pt x="1132" y="15600"/>
                    </a:lnTo>
                    <a:lnTo>
                      <a:pt x="815" y="16151"/>
                    </a:lnTo>
                    <a:lnTo>
                      <a:pt x="555" y="16708"/>
                    </a:lnTo>
                    <a:lnTo>
                      <a:pt x="344" y="17292"/>
                    </a:lnTo>
                    <a:lnTo>
                      <a:pt x="169" y="17883"/>
                    </a:lnTo>
                    <a:lnTo>
                      <a:pt x="56" y="18496"/>
                    </a:lnTo>
                    <a:lnTo>
                      <a:pt x="7" y="19120"/>
                    </a:lnTo>
                    <a:lnTo>
                      <a:pt x="0" y="19435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1006" name="Freeform 50"/>
              <p:cNvSpPr/>
              <p:nvPr/>
            </p:nvSpPr>
            <p:spPr>
              <a:xfrm>
                <a:off x="493962" y="-1"/>
                <a:ext cx="237104" cy="3161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600" y="2707"/>
                    </a:moveTo>
                    <a:lnTo>
                      <a:pt x="18009" y="2707"/>
                    </a:lnTo>
                    <a:lnTo>
                      <a:pt x="18009" y="17248"/>
                    </a:lnTo>
                    <a:lnTo>
                      <a:pt x="18000" y="17409"/>
                    </a:lnTo>
                    <a:lnTo>
                      <a:pt x="17916" y="17733"/>
                    </a:lnTo>
                    <a:lnTo>
                      <a:pt x="17737" y="18035"/>
                    </a:lnTo>
                    <a:lnTo>
                      <a:pt x="17494" y="18302"/>
                    </a:lnTo>
                    <a:lnTo>
                      <a:pt x="17203" y="18520"/>
                    </a:lnTo>
                    <a:lnTo>
                      <a:pt x="16847" y="18703"/>
                    </a:lnTo>
                    <a:lnTo>
                      <a:pt x="16444" y="18837"/>
                    </a:lnTo>
                    <a:lnTo>
                      <a:pt x="16012" y="18900"/>
                    </a:lnTo>
                    <a:lnTo>
                      <a:pt x="15797" y="18907"/>
                    </a:lnTo>
                    <a:lnTo>
                      <a:pt x="5822" y="18907"/>
                    </a:lnTo>
                    <a:lnTo>
                      <a:pt x="5587" y="18900"/>
                    </a:lnTo>
                    <a:lnTo>
                      <a:pt x="5156" y="18837"/>
                    </a:lnTo>
                    <a:lnTo>
                      <a:pt x="4762" y="18703"/>
                    </a:lnTo>
                    <a:lnTo>
                      <a:pt x="4416" y="18520"/>
                    </a:lnTo>
                    <a:lnTo>
                      <a:pt x="4106" y="18302"/>
                    </a:lnTo>
                    <a:lnTo>
                      <a:pt x="3872" y="18035"/>
                    </a:lnTo>
                    <a:lnTo>
                      <a:pt x="3694" y="17733"/>
                    </a:lnTo>
                    <a:lnTo>
                      <a:pt x="3619" y="17409"/>
                    </a:lnTo>
                    <a:lnTo>
                      <a:pt x="3600" y="17248"/>
                    </a:lnTo>
                    <a:lnTo>
                      <a:pt x="3600" y="2707"/>
                    </a:lnTo>
                    <a:close/>
                    <a:moveTo>
                      <a:pt x="5822" y="21600"/>
                    </a:moveTo>
                    <a:lnTo>
                      <a:pt x="15778" y="21600"/>
                    </a:lnTo>
                    <a:lnTo>
                      <a:pt x="16387" y="21593"/>
                    </a:lnTo>
                    <a:lnTo>
                      <a:pt x="17522" y="21417"/>
                    </a:lnTo>
                    <a:lnTo>
                      <a:pt x="18563" y="21087"/>
                    </a:lnTo>
                    <a:lnTo>
                      <a:pt x="19491" y="20609"/>
                    </a:lnTo>
                    <a:lnTo>
                      <a:pt x="20278" y="20018"/>
                    </a:lnTo>
                    <a:lnTo>
                      <a:pt x="20916" y="19322"/>
                    </a:lnTo>
                    <a:lnTo>
                      <a:pt x="21356" y="18541"/>
                    </a:lnTo>
                    <a:lnTo>
                      <a:pt x="21591" y="17691"/>
                    </a:lnTo>
                    <a:lnTo>
                      <a:pt x="21600" y="17248"/>
                    </a:lnTo>
                    <a:lnTo>
                      <a:pt x="21600" y="0"/>
                    </a:lnTo>
                    <a:lnTo>
                      <a:pt x="0" y="0"/>
                    </a:lnTo>
                    <a:lnTo>
                      <a:pt x="0" y="17248"/>
                    </a:lnTo>
                    <a:lnTo>
                      <a:pt x="28" y="17691"/>
                    </a:lnTo>
                    <a:lnTo>
                      <a:pt x="253" y="18541"/>
                    </a:lnTo>
                    <a:lnTo>
                      <a:pt x="703" y="19322"/>
                    </a:lnTo>
                    <a:lnTo>
                      <a:pt x="1322" y="20018"/>
                    </a:lnTo>
                    <a:lnTo>
                      <a:pt x="2119" y="20609"/>
                    </a:lnTo>
                    <a:lnTo>
                      <a:pt x="3047" y="21087"/>
                    </a:lnTo>
                    <a:lnTo>
                      <a:pt x="4087" y="21417"/>
                    </a:lnTo>
                    <a:lnTo>
                      <a:pt x="5222" y="21593"/>
                    </a:lnTo>
                    <a:lnTo>
                      <a:pt x="5822" y="21600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1007" name="Freeform 51"/>
              <p:cNvSpPr/>
              <p:nvPr/>
            </p:nvSpPr>
            <p:spPr>
              <a:xfrm>
                <a:off x="553238" y="59275"/>
                <a:ext cx="118552" cy="1185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7219"/>
                    </a:moveTo>
                    <a:lnTo>
                      <a:pt x="11175" y="7219"/>
                    </a:lnTo>
                    <a:lnTo>
                      <a:pt x="11888" y="7350"/>
                    </a:lnTo>
                    <a:lnTo>
                      <a:pt x="12525" y="7650"/>
                    </a:lnTo>
                    <a:lnTo>
                      <a:pt x="13087" y="8025"/>
                    </a:lnTo>
                    <a:lnTo>
                      <a:pt x="13575" y="8513"/>
                    </a:lnTo>
                    <a:lnTo>
                      <a:pt x="13987" y="9075"/>
                    </a:lnTo>
                    <a:lnTo>
                      <a:pt x="14250" y="9731"/>
                    </a:lnTo>
                    <a:lnTo>
                      <a:pt x="14400" y="10425"/>
                    </a:lnTo>
                    <a:lnTo>
                      <a:pt x="14419" y="10800"/>
                    </a:lnTo>
                    <a:lnTo>
                      <a:pt x="14400" y="11175"/>
                    </a:lnTo>
                    <a:lnTo>
                      <a:pt x="14250" y="11888"/>
                    </a:lnTo>
                    <a:lnTo>
                      <a:pt x="13987" y="12525"/>
                    </a:lnTo>
                    <a:lnTo>
                      <a:pt x="13575" y="13106"/>
                    </a:lnTo>
                    <a:lnTo>
                      <a:pt x="13087" y="13594"/>
                    </a:lnTo>
                    <a:lnTo>
                      <a:pt x="12525" y="13969"/>
                    </a:lnTo>
                    <a:lnTo>
                      <a:pt x="11888" y="14269"/>
                    </a:lnTo>
                    <a:lnTo>
                      <a:pt x="11175" y="14400"/>
                    </a:lnTo>
                    <a:lnTo>
                      <a:pt x="10444" y="14400"/>
                    </a:lnTo>
                    <a:lnTo>
                      <a:pt x="9750" y="14269"/>
                    </a:lnTo>
                    <a:lnTo>
                      <a:pt x="9094" y="13969"/>
                    </a:lnTo>
                    <a:lnTo>
                      <a:pt x="8513" y="13594"/>
                    </a:lnTo>
                    <a:lnTo>
                      <a:pt x="8025" y="13106"/>
                    </a:lnTo>
                    <a:lnTo>
                      <a:pt x="7650" y="12525"/>
                    </a:lnTo>
                    <a:lnTo>
                      <a:pt x="7369" y="11888"/>
                    </a:lnTo>
                    <a:lnTo>
                      <a:pt x="7200" y="11175"/>
                    </a:lnTo>
                    <a:lnTo>
                      <a:pt x="7200" y="10425"/>
                    </a:lnTo>
                    <a:lnTo>
                      <a:pt x="7369" y="9731"/>
                    </a:lnTo>
                    <a:lnTo>
                      <a:pt x="7650" y="9075"/>
                    </a:lnTo>
                    <a:lnTo>
                      <a:pt x="8025" y="8513"/>
                    </a:lnTo>
                    <a:lnTo>
                      <a:pt x="8513" y="8025"/>
                    </a:lnTo>
                    <a:lnTo>
                      <a:pt x="9094" y="7650"/>
                    </a:lnTo>
                    <a:lnTo>
                      <a:pt x="9750" y="7350"/>
                    </a:lnTo>
                    <a:lnTo>
                      <a:pt x="10444" y="7219"/>
                    </a:lnTo>
                    <a:lnTo>
                      <a:pt x="10800" y="7219"/>
                    </a:lnTo>
                    <a:close/>
                    <a:moveTo>
                      <a:pt x="10800" y="21600"/>
                    </a:moveTo>
                    <a:lnTo>
                      <a:pt x="11906" y="21581"/>
                    </a:lnTo>
                    <a:lnTo>
                      <a:pt x="14006" y="21150"/>
                    </a:lnTo>
                    <a:lnTo>
                      <a:pt x="15956" y="20306"/>
                    </a:lnTo>
                    <a:lnTo>
                      <a:pt x="17681" y="19144"/>
                    </a:lnTo>
                    <a:lnTo>
                      <a:pt x="19144" y="17681"/>
                    </a:lnTo>
                    <a:lnTo>
                      <a:pt x="20325" y="15956"/>
                    </a:lnTo>
                    <a:lnTo>
                      <a:pt x="21150" y="14025"/>
                    </a:lnTo>
                    <a:lnTo>
                      <a:pt x="21581" y="11906"/>
                    </a:lnTo>
                    <a:lnTo>
                      <a:pt x="21600" y="10800"/>
                    </a:lnTo>
                    <a:lnTo>
                      <a:pt x="21581" y="9694"/>
                    </a:lnTo>
                    <a:lnTo>
                      <a:pt x="21150" y="7594"/>
                    </a:lnTo>
                    <a:lnTo>
                      <a:pt x="20325" y="5644"/>
                    </a:lnTo>
                    <a:lnTo>
                      <a:pt x="19144" y="3919"/>
                    </a:lnTo>
                    <a:lnTo>
                      <a:pt x="17681" y="2456"/>
                    </a:lnTo>
                    <a:lnTo>
                      <a:pt x="15956" y="1294"/>
                    </a:lnTo>
                    <a:lnTo>
                      <a:pt x="14006" y="469"/>
                    </a:lnTo>
                    <a:lnTo>
                      <a:pt x="11906" y="38"/>
                    </a:lnTo>
                    <a:lnTo>
                      <a:pt x="10800" y="0"/>
                    </a:lnTo>
                    <a:lnTo>
                      <a:pt x="9694" y="38"/>
                    </a:lnTo>
                    <a:lnTo>
                      <a:pt x="7594" y="469"/>
                    </a:lnTo>
                    <a:lnTo>
                      <a:pt x="5662" y="1294"/>
                    </a:lnTo>
                    <a:lnTo>
                      <a:pt x="3937" y="2456"/>
                    </a:lnTo>
                    <a:lnTo>
                      <a:pt x="2456" y="3919"/>
                    </a:lnTo>
                    <a:lnTo>
                      <a:pt x="1294" y="5644"/>
                    </a:lnTo>
                    <a:lnTo>
                      <a:pt x="487" y="7594"/>
                    </a:lnTo>
                    <a:lnTo>
                      <a:pt x="56" y="9694"/>
                    </a:lnTo>
                    <a:lnTo>
                      <a:pt x="0" y="10800"/>
                    </a:lnTo>
                    <a:lnTo>
                      <a:pt x="56" y="11906"/>
                    </a:lnTo>
                    <a:lnTo>
                      <a:pt x="487" y="14025"/>
                    </a:lnTo>
                    <a:lnTo>
                      <a:pt x="1294" y="15956"/>
                    </a:lnTo>
                    <a:lnTo>
                      <a:pt x="2456" y="17681"/>
                    </a:lnTo>
                    <a:lnTo>
                      <a:pt x="3937" y="19144"/>
                    </a:lnTo>
                    <a:lnTo>
                      <a:pt x="5662" y="20306"/>
                    </a:lnTo>
                    <a:lnTo>
                      <a:pt x="7594" y="21150"/>
                    </a:lnTo>
                    <a:lnTo>
                      <a:pt x="9694" y="21581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1008" name="Rectangle 52"/>
              <p:cNvSpPr/>
              <p:nvPr/>
            </p:nvSpPr>
            <p:spPr>
              <a:xfrm>
                <a:off x="572996" y="434687"/>
                <a:ext cx="572997" cy="39517"/>
              </a:xfrm>
              <a:prstGeom prst="rect">
                <a:avLst/>
              </a:prstGeom>
              <a:solidFill>
                <a:srgbClr val="40404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1009" name="Rectangle 53"/>
              <p:cNvSpPr/>
              <p:nvPr/>
            </p:nvSpPr>
            <p:spPr>
              <a:xfrm>
                <a:off x="572996" y="533480"/>
                <a:ext cx="572997" cy="39825"/>
              </a:xfrm>
              <a:prstGeom prst="rect">
                <a:avLst/>
              </a:prstGeom>
              <a:solidFill>
                <a:srgbClr val="40404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1010" name="Rectangle 54"/>
              <p:cNvSpPr/>
              <p:nvPr/>
            </p:nvSpPr>
            <p:spPr>
              <a:xfrm>
                <a:off x="572996" y="632581"/>
                <a:ext cx="572997" cy="39209"/>
              </a:xfrm>
              <a:prstGeom prst="rect">
                <a:avLst/>
              </a:prstGeom>
              <a:solidFill>
                <a:srgbClr val="40404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  <p:sp>
            <p:nvSpPr>
              <p:cNvPr id="1011" name="Rectangle 55"/>
              <p:cNvSpPr/>
              <p:nvPr/>
            </p:nvSpPr>
            <p:spPr>
              <a:xfrm>
                <a:off x="869374" y="731065"/>
                <a:ext cx="276619" cy="39517"/>
              </a:xfrm>
              <a:prstGeom prst="rect">
                <a:avLst/>
              </a:prstGeom>
              <a:solidFill>
                <a:srgbClr val="40404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algn="l" defTabSz="1828800">
                  <a:defRPr sz="3600">
                    <a:solidFill>
                      <a:srgbClr val="000000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endParaRPr/>
              </a:p>
            </p:txBody>
          </p:sp>
        </p:grpSp>
      </p:grpSp>
      <p:sp>
        <p:nvSpPr>
          <p:cNvPr id="1014" name="직사각형 51"/>
          <p:cNvSpPr txBox="1"/>
          <p:nvPr/>
        </p:nvSpPr>
        <p:spPr>
          <a:xfrm>
            <a:off x="9088198" y="6904841"/>
            <a:ext cx="5031676" cy="944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defTabSz="1828800">
              <a:lnSpc>
                <a:spcPct val="150000"/>
              </a:lnSpc>
              <a:defRPr sz="5000" b="1">
                <a:solidFill>
                  <a:srgbClr val="FF66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r>
              <a:t>Q </a:t>
            </a:r>
          </a:p>
        </p:txBody>
      </p:sp>
      <p:grpSp>
        <p:nvGrpSpPr>
          <p:cNvPr id="1017" name="사각형: 둥근 모서리 10"/>
          <p:cNvGrpSpPr/>
          <p:nvPr/>
        </p:nvGrpSpPr>
        <p:grpSpPr>
          <a:xfrm>
            <a:off x="348407" y="300055"/>
            <a:ext cx="22803973" cy="887505"/>
            <a:chOff x="0" y="0"/>
            <a:chExt cx="22803972" cy="887503"/>
          </a:xfrm>
        </p:grpSpPr>
        <p:sp>
          <p:nvSpPr>
            <p:cNvPr id="1015" name="모서리가 둥근 직사각형"/>
            <p:cNvSpPr/>
            <p:nvPr/>
          </p:nvSpPr>
          <p:spPr>
            <a:xfrm>
              <a:off x="0" y="0"/>
              <a:ext cx="22803973" cy="88750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0000"/>
                  </a:srgbClr>
                </a:gs>
                <a:gs pos="17000">
                  <a:srgbClr val="ECEDE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tabLst>
                  <a:tab pos="3048000" algn="l"/>
                  <a:tab pos="4826000" algn="l"/>
                </a:tabLst>
                <a:defRPr sz="360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pPr>
              <a:endParaRPr/>
            </a:p>
          </p:txBody>
        </p:sp>
        <p:sp>
          <p:nvSpPr>
            <p:cNvPr id="1016" name="Q &amp; A"/>
            <p:cNvSpPr txBox="1"/>
            <p:nvPr/>
          </p:nvSpPr>
          <p:spPr>
            <a:xfrm>
              <a:off x="221410" y="3061"/>
              <a:ext cx="22361152" cy="881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indent="712787" algn="l" defTabSz="1828800">
                <a:tabLst>
                  <a:tab pos="3048000" algn="l"/>
                  <a:tab pos="4826000" algn="l"/>
                </a:tabLst>
                <a:defRPr sz="3800" b="1">
                  <a:solidFill>
                    <a:srgbClr val="404040"/>
                  </a:solidFill>
                  <a:latin typeface="Noto Sans KR"/>
                  <a:ea typeface="Noto Sans KR"/>
                  <a:cs typeface="Noto Sans KR"/>
                  <a:sym typeface="Noto Sans KR"/>
                </a:defRPr>
              </a:lvl1pPr>
            </a:lstStyle>
            <a:p>
              <a:r>
                <a:rPr dirty="0"/>
                <a:t>Q &amp; A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044B9F8-1F0A-EDA2-B80E-D169F3D6AE6C}"/>
              </a:ext>
            </a:extLst>
          </p:cNvPr>
          <p:cNvGrpSpPr/>
          <p:nvPr/>
        </p:nvGrpSpPr>
        <p:grpSpPr>
          <a:xfrm>
            <a:off x="19804848" y="555320"/>
            <a:ext cx="3126122" cy="374328"/>
            <a:chOff x="19804848" y="555320"/>
            <a:chExt cx="3126122" cy="37432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40B42729-67EC-4F02-9723-C4933F056944}"/>
                </a:ext>
              </a:extLst>
            </p:cNvPr>
            <p:cNvSpPr/>
            <p:nvPr/>
          </p:nvSpPr>
          <p:spPr>
            <a:xfrm>
              <a:off x="19804848" y="555320"/>
              <a:ext cx="371681" cy="3716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64B78B80-DCE5-1CC9-5ECA-80C3D9A94720}"/>
                </a:ext>
              </a:extLst>
            </p:cNvPr>
            <p:cNvSpPr/>
            <p:nvPr/>
          </p:nvSpPr>
          <p:spPr>
            <a:xfrm>
              <a:off x="20722995" y="557966"/>
              <a:ext cx="371681" cy="37168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01215BE0-7FB1-DE20-4832-BAA0D3FA5034}"/>
                </a:ext>
              </a:extLst>
            </p:cNvPr>
            <p:cNvSpPr/>
            <p:nvPr/>
          </p:nvSpPr>
          <p:spPr>
            <a:xfrm>
              <a:off x="21641142" y="557967"/>
              <a:ext cx="371681" cy="3716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A5A0EB1A-077A-A46C-78E6-A1978FA6D90E}"/>
                </a:ext>
              </a:extLst>
            </p:cNvPr>
            <p:cNvSpPr/>
            <p:nvPr/>
          </p:nvSpPr>
          <p:spPr>
            <a:xfrm>
              <a:off x="22559289" y="557965"/>
              <a:ext cx="371681" cy="37168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F056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F056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970</Words>
  <Application>Microsoft Office PowerPoint</Application>
  <PresentationFormat>사용자 지정</PresentationFormat>
  <Paragraphs>234</Paragraphs>
  <Slides>35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7" baseType="lpstr">
      <vt:lpstr>a아띠</vt:lpstr>
      <vt:lpstr>Helvetica Neue</vt:lpstr>
      <vt:lpstr>Helvetica Neue Medium</vt:lpstr>
      <vt:lpstr>Noto Sans KR</vt:lpstr>
      <vt:lpstr>Noto Sans KR Black</vt:lpstr>
      <vt:lpstr>Noto Sans KR Light</vt:lpstr>
      <vt:lpstr>Noto Sans KR Medium</vt:lpstr>
      <vt:lpstr>Noto Sans KR Thin</vt:lpstr>
      <vt:lpstr>나눔고딕</vt:lpstr>
      <vt:lpstr>맑은 고딕</vt:lpstr>
      <vt:lpstr>Arial</vt:lpstr>
      <vt:lpstr>21_BasicWhite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28</cp:revision>
  <dcterms:modified xsi:type="dcterms:W3CDTF">2023-06-23T07:06:53Z</dcterms:modified>
</cp:coreProperties>
</file>